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Arimo"/>
      <p:regular r:id="rId28"/>
      <p:bold r:id="rId29"/>
      <p:italic r:id="rId30"/>
      <p:boldItalic r:id="rId31"/>
    </p:embeddedFont>
    <p:embeddedFont>
      <p:font typeface="IBM Plex Sans Condensed"/>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6" roundtripDataSignature="AMtx7mjRA5KODvm0Tajt88ssgHANI9U5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Arim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rim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rimo-boldItalic.fntdata"/><Relationship Id="rId30" Type="http://schemas.openxmlformats.org/officeDocument/2006/relationships/font" Target="fonts/Arimo-italic.fntdata"/><Relationship Id="rId11" Type="http://schemas.openxmlformats.org/officeDocument/2006/relationships/slide" Target="slides/slide6.xml"/><Relationship Id="rId33" Type="http://schemas.openxmlformats.org/officeDocument/2006/relationships/font" Target="fonts/IBMPlexSansCondensed-bold.fntdata"/><Relationship Id="rId10" Type="http://schemas.openxmlformats.org/officeDocument/2006/relationships/slide" Target="slides/slide5.xml"/><Relationship Id="rId32" Type="http://schemas.openxmlformats.org/officeDocument/2006/relationships/font" Target="fonts/IBMPlexSansCondensed-regular.fntdata"/><Relationship Id="rId13" Type="http://schemas.openxmlformats.org/officeDocument/2006/relationships/slide" Target="slides/slide8.xml"/><Relationship Id="rId35" Type="http://schemas.openxmlformats.org/officeDocument/2006/relationships/font" Target="fonts/IBMPlexSansCondensed-boldItalic.fntdata"/><Relationship Id="rId12" Type="http://schemas.openxmlformats.org/officeDocument/2006/relationships/slide" Target="slides/slide7.xml"/><Relationship Id="rId34" Type="http://schemas.openxmlformats.org/officeDocument/2006/relationships/font" Target="fonts/IBMPlexSansCondensed-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2"/>
          <p:cNvSpPr/>
          <p:nvPr>
            <p:ph idx="2" type="pic"/>
          </p:nvPr>
        </p:nvSpPr>
        <p:spPr>
          <a:xfrm>
            <a:off x="1792288" y="612775"/>
            <a:ext cx="5486400" cy="4114800"/>
          </a:xfrm>
          <a:prstGeom prst="rect">
            <a:avLst/>
          </a:prstGeom>
          <a:noFill/>
          <a:ln>
            <a:noFill/>
          </a:ln>
        </p:spPr>
      </p:sp>
      <p:sp>
        <p:nvSpPr>
          <p:cNvPr id="64" name="Google Shape;6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2.jp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4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7.png"/><Relationship Id="rId5" Type="http://schemas.openxmlformats.org/officeDocument/2006/relationships/image" Target="../media/image29.png"/><Relationship Id="rId6" Type="http://schemas.openxmlformats.org/officeDocument/2006/relationships/image" Target="../media/image16.png"/><Relationship Id="rId7"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 Id="rId9" Type="http://schemas.openxmlformats.org/officeDocument/2006/relationships/hyperlink" Target="https://perti.pertinentia.com/ContratodeAprendizaje" TargetMode="External"/><Relationship Id="rId5" Type="http://schemas.openxmlformats.org/officeDocument/2006/relationships/image" Target="../media/image5.png"/><Relationship Id="rId6" Type="http://schemas.openxmlformats.org/officeDocument/2006/relationships/image" Target="../media/image20.png"/><Relationship Id="rId7" Type="http://schemas.openxmlformats.org/officeDocument/2006/relationships/image" Target="../media/image30.png"/><Relationship Id="rId8" Type="http://schemas.openxmlformats.org/officeDocument/2006/relationships/hyperlink" Target="https://perti.pertinentia.com/EncuestaExpectativasdeCurso"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31.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1.png"/><Relationship Id="rId4" Type="http://schemas.openxmlformats.org/officeDocument/2006/relationships/image" Target="../media/image13.png"/><Relationship Id="rId5" Type="http://schemas.openxmlformats.org/officeDocument/2006/relationships/image" Target="../media/image25.png"/><Relationship Id="rId6"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6.png"/><Relationship Id="rId4" Type="http://schemas.openxmlformats.org/officeDocument/2006/relationships/image" Target="../media/image28.png"/><Relationship Id="rId5" Type="http://schemas.openxmlformats.org/officeDocument/2006/relationships/image" Target="../media/image15.png"/><Relationship Id="rId6" Type="http://schemas.openxmlformats.org/officeDocument/2006/relationships/image" Target="../media/image17.png"/><Relationship Id="rId7"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7.png"/><Relationship Id="rId4" Type="http://schemas.openxmlformats.org/officeDocument/2006/relationships/image" Target="../media/image34.png"/><Relationship Id="rId5" Type="http://schemas.openxmlformats.org/officeDocument/2006/relationships/image" Target="../media/image33.png"/><Relationship Id="rId6"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22.png"/><Relationship Id="rId5" Type="http://schemas.openxmlformats.org/officeDocument/2006/relationships/image" Target="../media/image39.png"/><Relationship Id="rId6"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7.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5.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20" Type="http://schemas.openxmlformats.org/officeDocument/2006/relationships/hyperlink" Target="https://docs.google.com/document/d/1ClpxshpplWJLFKQ90VRom2vY-Ukp0pgX/edit" TargetMode="External"/><Relationship Id="rId22" Type="http://schemas.openxmlformats.org/officeDocument/2006/relationships/hyperlink" Target="https://docs.google.com/spreadsheets/d/1oUhAuSOlLYqNJ1_pbGCD2MSQlrRySW1M/edit" TargetMode="External"/><Relationship Id="rId21" Type="http://schemas.openxmlformats.org/officeDocument/2006/relationships/hyperlink" Target="https://docs.google.com/spreadsheets/d/1oUhAuSOlLYqNJ1_pbGCD2MSQlrRySW1M/edit" TargetMode="External"/><Relationship Id="rId24" Type="http://schemas.openxmlformats.org/officeDocument/2006/relationships/hyperlink" Target="https://docs.google.com/spreadsheets/d/1oUhAuSOlLYqNJ1_pbGCD2MSQlrRySW1M/edit" TargetMode="External"/><Relationship Id="rId23" Type="http://schemas.openxmlformats.org/officeDocument/2006/relationships/hyperlink" Target="https://docs.google.com/spreadsheets/d/1oUhAuSOlLYqNJ1_pbGCD2MSQlrRySW1M/edit" TargetMode="External"/><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3.png"/><Relationship Id="rId4" Type="http://schemas.openxmlformats.org/officeDocument/2006/relationships/image" Target="../media/image44.png"/><Relationship Id="rId9" Type="http://schemas.openxmlformats.org/officeDocument/2006/relationships/hyperlink" Target="https://docs.google.com/document/d/1ClpxshpplWJLFKQ90VRom2vY-Ukp0pgX/edit" TargetMode="External"/><Relationship Id="rId26" Type="http://schemas.openxmlformats.org/officeDocument/2006/relationships/hyperlink" Target="https://docs.google.com/spreadsheets/d/1oUhAuSOlLYqNJ1_pbGCD2MSQlrRySW1M/edit" TargetMode="External"/><Relationship Id="rId25" Type="http://schemas.openxmlformats.org/officeDocument/2006/relationships/hyperlink" Target="https://docs.google.com/spreadsheets/d/1oUhAuSOlLYqNJ1_pbGCD2MSQlrRySW1M/edit" TargetMode="External"/><Relationship Id="rId28" Type="http://schemas.openxmlformats.org/officeDocument/2006/relationships/hyperlink" Target="https://docs.google.com/spreadsheets/d/1oUhAuSOlLYqNJ1_pbGCD2MSQlrRySW1M/edit" TargetMode="External"/><Relationship Id="rId27" Type="http://schemas.openxmlformats.org/officeDocument/2006/relationships/hyperlink" Target="https://docs.google.com/spreadsheets/d/1oUhAuSOlLYqNJ1_pbGCD2MSQlrRySW1M/edit" TargetMode="External"/><Relationship Id="rId5" Type="http://schemas.openxmlformats.org/officeDocument/2006/relationships/hyperlink" Target="https://docs.google.com/document/d/1ClpxshpplWJLFKQ90VRom2vY-Ukp0pgX/edit" TargetMode="External"/><Relationship Id="rId6" Type="http://schemas.openxmlformats.org/officeDocument/2006/relationships/hyperlink" Target="https://docs.google.com/document/d/1ClpxshpplWJLFKQ90VRom2vY-Ukp0pgX/edit" TargetMode="External"/><Relationship Id="rId29" Type="http://schemas.openxmlformats.org/officeDocument/2006/relationships/hyperlink" Target="https://docs.google.com/spreadsheets/d/1oUhAuSOlLYqNJ1_pbGCD2MSQlrRySW1M/edit" TargetMode="External"/><Relationship Id="rId7" Type="http://schemas.openxmlformats.org/officeDocument/2006/relationships/hyperlink" Target="https://docs.google.com/document/d/1ClpxshpplWJLFKQ90VRom2vY-Ukp0pgX/edit" TargetMode="External"/><Relationship Id="rId8" Type="http://schemas.openxmlformats.org/officeDocument/2006/relationships/hyperlink" Target="https://docs.google.com/document/d/1ClpxshpplWJLFKQ90VRom2vY-Ukp0pgX/edit" TargetMode="External"/><Relationship Id="rId31" Type="http://schemas.openxmlformats.org/officeDocument/2006/relationships/hyperlink" Target="https://docs.google.com/spreadsheets/d/1oUhAuSOlLYqNJ1_pbGCD2MSQlrRySW1M/edit" TargetMode="External"/><Relationship Id="rId30" Type="http://schemas.openxmlformats.org/officeDocument/2006/relationships/hyperlink" Target="https://docs.google.com/spreadsheets/d/1oUhAuSOlLYqNJ1_pbGCD2MSQlrRySW1M/edit" TargetMode="External"/><Relationship Id="rId11" Type="http://schemas.openxmlformats.org/officeDocument/2006/relationships/hyperlink" Target="https://docs.google.com/document/d/1ClpxshpplWJLFKQ90VRom2vY-Ukp0pgX/edit" TargetMode="External"/><Relationship Id="rId33" Type="http://schemas.openxmlformats.org/officeDocument/2006/relationships/image" Target="../media/image9.png"/><Relationship Id="rId10" Type="http://schemas.openxmlformats.org/officeDocument/2006/relationships/hyperlink" Target="https://docs.google.com/document/d/1ClpxshpplWJLFKQ90VRom2vY-Ukp0pgX/edit" TargetMode="External"/><Relationship Id="rId32" Type="http://schemas.openxmlformats.org/officeDocument/2006/relationships/hyperlink" Target="https://docs.google.com/spreadsheets/d/1oUhAuSOlLYqNJ1_pbGCD2MSQlrRySW1M/edit" TargetMode="External"/><Relationship Id="rId13" Type="http://schemas.openxmlformats.org/officeDocument/2006/relationships/hyperlink" Target="https://docs.google.com/document/d/1ClpxshpplWJLFKQ90VRom2vY-Ukp0pgX/edit" TargetMode="External"/><Relationship Id="rId12" Type="http://schemas.openxmlformats.org/officeDocument/2006/relationships/hyperlink" Target="https://docs.google.com/document/d/1ClpxshpplWJLFKQ90VRom2vY-Ukp0pgX/edit" TargetMode="External"/><Relationship Id="rId15" Type="http://schemas.openxmlformats.org/officeDocument/2006/relationships/hyperlink" Target="https://docs.google.com/document/d/1ClpxshpplWJLFKQ90VRom2vY-Ukp0pgX/edit" TargetMode="External"/><Relationship Id="rId14" Type="http://schemas.openxmlformats.org/officeDocument/2006/relationships/hyperlink" Target="https://docs.google.com/document/d/1ClpxshpplWJLFKQ90VRom2vY-Ukp0pgX/edit" TargetMode="External"/><Relationship Id="rId17" Type="http://schemas.openxmlformats.org/officeDocument/2006/relationships/hyperlink" Target="https://docs.google.com/document/d/1ClpxshpplWJLFKQ90VRom2vY-Ukp0pgX/edit" TargetMode="External"/><Relationship Id="rId16" Type="http://schemas.openxmlformats.org/officeDocument/2006/relationships/hyperlink" Target="https://docs.google.com/document/d/1ClpxshpplWJLFKQ90VRom2vY-Ukp0pgX/edit" TargetMode="External"/><Relationship Id="rId19" Type="http://schemas.openxmlformats.org/officeDocument/2006/relationships/hyperlink" Target="https://docs.google.com/document/d/1ClpxshpplWJLFKQ90VRom2vY-Ukp0pgX/edit" TargetMode="External"/><Relationship Id="rId18" Type="http://schemas.openxmlformats.org/officeDocument/2006/relationships/hyperlink" Target="https://docs.google.com/document/d/1ClpxshpplWJLFKQ90VRom2vY-Ukp0pgX/edi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95255" y="661983"/>
            <a:ext cx="7991399" cy="9563110"/>
          </a:xfrm>
          <a:custGeom>
            <a:rect b="b" l="l" r="r" t="t"/>
            <a:pathLst>
              <a:path extrusionOk="0" h="9563110" w="7991399">
                <a:moveTo>
                  <a:pt x="0" y="0"/>
                </a:moveTo>
                <a:lnTo>
                  <a:pt x="7991399" y="0"/>
                </a:lnTo>
                <a:lnTo>
                  <a:pt x="7991399" y="9563109"/>
                </a:lnTo>
                <a:lnTo>
                  <a:pt x="0" y="9563109"/>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0" y="7620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sp>
      <p:sp>
        <p:nvSpPr>
          <p:cNvPr id="86" name="Google Shape;86;p1"/>
          <p:cNvSpPr/>
          <p:nvPr/>
        </p:nvSpPr>
        <p:spPr>
          <a:xfrm>
            <a:off x="15157748" y="6234695"/>
            <a:ext cx="1554113" cy="1458041"/>
          </a:xfrm>
          <a:custGeom>
            <a:rect b="b" l="l" r="r" t="t"/>
            <a:pathLst>
              <a:path extrusionOk="0" h="1458041" w="1554113">
                <a:moveTo>
                  <a:pt x="0" y="0"/>
                </a:moveTo>
                <a:lnTo>
                  <a:pt x="1554113" y="0"/>
                </a:lnTo>
                <a:lnTo>
                  <a:pt x="1554113" y="1458041"/>
                </a:lnTo>
                <a:lnTo>
                  <a:pt x="0" y="1458041"/>
                </a:lnTo>
                <a:lnTo>
                  <a:pt x="0" y="0"/>
                </a:lnTo>
                <a:close/>
              </a:path>
            </a:pathLst>
          </a:custGeom>
          <a:blipFill rotWithShape="1">
            <a:blip r:embed="rId5">
              <a:alphaModFix/>
            </a:blip>
            <a:stretch>
              <a:fillRect b="0" l="0" r="0" t="0"/>
            </a:stretch>
          </a:blipFill>
          <a:ln>
            <a:noFill/>
          </a:ln>
        </p:spPr>
      </p:sp>
      <p:sp>
        <p:nvSpPr>
          <p:cNvPr id="87" name="Google Shape;87;p1"/>
          <p:cNvSpPr txBox="1"/>
          <p:nvPr/>
        </p:nvSpPr>
        <p:spPr>
          <a:xfrm>
            <a:off x="450528" y="4949595"/>
            <a:ext cx="8004600" cy="87796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4619" u="none" cap="none" strike="noStrike">
                <a:solidFill>
                  <a:srgbClr val="FFFFFF"/>
                </a:solidFill>
                <a:latin typeface="Calibri"/>
                <a:ea typeface="Calibri"/>
                <a:cs typeface="Calibri"/>
                <a:sym typeface="Calibri"/>
              </a:rPr>
              <a:t>IMPARTIDO POR _____________</a:t>
            </a:r>
            <a:endParaRPr/>
          </a:p>
        </p:txBody>
      </p:sp>
      <p:sp>
        <p:nvSpPr>
          <p:cNvPr id="88" name="Google Shape;88;p1"/>
          <p:cNvSpPr txBox="1"/>
          <p:nvPr/>
        </p:nvSpPr>
        <p:spPr>
          <a:xfrm>
            <a:off x="450528" y="2688741"/>
            <a:ext cx="16151633" cy="87796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4619" u="none" cap="none" strike="noStrike">
                <a:solidFill>
                  <a:srgbClr val="FFFFFF"/>
                </a:solidFill>
                <a:latin typeface="Calibri"/>
                <a:ea typeface="Calibri"/>
                <a:cs typeface="Calibri"/>
                <a:sym typeface="Calibri"/>
              </a:rPr>
              <a:t>BIENVENIDOS AL CURSO "______________________"</a:t>
            </a:r>
            <a:endParaRPr/>
          </a:p>
        </p:txBody>
      </p:sp>
      <p:sp>
        <p:nvSpPr>
          <p:cNvPr id="89" name="Google Shape;89;p1"/>
          <p:cNvSpPr txBox="1"/>
          <p:nvPr/>
        </p:nvSpPr>
        <p:spPr>
          <a:xfrm>
            <a:off x="810383" y="847725"/>
            <a:ext cx="17034600" cy="665100"/>
          </a:xfrm>
          <a:prstGeom prst="rect">
            <a:avLst/>
          </a:prstGeom>
          <a:solidFill>
            <a:srgbClr val="980000"/>
          </a:solid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320" u="none" cap="none" strike="noStrike">
                <a:solidFill>
                  <a:schemeClr val="lt1"/>
                </a:solidFill>
                <a:latin typeface="Calibri"/>
                <a:ea typeface="Calibri"/>
                <a:cs typeface="Calibri"/>
                <a:sym typeface="Calibri"/>
              </a:rPr>
              <a:t>(Cambia la imágen de cada diapositiva acorde al título </a:t>
            </a:r>
            <a:r>
              <a:rPr b="1" lang="en-US" sz="4320">
                <a:solidFill>
                  <a:schemeClr val="lt1"/>
                </a:solidFill>
                <a:latin typeface="Calibri"/>
                <a:ea typeface="Calibri"/>
                <a:cs typeface="Calibri"/>
                <a:sym typeface="Calibri"/>
              </a:rPr>
              <a:t>o tema</a:t>
            </a:r>
            <a:r>
              <a:rPr b="1" i="0" lang="en-US" sz="4320" u="none" cap="none" strike="noStrike">
                <a:solidFill>
                  <a:schemeClr val="lt1"/>
                </a:solidFill>
                <a:latin typeface="Calibri"/>
                <a:ea typeface="Calibri"/>
                <a:cs typeface="Calibri"/>
                <a:sym typeface="Calibri"/>
              </a:rPr>
              <a:t> de tu curso)</a:t>
            </a:r>
            <a:endParaRPr sz="1100">
              <a:solidFill>
                <a:schemeClr val="lt1"/>
              </a:solidFill>
            </a:endParaRPr>
          </a:p>
        </p:txBody>
      </p:sp>
      <p:sp>
        <p:nvSpPr>
          <p:cNvPr id="90" name="Google Shape;90;p1"/>
          <p:cNvSpPr txBox="1"/>
          <p:nvPr/>
        </p:nvSpPr>
        <p:spPr>
          <a:xfrm>
            <a:off x="12487027" y="6858940"/>
            <a:ext cx="3291600" cy="1041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820" u="none" cap="none" strike="noStrike">
                <a:solidFill>
                  <a:srgbClr val="E4081C"/>
                </a:solidFill>
                <a:highlight>
                  <a:schemeClr val="lt1"/>
                </a:highlight>
                <a:latin typeface="Calibri"/>
                <a:ea typeface="Calibri"/>
                <a:cs typeface="Calibri"/>
                <a:sym typeface="Calibri"/>
              </a:rPr>
              <a:t>Inicia Encuadre</a:t>
            </a:r>
            <a:endParaRPr b="1" i="0" sz="2820" u="none" cap="none" strike="noStrike">
              <a:solidFill>
                <a:srgbClr val="E4081C"/>
              </a:solidFill>
              <a:highlight>
                <a:schemeClr val="lt1"/>
              </a:highlight>
              <a:latin typeface="Calibri"/>
              <a:ea typeface="Calibri"/>
              <a:cs typeface="Calibri"/>
              <a:sym typeface="Calibri"/>
            </a:endParaRPr>
          </a:p>
          <a:p>
            <a:pPr indent="0" lvl="0" marL="0" marR="0" rtl="0" algn="l">
              <a:lnSpc>
                <a:spcPct val="140000"/>
              </a:lnSpc>
              <a:spcBef>
                <a:spcPts val="0"/>
              </a:spcBef>
              <a:spcAft>
                <a:spcPts val="0"/>
              </a:spcAft>
              <a:buNone/>
            </a:pPr>
            <a:r>
              <a:rPr b="1" lang="en-US" sz="2820">
                <a:solidFill>
                  <a:srgbClr val="E4081C"/>
                </a:solidFill>
                <a:highlight>
                  <a:schemeClr val="lt1"/>
                </a:highlight>
                <a:latin typeface="Calibri"/>
                <a:ea typeface="Calibri"/>
                <a:cs typeface="Calibri"/>
                <a:sym typeface="Calibri"/>
              </a:rPr>
              <a:t>(Registra tiempos)</a:t>
            </a:r>
            <a:endParaRPr b="1" sz="2820">
              <a:solidFill>
                <a:srgbClr val="E4081C"/>
              </a:solidFill>
              <a:highlight>
                <a:schemeClr val="lt1"/>
              </a:highlight>
              <a:latin typeface="Calibri"/>
              <a:ea typeface="Calibri"/>
              <a:cs typeface="Calibri"/>
              <a:sym typeface="Calibri"/>
            </a:endParaRPr>
          </a:p>
        </p:txBody>
      </p:sp>
      <p:sp>
        <p:nvSpPr>
          <p:cNvPr id="91" name="Google Shape;91;p1"/>
          <p:cNvSpPr txBox="1"/>
          <p:nvPr/>
        </p:nvSpPr>
        <p:spPr>
          <a:xfrm>
            <a:off x="13032453" y="8143700"/>
            <a:ext cx="2572800" cy="393000"/>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1" i="1" lang="en-US" sz="2553">
                <a:solidFill>
                  <a:schemeClr val="lt1"/>
                </a:solidFill>
                <a:latin typeface="Calibri"/>
                <a:ea typeface="Calibri"/>
                <a:cs typeface="Calibri"/>
                <a:sym typeface="Calibri"/>
              </a:rPr>
              <a:t>25</a:t>
            </a:r>
            <a:r>
              <a:rPr b="1" i="1" lang="en-US" sz="2553" u="none" cap="none" strike="noStrike">
                <a:solidFill>
                  <a:schemeClr val="lt1"/>
                </a:solidFill>
                <a:latin typeface="Calibri"/>
                <a:ea typeface="Calibri"/>
                <a:cs typeface="Calibri"/>
                <a:sym typeface="Calibri"/>
              </a:rPr>
              <a:t>-30 mins</a:t>
            </a:r>
            <a:endParaRPr b="1" sz="17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2"/>
          <p:cNvSpPr txBox="1"/>
          <p:nvPr/>
        </p:nvSpPr>
        <p:spPr>
          <a:xfrm>
            <a:off x="515022" y="46151"/>
            <a:ext cx="17258100" cy="9062700"/>
          </a:xfrm>
          <a:prstGeom prst="rect">
            <a:avLst/>
          </a:prstGeom>
          <a:noFill/>
          <a:ln>
            <a:noFill/>
          </a:ln>
        </p:spPr>
        <p:txBody>
          <a:bodyPr anchorCtr="0" anchor="t" bIns="0" lIns="0" spcFirstLastPara="1" rIns="0" wrap="square" tIns="0">
            <a:spAutoFit/>
          </a:bodyPr>
          <a:lstStyle/>
          <a:p>
            <a:pPr indent="-414660" lvl="1" marL="829320" marR="0" rtl="0" algn="just">
              <a:lnSpc>
                <a:spcPct val="248008"/>
              </a:lnSpc>
              <a:spcBef>
                <a:spcPts val="0"/>
              </a:spcBef>
              <a:spcAft>
                <a:spcPts val="0"/>
              </a:spcAft>
              <a:buClr>
                <a:srgbClr val="9900FF"/>
              </a:buClr>
              <a:buSzPts val="3841"/>
              <a:buFont typeface="Arial"/>
              <a:buChar char="•"/>
            </a:pPr>
            <a:r>
              <a:rPr b="1" i="0" lang="en-US" sz="3841" u="none" cap="none" strike="noStrike">
                <a:solidFill>
                  <a:srgbClr val="9900FF"/>
                </a:solidFill>
                <a:highlight>
                  <a:schemeClr val="lt1"/>
                </a:highlight>
                <a:latin typeface="Calibri"/>
                <a:ea typeface="Calibri"/>
                <a:cs typeface="Calibri"/>
                <a:sym typeface="Calibri"/>
              </a:rPr>
              <a:t>Aplicar Técnica Rompe Hielo (Nombre): </a:t>
            </a:r>
            <a:endParaRPr>
              <a:solidFill>
                <a:srgbClr val="9900FF"/>
              </a:solidFill>
              <a:highlight>
                <a:schemeClr val="lt1"/>
              </a:highlight>
            </a:endParaRPr>
          </a:p>
          <a:p>
            <a:pPr indent="-414660" lvl="1" marL="829320" marR="0" rtl="0" algn="just">
              <a:lnSpc>
                <a:spcPct val="118484"/>
              </a:lnSpc>
              <a:spcBef>
                <a:spcPts val="0"/>
              </a:spcBef>
              <a:spcAft>
                <a:spcPts val="0"/>
              </a:spcAft>
              <a:buClr>
                <a:srgbClr val="9900FF"/>
              </a:buClr>
              <a:buSzPts val="3841"/>
              <a:buFont typeface="Calibri"/>
              <a:buAutoNum type="arabicPeriod"/>
            </a:pPr>
            <a:r>
              <a:rPr b="1" i="0" lang="en-US" sz="3841" u="none" cap="none" strike="noStrike">
                <a:solidFill>
                  <a:srgbClr val="9900FF"/>
                </a:solidFill>
                <a:highlight>
                  <a:schemeClr val="lt1"/>
                </a:highlight>
                <a:latin typeface="Calibri"/>
                <a:ea typeface="Calibri"/>
                <a:cs typeface="Calibri"/>
                <a:sym typeface="Calibri"/>
              </a:rPr>
              <a:t>El instructor explica el objetivo de la técnica: Que el grupo se conozca y rompa el hielo y hace hincapié en la importancia que tiene que haya interacción.</a:t>
            </a:r>
            <a:endParaRPr>
              <a:solidFill>
                <a:srgbClr val="9900FF"/>
              </a:solidFill>
              <a:highlight>
                <a:schemeClr val="lt1"/>
              </a:highlight>
            </a:endParaRPr>
          </a:p>
          <a:p>
            <a:pPr indent="-414660" lvl="1" marL="829320" marR="0" rtl="0" algn="just">
              <a:lnSpc>
                <a:spcPct val="118484"/>
              </a:lnSpc>
              <a:spcBef>
                <a:spcPts val="0"/>
              </a:spcBef>
              <a:spcAft>
                <a:spcPts val="0"/>
              </a:spcAft>
              <a:buClr>
                <a:srgbClr val="9900FF"/>
              </a:buClr>
              <a:buSzPts val="3841"/>
              <a:buFont typeface="Calibri"/>
              <a:buAutoNum type="arabicPeriod"/>
            </a:pPr>
            <a:r>
              <a:rPr b="1" i="0" lang="en-US" sz="3841" u="none" cap="none" strike="noStrike">
                <a:solidFill>
                  <a:srgbClr val="9900FF"/>
                </a:solidFill>
                <a:highlight>
                  <a:schemeClr val="lt1"/>
                </a:highlight>
                <a:latin typeface="Calibri"/>
                <a:ea typeface="Calibri"/>
                <a:cs typeface="Calibri"/>
                <a:sym typeface="Calibri"/>
              </a:rPr>
              <a:t>El instructor da las instrucciones de la técnica</a:t>
            </a:r>
            <a:endParaRPr>
              <a:solidFill>
                <a:srgbClr val="9900FF"/>
              </a:solidFill>
              <a:highlight>
                <a:schemeClr val="lt1"/>
              </a:highlight>
            </a:endParaRPr>
          </a:p>
          <a:p>
            <a:pPr indent="0" lvl="0" marL="0" marR="0" rtl="0" algn="just">
              <a:lnSpc>
                <a:spcPct val="118484"/>
              </a:lnSpc>
              <a:spcBef>
                <a:spcPts val="0"/>
              </a:spcBef>
              <a:spcAft>
                <a:spcPts val="0"/>
              </a:spcAft>
              <a:buNone/>
            </a:pPr>
            <a:r>
              <a:rPr b="1" i="0" lang="en-US" sz="3841" u="none" cap="none" strike="noStrike">
                <a:solidFill>
                  <a:srgbClr val="9900FF"/>
                </a:solidFill>
                <a:highlight>
                  <a:schemeClr val="lt1"/>
                </a:highlight>
                <a:latin typeface="Calibri"/>
                <a:ea typeface="Calibri"/>
                <a:cs typeface="Calibri"/>
                <a:sym typeface="Calibri"/>
              </a:rPr>
              <a:t>       </a:t>
            </a:r>
            <a:endParaRPr>
              <a:solidFill>
                <a:srgbClr val="9900FF"/>
              </a:solidFill>
              <a:highlight>
                <a:schemeClr val="lt1"/>
              </a:highlight>
            </a:endParaRPr>
          </a:p>
          <a:p>
            <a:pPr indent="-414660" lvl="1" marL="829320" marR="0" rtl="0" algn="just">
              <a:lnSpc>
                <a:spcPct val="118484"/>
              </a:lnSpc>
              <a:spcBef>
                <a:spcPts val="0"/>
              </a:spcBef>
              <a:spcAft>
                <a:spcPts val="0"/>
              </a:spcAft>
              <a:buClr>
                <a:srgbClr val="9900FF"/>
              </a:buClr>
              <a:buSzPts val="3841"/>
              <a:buFont typeface="Arial"/>
              <a:buChar char="•"/>
            </a:pPr>
            <a:r>
              <a:rPr b="1" i="0" lang="en-US" sz="3841" u="none" cap="none" strike="noStrike">
                <a:solidFill>
                  <a:srgbClr val="9900FF"/>
                </a:solidFill>
                <a:highlight>
                  <a:schemeClr val="lt1"/>
                </a:highlight>
                <a:latin typeface="Calibri"/>
                <a:ea typeface="Calibri"/>
                <a:cs typeface="Calibri"/>
                <a:sym typeface="Calibri"/>
              </a:rPr>
              <a:t>Desarrollo: </a:t>
            </a:r>
            <a:endParaRPr>
              <a:solidFill>
                <a:srgbClr val="9900FF"/>
              </a:solidFill>
              <a:highlight>
                <a:schemeClr val="lt1"/>
              </a:highlight>
            </a:endParaRPr>
          </a:p>
          <a:p>
            <a:pPr indent="0" lvl="0" marL="0" marR="0" rtl="0" algn="just">
              <a:lnSpc>
                <a:spcPct val="118484"/>
              </a:lnSpc>
              <a:spcBef>
                <a:spcPts val="0"/>
              </a:spcBef>
              <a:spcAft>
                <a:spcPts val="0"/>
              </a:spcAft>
              <a:buNone/>
            </a:pPr>
            <a:r>
              <a:rPr b="1" i="0" lang="en-US" sz="3841" u="none" cap="none" strike="noStrike">
                <a:solidFill>
                  <a:srgbClr val="9900FF"/>
                </a:solidFill>
                <a:highlight>
                  <a:schemeClr val="lt1"/>
                </a:highlight>
                <a:latin typeface="Calibri"/>
                <a:ea typeface="Calibri"/>
                <a:cs typeface="Calibri"/>
                <a:sym typeface="Calibri"/>
              </a:rPr>
              <a:t> El instructor explica como de se desarrollará la técnica</a:t>
            </a:r>
            <a:endParaRPr>
              <a:solidFill>
                <a:srgbClr val="9900FF"/>
              </a:solidFill>
              <a:highlight>
                <a:schemeClr val="lt1"/>
              </a:highlight>
            </a:endParaRPr>
          </a:p>
          <a:p>
            <a:pPr indent="-414660" lvl="1" marL="829320" marR="0" rtl="0" algn="just">
              <a:lnSpc>
                <a:spcPct val="118484"/>
              </a:lnSpc>
              <a:spcBef>
                <a:spcPts val="0"/>
              </a:spcBef>
              <a:spcAft>
                <a:spcPts val="0"/>
              </a:spcAft>
              <a:buClr>
                <a:srgbClr val="9900FF"/>
              </a:buClr>
              <a:buSzPts val="3841"/>
              <a:buFont typeface="Calibri"/>
              <a:buAutoNum type="arabicPeriod"/>
            </a:pPr>
            <a:r>
              <a:rPr b="1" i="0" lang="en-US" sz="3841" u="none" cap="none" strike="noStrike">
                <a:solidFill>
                  <a:srgbClr val="9900FF"/>
                </a:solidFill>
                <a:highlight>
                  <a:schemeClr val="lt1"/>
                </a:highlight>
                <a:latin typeface="Calibri"/>
                <a:ea typeface="Calibri"/>
                <a:cs typeface="Calibri"/>
                <a:sym typeface="Calibri"/>
              </a:rPr>
              <a:t>Mencionar el tiempo para realizarla</a:t>
            </a:r>
            <a:endParaRPr>
              <a:solidFill>
                <a:srgbClr val="9900FF"/>
              </a:solidFill>
              <a:highlight>
                <a:schemeClr val="lt1"/>
              </a:highlight>
            </a:endParaRPr>
          </a:p>
          <a:p>
            <a:pPr indent="-414660" lvl="1" marL="829320" marR="0" rtl="0" algn="just">
              <a:lnSpc>
                <a:spcPct val="118484"/>
              </a:lnSpc>
              <a:spcBef>
                <a:spcPts val="0"/>
              </a:spcBef>
              <a:spcAft>
                <a:spcPts val="0"/>
              </a:spcAft>
              <a:buClr>
                <a:srgbClr val="9900FF"/>
              </a:buClr>
              <a:buSzPts val="3841"/>
              <a:buFont typeface="Calibri"/>
              <a:buAutoNum type="arabicPeriod"/>
            </a:pPr>
            <a:r>
              <a:rPr b="1" i="0" lang="en-US" sz="3841" u="none" cap="none" strike="noStrike">
                <a:solidFill>
                  <a:srgbClr val="9900FF"/>
                </a:solidFill>
                <a:highlight>
                  <a:schemeClr val="lt1"/>
                </a:highlight>
                <a:latin typeface="Calibri"/>
                <a:ea typeface="Calibri"/>
                <a:cs typeface="Calibri"/>
                <a:sym typeface="Calibri"/>
              </a:rPr>
              <a:t>Participar con el grupo en la técnica</a:t>
            </a:r>
            <a:endParaRPr>
              <a:solidFill>
                <a:srgbClr val="9900FF"/>
              </a:solidFill>
              <a:highlight>
                <a:schemeClr val="lt1"/>
              </a:highlight>
            </a:endParaRPr>
          </a:p>
          <a:p>
            <a:pPr indent="-414660" lvl="1" marL="829320" marR="0" rtl="0" algn="just">
              <a:lnSpc>
                <a:spcPct val="118484"/>
              </a:lnSpc>
              <a:spcBef>
                <a:spcPts val="0"/>
              </a:spcBef>
              <a:spcAft>
                <a:spcPts val="0"/>
              </a:spcAft>
              <a:buClr>
                <a:srgbClr val="9900FF"/>
              </a:buClr>
              <a:buSzPts val="3841"/>
              <a:buFont typeface="Calibri"/>
              <a:buAutoNum type="arabicPeriod"/>
            </a:pPr>
            <a:r>
              <a:rPr b="1" i="0" lang="en-US" sz="3841" u="none" cap="none" strike="noStrike">
                <a:solidFill>
                  <a:srgbClr val="9900FF"/>
                </a:solidFill>
                <a:highlight>
                  <a:schemeClr val="lt1"/>
                </a:highlight>
                <a:latin typeface="Calibri"/>
                <a:ea typeface="Calibri"/>
                <a:cs typeface="Calibri"/>
                <a:sym typeface="Calibri"/>
              </a:rPr>
              <a:t>Controlar el tiempo para realizar la técnica.</a:t>
            </a:r>
            <a:endParaRPr>
              <a:solidFill>
                <a:srgbClr val="9900FF"/>
              </a:solidFill>
              <a:highlight>
                <a:schemeClr val="lt1"/>
              </a:highlight>
            </a:endParaRPr>
          </a:p>
          <a:p>
            <a:pPr indent="0" lvl="0" marL="0" marR="0" rtl="0" algn="just">
              <a:lnSpc>
                <a:spcPct val="118484"/>
              </a:lnSpc>
              <a:spcBef>
                <a:spcPts val="0"/>
              </a:spcBef>
              <a:spcAft>
                <a:spcPts val="0"/>
              </a:spcAft>
              <a:buNone/>
            </a:pPr>
            <a:r>
              <a:rPr b="1" i="0" lang="en-US" sz="3841" u="none" cap="none" strike="noStrike">
                <a:solidFill>
                  <a:srgbClr val="9900FF"/>
                </a:solidFill>
                <a:highlight>
                  <a:schemeClr val="lt1"/>
                </a:highlight>
                <a:latin typeface="Calibri"/>
                <a:ea typeface="Calibri"/>
                <a:cs typeface="Calibri"/>
                <a:sym typeface="Calibri"/>
              </a:rPr>
              <a:t>Propiciar la presentación de los participantes</a:t>
            </a:r>
            <a:endParaRPr>
              <a:solidFill>
                <a:srgbClr val="9900FF"/>
              </a:solidFill>
              <a:highlight>
                <a:schemeClr val="lt1"/>
              </a:highlight>
            </a:endParaRPr>
          </a:p>
          <a:p>
            <a:pPr indent="0" lvl="0" marL="0" marR="0" rtl="0" algn="just">
              <a:lnSpc>
                <a:spcPct val="118484"/>
              </a:lnSpc>
              <a:spcBef>
                <a:spcPts val="0"/>
              </a:spcBef>
              <a:spcAft>
                <a:spcPts val="0"/>
              </a:spcAft>
              <a:buNone/>
            </a:pPr>
            <a:r>
              <a:t/>
            </a:r>
            <a:endParaRPr b="1" i="0" sz="3841" u="none" cap="none" strike="noStrike">
              <a:solidFill>
                <a:srgbClr val="9900FF"/>
              </a:solidFill>
              <a:highlight>
                <a:schemeClr val="lt1"/>
              </a:highlight>
              <a:latin typeface="Calibri"/>
              <a:ea typeface="Calibri"/>
              <a:cs typeface="Calibri"/>
              <a:sym typeface="Calibri"/>
            </a:endParaRPr>
          </a:p>
        </p:txBody>
      </p:sp>
      <p:sp>
        <p:nvSpPr>
          <p:cNvPr id="97" name="Google Shape;97;p2"/>
          <p:cNvSpPr/>
          <p:nvPr/>
        </p:nvSpPr>
        <p:spPr>
          <a:xfrm>
            <a:off x="15169515" y="8206657"/>
            <a:ext cx="1554113" cy="1458041"/>
          </a:xfrm>
          <a:custGeom>
            <a:rect b="b" l="l" r="r" t="t"/>
            <a:pathLst>
              <a:path extrusionOk="0" h="1458041" w="1554113">
                <a:moveTo>
                  <a:pt x="0" y="0"/>
                </a:moveTo>
                <a:lnTo>
                  <a:pt x="1554113" y="0"/>
                </a:lnTo>
                <a:lnTo>
                  <a:pt x="1554113" y="1458041"/>
                </a:lnTo>
                <a:lnTo>
                  <a:pt x="0" y="1458041"/>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7D31"/>
        </a:solidFill>
      </p:bgPr>
    </p:bg>
    <p:spTree>
      <p:nvGrpSpPr>
        <p:cNvPr id="101" name="Shape 101"/>
        <p:cNvGrpSpPr/>
        <p:nvPr/>
      </p:nvGrpSpPr>
      <p:grpSpPr>
        <a:xfrm>
          <a:off x="0" y="0"/>
          <a:ext cx="0" cy="0"/>
          <a:chOff x="0" y="0"/>
          <a:chExt cx="0" cy="0"/>
        </a:xfrm>
      </p:grpSpPr>
      <p:sp>
        <p:nvSpPr>
          <p:cNvPr id="102" name="Google Shape;102;p3"/>
          <p:cNvSpPr txBox="1"/>
          <p:nvPr/>
        </p:nvSpPr>
        <p:spPr>
          <a:xfrm>
            <a:off x="6318540" y="2428760"/>
            <a:ext cx="6038700" cy="2692800"/>
          </a:xfrm>
          <a:prstGeom prst="rect">
            <a:avLst/>
          </a:prstGeom>
          <a:noFill/>
          <a:ln>
            <a:noFill/>
          </a:ln>
        </p:spPr>
        <p:txBody>
          <a:bodyPr anchorCtr="0" anchor="t" bIns="0" lIns="0" spcFirstLastPara="1" rIns="0" wrap="square" tIns="0">
            <a:spAutoFit/>
          </a:bodyPr>
          <a:lstStyle/>
          <a:p>
            <a:pPr indent="0" lvl="0" marL="0" marR="0" rtl="0" algn="just">
              <a:lnSpc>
                <a:spcPct val="118484"/>
              </a:lnSpc>
              <a:spcBef>
                <a:spcPts val="0"/>
              </a:spcBef>
              <a:spcAft>
                <a:spcPts val="0"/>
              </a:spcAft>
              <a:buNone/>
            </a:pPr>
            <a:r>
              <a:rPr b="1" i="0" lang="en-US" sz="3841" u="none" cap="none" strike="noStrike">
                <a:solidFill>
                  <a:srgbClr val="E4081C"/>
                </a:solidFill>
                <a:highlight>
                  <a:srgbClr val="C8CACA"/>
                </a:highlight>
                <a:latin typeface="Calibri"/>
                <a:ea typeface="Calibri"/>
                <a:cs typeface="Calibri"/>
                <a:sym typeface="Calibri"/>
              </a:rPr>
              <a:t>                                              </a:t>
            </a:r>
            <a:endParaRPr>
              <a:highlight>
                <a:srgbClr val="C8CACA"/>
              </a:highlight>
            </a:endParaRPr>
          </a:p>
          <a:p>
            <a:pPr indent="-414660" lvl="1" marL="829320" marR="0" rtl="0" algn="just">
              <a:lnSpc>
                <a:spcPct val="118484"/>
              </a:lnSpc>
              <a:spcBef>
                <a:spcPts val="0"/>
              </a:spcBef>
              <a:spcAft>
                <a:spcPts val="0"/>
              </a:spcAft>
              <a:buClr>
                <a:srgbClr val="E4081C"/>
              </a:buClr>
              <a:buSzPts val="3841"/>
              <a:buFont typeface="Arial"/>
              <a:buChar char="•"/>
            </a:pPr>
            <a:r>
              <a:rPr b="1" i="0" lang="en-US" sz="3841" u="none" cap="none" strike="noStrike">
                <a:solidFill>
                  <a:srgbClr val="E4081C"/>
                </a:solidFill>
                <a:highlight>
                  <a:srgbClr val="C8CACA"/>
                </a:highlight>
                <a:latin typeface="Calibri"/>
                <a:ea typeface="Calibri"/>
                <a:cs typeface="Calibri"/>
                <a:sym typeface="Calibri"/>
              </a:rPr>
              <a:t>  Lista de Asistencia: Asegura “pasar” lista </a:t>
            </a:r>
            <a:endParaRPr>
              <a:highlight>
                <a:srgbClr val="C8CACA"/>
              </a:highlight>
            </a:endParaRPr>
          </a:p>
          <a:p>
            <a:pPr indent="0" lvl="0" marL="0" marR="0" rtl="0" algn="just">
              <a:lnSpc>
                <a:spcPct val="118484"/>
              </a:lnSpc>
              <a:spcBef>
                <a:spcPts val="0"/>
              </a:spcBef>
              <a:spcAft>
                <a:spcPts val="0"/>
              </a:spcAft>
              <a:buNone/>
            </a:pPr>
            <a:r>
              <a:t/>
            </a:r>
            <a:endParaRPr b="1" i="0" sz="3841" u="none" cap="none" strike="noStrike">
              <a:solidFill>
                <a:srgbClr val="E4081C"/>
              </a:solidFill>
              <a:highlight>
                <a:srgbClr val="C8CACA"/>
              </a:highlight>
              <a:latin typeface="Calibri"/>
              <a:ea typeface="Calibri"/>
              <a:cs typeface="Calibri"/>
              <a:sym typeface="Calibri"/>
            </a:endParaRPr>
          </a:p>
        </p:txBody>
      </p:sp>
      <p:sp>
        <p:nvSpPr>
          <p:cNvPr id="103" name="Google Shape;103;p3"/>
          <p:cNvSpPr/>
          <p:nvPr/>
        </p:nvSpPr>
        <p:spPr>
          <a:xfrm>
            <a:off x="15321915" y="5883207"/>
            <a:ext cx="1554113" cy="1458041"/>
          </a:xfrm>
          <a:custGeom>
            <a:rect b="b" l="l" r="r" t="t"/>
            <a:pathLst>
              <a:path extrusionOk="0" h="1458041" w="1554113">
                <a:moveTo>
                  <a:pt x="0" y="0"/>
                </a:moveTo>
                <a:lnTo>
                  <a:pt x="1554113" y="0"/>
                </a:lnTo>
                <a:lnTo>
                  <a:pt x="1554113" y="1458041"/>
                </a:lnTo>
                <a:lnTo>
                  <a:pt x="0" y="1458041"/>
                </a:lnTo>
                <a:lnTo>
                  <a:pt x="0" y="0"/>
                </a:lnTo>
                <a:close/>
              </a:path>
            </a:pathLst>
          </a:custGeom>
          <a:blipFill rotWithShape="1">
            <a:blip r:embed="rId3">
              <a:alphaModFix/>
            </a:blip>
            <a:stretch>
              <a:fillRect b="0" l="0" r="0" t="0"/>
            </a:stretch>
          </a:blipFill>
          <a:ln>
            <a:noFill/>
          </a:ln>
        </p:spPr>
      </p:sp>
      <p:pic>
        <p:nvPicPr>
          <p:cNvPr descr="File:Familia Perón-Sosa - Censo 1895 - Argentina.jpg - Wikimedia ..." id="104" name="Google Shape;104;p3"/>
          <p:cNvPicPr preferRelativeResize="0"/>
          <p:nvPr/>
        </p:nvPicPr>
        <p:blipFill>
          <a:blip r:embed="rId4">
            <a:alphaModFix/>
          </a:blip>
          <a:stretch>
            <a:fillRect/>
          </a:stretch>
        </p:blipFill>
        <p:spPr>
          <a:xfrm>
            <a:off x="152400" y="5273960"/>
            <a:ext cx="9753600" cy="483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7D31"/>
        </a:solidFill>
      </p:bgPr>
    </p:bg>
    <p:spTree>
      <p:nvGrpSpPr>
        <p:cNvPr id="108" name="Shape 108"/>
        <p:cNvGrpSpPr/>
        <p:nvPr/>
      </p:nvGrpSpPr>
      <p:grpSpPr>
        <a:xfrm>
          <a:off x="0" y="0"/>
          <a:ext cx="0" cy="0"/>
          <a:chOff x="0" y="0"/>
          <a:chExt cx="0" cy="0"/>
        </a:xfrm>
      </p:grpSpPr>
      <p:sp>
        <p:nvSpPr>
          <p:cNvPr id="109" name="Google Shape;109;p4"/>
          <p:cNvSpPr/>
          <p:nvPr/>
        </p:nvSpPr>
        <p:spPr>
          <a:xfrm>
            <a:off x="-95255" y="-95255"/>
            <a:ext cx="18478495" cy="9520233"/>
          </a:xfrm>
          <a:custGeom>
            <a:rect b="b" l="l" r="r" t="t"/>
            <a:pathLst>
              <a:path extrusionOk="0" h="9520233" w="18478495">
                <a:moveTo>
                  <a:pt x="0" y="0"/>
                </a:moveTo>
                <a:lnTo>
                  <a:pt x="18478495" y="0"/>
                </a:lnTo>
                <a:lnTo>
                  <a:pt x="18478495" y="9520233"/>
                </a:lnTo>
                <a:lnTo>
                  <a:pt x="0" y="9520233"/>
                </a:lnTo>
                <a:lnTo>
                  <a:pt x="0" y="0"/>
                </a:lnTo>
                <a:close/>
              </a:path>
            </a:pathLst>
          </a:custGeom>
          <a:blipFill rotWithShape="1">
            <a:blip r:embed="rId3">
              <a:alphaModFix/>
            </a:blip>
            <a:stretch>
              <a:fillRect b="0" l="0" r="0" t="0"/>
            </a:stretch>
          </a:blipFill>
          <a:ln>
            <a:noFill/>
          </a:ln>
        </p:spPr>
      </p:sp>
      <p:sp>
        <p:nvSpPr>
          <p:cNvPr id="110" name="Google Shape;110;p4"/>
          <p:cNvSpPr txBox="1"/>
          <p:nvPr/>
        </p:nvSpPr>
        <p:spPr>
          <a:xfrm>
            <a:off x="197046" y="2645281"/>
            <a:ext cx="1663308" cy="989933"/>
          </a:xfrm>
          <a:prstGeom prst="rect">
            <a:avLst/>
          </a:prstGeom>
          <a:noFill/>
          <a:ln>
            <a:noFill/>
          </a:ln>
        </p:spPr>
        <p:txBody>
          <a:bodyPr anchorCtr="0" anchor="t" bIns="0" lIns="0" spcFirstLastPara="1" rIns="0" wrap="square" tIns="0">
            <a:spAutoFit/>
          </a:bodyPr>
          <a:lstStyle/>
          <a:p>
            <a:pPr indent="0" lvl="0" marL="0" marR="0" rtl="0" algn="l">
              <a:lnSpc>
                <a:spcPct val="118480"/>
              </a:lnSpc>
              <a:spcBef>
                <a:spcPts val="0"/>
              </a:spcBef>
              <a:spcAft>
                <a:spcPts val="0"/>
              </a:spcAft>
              <a:buNone/>
            </a:pPr>
            <a:r>
              <a:rPr b="1" i="0" lang="en-US" sz="3041" u="none" cap="none" strike="noStrike">
                <a:solidFill>
                  <a:srgbClr val="000000"/>
                </a:solidFill>
                <a:latin typeface="Calibri"/>
                <a:ea typeface="Calibri"/>
                <a:cs typeface="Calibri"/>
                <a:sym typeface="Calibri"/>
              </a:rPr>
              <a:t>OBJETIVO GENERAL</a:t>
            </a:r>
            <a:endParaRPr/>
          </a:p>
        </p:txBody>
      </p:sp>
      <p:sp>
        <p:nvSpPr>
          <p:cNvPr id="111" name="Google Shape;111;p4"/>
          <p:cNvSpPr txBox="1"/>
          <p:nvPr/>
        </p:nvSpPr>
        <p:spPr>
          <a:xfrm>
            <a:off x="391478" y="5560129"/>
            <a:ext cx="2761170" cy="49619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0" i="0" lang="en-US" sz="2591" u="none" cap="none" strike="noStrike">
                <a:solidFill>
                  <a:srgbClr val="E4081C"/>
                </a:solidFill>
                <a:latin typeface="Calibri"/>
                <a:ea typeface="Calibri"/>
                <a:cs typeface="Calibri"/>
                <a:sym typeface="Calibri"/>
              </a:rPr>
              <a:t>P. ej.</a:t>
            </a:r>
            <a:r>
              <a:rPr b="0" i="0" lang="en-US" sz="2591" u="none" cap="none" strike="noStrike">
                <a:solidFill>
                  <a:srgbClr val="000000"/>
                </a:solidFill>
                <a:latin typeface="Calibri"/>
                <a:ea typeface="Calibri"/>
                <a:cs typeface="Calibri"/>
                <a:sym typeface="Calibri"/>
              </a:rPr>
              <a:t>El participante</a:t>
            </a:r>
            <a:endParaRPr/>
          </a:p>
        </p:txBody>
      </p:sp>
      <p:sp>
        <p:nvSpPr>
          <p:cNvPr id="112" name="Google Shape;112;p4"/>
          <p:cNvSpPr txBox="1"/>
          <p:nvPr/>
        </p:nvSpPr>
        <p:spPr>
          <a:xfrm>
            <a:off x="3872895" y="5617279"/>
            <a:ext cx="6490061" cy="2722852"/>
          </a:xfrm>
          <a:prstGeom prst="rect">
            <a:avLst/>
          </a:prstGeom>
          <a:noFill/>
          <a:ln>
            <a:noFill/>
          </a:ln>
        </p:spPr>
        <p:txBody>
          <a:bodyPr anchorCtr="0" anchor="t" bIns="0" lIns="0" spcFirstLastPara="1" rIns="0" wrap="square" tIns="0">
            <a:spAutoFit/>
          </a:bodyPr>
          <a:lstStyle/>
          <a:p>
            <a:pPr indent="0" lvl="0" marL="0" marR="0" rtl="0" algn="just">
              <a:lnSpc>
                <a:spcPct val="117483"/>
              </a:lnSpc>
              <a:spcBef>
                <a:spcPts val="0"/>
              </a:spcBef>
              <a:spcAft>
                <a:spcPts val="0"/>
              </a:spcAft>
              <a:buNone/>
            </a:pPr>
            <a:r>
              <a:rPr b="0" i="0" lang="en-US" sz="2591" u="none" cap="none" strike="noStrike">
                <a:solidFill>
                  <a:srgbClr val="000000"/>
                </a:solidFill>
                <a:latin typeface="Calibri"/>
                <a:ea typeface="Calibri"/>
                <a:cs typeface="Calibri"/>
                <a:sym typeface="Calibri"/>
              </a:rPr>
              <a:t>Al finalizar el Curso-Taller </a:t>
            </a:r>
            <a:r>
              <a:rPr b="0" i="0" lang="en-US" sz="2591" u="none" cap="none" strike="noStrike">
                <a:solidFill>
                  <a:srgbClr val="E4081C"/>
                </a:solidFill>
                <a:latin typeface="Calibri"/>
                <a:ea typeface="Calibri"/>
                <a:cs typeface="Calibri"/>
                <a:sym typeface="Calibri"/>
              </a:rPr>
              <a:t>¿Qué acción va a realizar? (incluir los tres verbos de los objetivos particulares, verbos que reflejen las tres áreas de dominio de aprendizaje, cognitiva, psicomotriz y afectiva más el objeto sobre el que recae la acción)</a:t>
            </a:r>
            <a:endParaRPr/>
          </a:p>
          <a:p>
            <a:pPr indent="0" lvl="0" marL="0" marR="0" rtl="0" algn="just">
              <a:lnSpc>
                <a:spcPct val="117483"/>
              </a:lnSpc>
              <a:spcBef>
                <a:spcPts val="0"/>
              </a:spcBef>
              <a:spcAft>
                <a:spcPts val="0"/>
              </a:spcAft>
              <a:buNone/>
            </a:pPr>
            <a:r>
              <a:t/>
            </a:r>
            <a:endParaRPr b="0" i="0" sz="2591" u="none" cap="none" strike="noStrike">
              <a:solidFill>
                <a:srgbClr val="E4081C"/>
              </a:solidFill>
              <a:latin typeface="Calibri"/>
              <a:ea typeface="Calibri"/>
              <a:cs typeface="Calibri"/>
              <a:sym typeface="Calibri"/>
            </a:endParaRPr>
          </a:p>
        </p:txBody>
      </p:sp>
      <p:sp>
        <p:nvSpPr>
          <p:cNvPr id="113" name="Google Shape;113;p4"/>
          <p:cNvSpPr txBox="1"/>
          <p:nvPr/>
        </p:nvSpPr>
        <p:spPr>
          <a:xfrm>
            <a:off x="391478" y="444113"/>
            <a:ext cx="17373129" cy="1610692"/>
          </a:xfrm>
          <a:prstGeom prst="rect">
            <a:avLst/>
          </a:prstGeom>
          <a:noFill/>
          <a:ln>
            <a:noFill/>
          </a:ln>
        </p:spPr>
        <p:txBody>
          <a:bodyPr anchorCtr="0" anchor="t" bIns="0" lIns="0" spcFirstLastPara="1" rIns="0" wrap="square" tIns="0">
            <a:spAutoFit/>
          </a:bodyPr>
          <a:lstStyle/>
          <a:p>
            <a:pPr indent="0" lvl="0" marL="0" marR="0" rtl="0" algn="l">
              <a:lnSpc>
                <a:spcPct val="241842"/>
              </a:lnSpc>
              <a:spcBef>
                <a:spcPts val="0"/>
              </a:spcBef>
              <a:spcAft>
                <a:spcPts val="0"/>
              </a:spcAft>
              <a:buNone/>
            </a:pPr>
            <a:r>
              <a:rPr b="1" i="0" lang="en-US" sz="2703" u="none" cap="none" strike="noStrike">
                <a:solidFill>
                  <a:srgbClr val="000000"/>
                </a:solidFill>
                <a:latin typeface="Calibri"/>
                <a:ea typeface="Calibri"/>
                <a:cs typeface="Calibri"/>
                <a:sym typeface="Calibri"/>
              </a:rPr>
              <a:t>Presentación del Curso </a:t>
            </a:r>
            <a:endParaRPr/>
          </a:p>
          <a:p>
            <a:pPr indent="0" lvl="0" marL="0" marR="0" rtl="0" algn="l">
              <a:lnSpc>
                <a:spcPct val="241842"/>
              </a:lnSpc>
              <a:spcBef>
                <a:spcPts val="0"/>
              </a:spcBef>
              <a:spcAft>
                <a:spcPts val="0"/>
              </a:spcAft>
              <a:buNone/>
            </a:pPr>
            <a:r>
              <a:rPr b="1" i="0" lang="en-US" sz="2703" u="none" cap="none" strike="noStrike">
                <a:solidFill>
                  <a:srgbClr val="000000"/>
                </a:solidFill>
                <a:latin typeface="Calibri"/>
                <a:ea typeface="Calibri"/>
                <a:cs typeface="Calibri"/>
                <a:sym typeface="Calibri"/>
              </a:rPr>
              <a:t>Descripción General</a:t>
            </a:r>
            <a:r>
              <a:rPr b="0" i="0" lang="en-US" sz="2703" u="none" cap="none" strike="noStrike">
                <a:solidFill>
                  <a:srgbClr val="000000"/>
                </a:solidFill>
                <a:latin typeface="Calibri"/>
                <a:ea typeface="Calibri"/>
                <a:cs typeface="Calibri"/>
                <a:sym typeface="Calibri"/>
              </a:rPr>
              <a:t>:</a:t>
            </a:r>
            <a:endParaRPr/>
          </a:p>
        </p:txBody>
      </p:sp>
      <p:sp>
        <p:nvSpPr>
          <p:cNvPr id="114" name="Google Shape;114;p4"/>
          <p:cNvSpPr txBox="1"/>
          <p:nvPr/>
        </p:nvSpPr>
        <p:spPr>
          <a:xfrm>
            <a:off x="2653932" y="2664331"/>
            <a:ext cx="15110674" cy="1256188"/>
          </a:xfrm>
          <a:prstGeom prst="rect">
            <a:avLst/>
          </a:prstGeom>
          <a:noFill/>
          <a:ln>
            <a:noFill/>
          </a:ln>
        </p:spPr>
        <p:txBody>
          <a:bodyPr anchorCtr="0" anchor="t" bIns="0" lIns="0" spcFirstLastPara="1" rIns="0" wrap="square" tIns="0">
            <a:spAutoFit/>
          </a:bodyPr>
          <a:lstStyle/>
          <a:p>
            <a:pPr indent="0" lvl="0" marL="0" marR="0" rtl="0" algn="just">
              <a:lnSpc>
                <a:spcPct val="117537"/>
              </a:lnSpc>
              <a:spcBef>
                <a:spcPts val="0"/>
              </a:spcBef>
              <a:spcAft>
                <a:spcPts val="0"/>
              </a:spcAft>
              <a:buNone/>
            </a:pPr>
            <a:r>
              <a:rPr b="0" i="0" lang="en-US" sz="2680" u="none" cap="none" strike="noStrike">
                <a:solidFill>
                  <a:srgbClr val="B4BCBE"/>
                </a:solidFill>
                <a:latin typeface="Calibri"/>
                <a:ea typeface="Calibri"/>
                <a:cs typeface="Calibri"/>
                <a:sym typeface="Calibri"/>
              </a:rPr>
              <a:t> (describe la demostración de un conocimiento, desempeño o producto, resultado del aprendizaje del participante, así como el dominio de aprendizaje cognitivo, psicomotriz y/o afectivo en los que impactará el curso)</a:t>
            </a:r>
            <a:endParaRPr/>
          </a:p>
        </p:txBody>
      </p:sp>
      <p:sp>
        <p:nvSpPr>
          <p:cNvPr id="115" name="Google Shape;115;p4"/>
          <p:cNvSpPr txBox="1"/>
          <p:nvPr/>
        </p:nvSpPr>
        <p:spPr>
          <a:xfrm>
            <a:off x="674995" y="4305461"/>
            <a:ext cx="966556" cy="838039"/>
          </a:xfrm>
          <a:prstGeom prst="rect">
            <a:avLst/>
          </a:prstGeom>
          <a:noFill/>
          <a:ln>
            <a:noFill/>
          </a:ln>
        </p:spPr>
        <p:txBody>
          <a:bodyPr anchorCtr="0" anchor="t" bIns="0" lIns="0" spcFirstLastPara="1" rIns="0" wrap="square" tIns="0">
            <a:spAutoFit/>
          </a:bodyPr>
          <a:lstStyle/>
          <a:p>
            <a:pPr indent="0" lvl="0" marL="0" marR="0" rtl="0" algn="ctr">
              <a:lnSpc>
                <a:spcPct val="140035"/>
              </a:lnSpc>
              <a:spcBef>
                <a:spcPts val="0"/>
              </a:spcBef>
              <a:spcAft>
                <a:spcPts val="0"/>
              </a:spcAft>
              <a:buNone/>
            </a:pPr>
            <a:r>
              <a:rPr b="0" i="0" lang="en-US" sz="2253" u="none" cap="none" strike="noStrike">
                <a:solidFill>
                  <a:srgbClr val="C8CACA"/>
                </a:solidFill>
                <a:latin typeface="Calibri"/>
                <a:ea typeface="Calibri"/>
                <a:cs typeface="Calibri"/>
                <a:sym typeface="Calibri"/>
              </a:rPr>
              <a:t>Sujeto:</a:t>
            </a:r>
            <a:endParaRPr/>
          </a:p>
          <a:p>
            <a:pPr indent="0" lvl="0" marL="0" marR="0" rtl="0" algn="ctr">
              <a:lnSpc>
                <a:spcPct val="140035"/>
              </a:lnSpc>
              <a:spcBef>
                <a:spcPts val="0"/>
              </a:spcBef>
              <a:spcAft>
                <a:spcPts val="0"/>
              </a:spcAft>
              <a:buNone/>
            </a:pPr>
            <a:r>
              <a:rPr b="0" i="0" lang="en-US" sz="2253" u="none" cap="none" strike="noStrike">
                <a:solidFill>
                  <a:srgbClr val="E4081C"/>
                </a:solidFill>
                <a:latin typeface="Calibri"/>
                <a:ea typeface="Calibri"/>
                <a:cs typeface="Calibri"/>
                <a:sym typeface="Calibri"/>
              </a:rPr>
              <a:t>¿Quién?</a:t>
            </a:r>
            <a:endParaRPr/>
          </a:p>
        </p:txBody>
      </p:sp>
      <p:sp>
        <p:nvSpPr>
          <p:cNvPr id="116" name="Google Shape;116;p4"/>
          <p:cNvSpPr txBox="1"/>
          <p:nvPr/>
        </p:nvSpPr>
        <p:spPr>
          <a:xfrm>
            <a:off x="4616738" y="4198217"/>
            <a:ext cx="3099759" cy="838039"/>
          </a:xfrm>
          <a:prstGeom prst="rect">
            <a:avLst/>
          </a:prstGeom>
          <a:noFill/>
          <a:ln>
            <a:noFill/>
          </a:ln>
        </p:spPr>
        <p:txBody>
          <a:bodyPr anchorCtr="0" anchor="t" bIns="0" lIns="0" spcFirstLastPara="1" rIns="0" wrap="square" tIns="0">
            <a:spAutoFit/>
          </a:bodyPr>
          <a:lstStyle/>
          <a:p>
            <a:pPr indent="0" lvl="0" marL="0" marR="0" rtl="0" algn="ctr">
              <a:lnSpc>
                <a:spcPct val="140035"/>
              </a:lnSpc>
              <a:spcBef>
                <a:spcPts val="0"/>
              </a:spcBef>
              <a:spcAft>
                <a:spcPts val="0"/>
              </a:spcAft>
              <a:buNone/>
            </a:pPr>
            <a:r>
              <a:rPr b="0" i="0" lang="en-US" sz="2253" u="none" cap="none" strike="noStrike">
                <a:solidFill>
                  <a:srgbClr val="CFD5EA"/>
                </a:solidFill>
                <a:latin typeface="Calibri"/>
                <a:ea typeface="Calibri"/>
                <a:cs typeface="Calibri"/>
                <a:sym typeface="Calibri"/>
              </a:rPr>
              <a:t>Acción o comportamiento:</a:t>
            </a:r>
            <a:endParaRPr/>
          </a:p>
          <a:p>
            <a:pPr indent="0" lvl="0" marL="0" marR="0" rtl="0" algn="ctr">
              <a:lnSpc>
                <a:spcPct val="140035"/>
              </a:lnSpc>
              <a:spcBef>
                <a:spcPts val="0"/>
              </a:spcBef>
              <a:spcAft>
                <a:spcPts val="0"/>
              </a:spcAft>
              <a:buNone/>
            </a:pPr>
            <a:r>
              <a:rPr b="0" i="0" lang="en-US" sz="2253" u="none" cap="none" strike="noStrike">
                <a:solidFill>
                  <a:srgbClr val="E4081C"/>
                </a:solidFill>
                <a:latin typeface="Calibri"/>
                <a:ea typeface="Calibri"/>
                <a:cs typeface="Calibri"/>
                <a:sym typeface="Calibri"/>
              </a:rPr>
              <a:t>¿Cuándo? Y ¿Qué?</a:t>
            </a:r>
            <a:endParaRPr/>
          </a:p>
        </p:txBody>
      </p:sp>
      <p:sp>
        <p:nvSpPr>
          <p:cNvPr id="117" name="Google Shape;117;p4"/>
          <p:cNvSpPr txBox="1"/>
          <p:nvPr/>
        </p:nvSpPr>
        <p:spPr>
          <a:xfrm>
            <a:off x="10762727" y="4198217"/>
            <a:ext cx="7106020" cy="2838123"/>
          </a:xfrm>
          <a:prstGeom prst="rect">
            <a:avLst/>
          </a:prstGeom>
          <a:noFill/>
          <a:ln>
            <a:noFill/>
          </a:ln>
        </p:spPr>
        <p:txBody>
          <a:bodyPr anchorCtr="0" anchor="t" bIns="0" lIns="0" spcFirstLastPara="1" rIns="0" wrap="square" tIns="0">
            <a:spAutoFit/>
          </a:bodyPr>
          <a:lstStyle/>
          <a:p>
            <a:pPr indent="0" lvl="0" marL="0" marR="0" rtl="0" algn="ctr">
              <a:lnSpc>
                <a:spcPct val="140035"/>
              </a:lnSpc>
              <a:spcBef>
                <a:spcPts val="0"/>
              </a:spcBef>
              <a:spcAft>
                <a:spcPts val="0"/>
              </a:spcAft>
              <a:buNone/>
            </a:pPr>
            <a:r>
              <a:rPr b="0" i="0" lang="en-US" sz="2253" u="none" cap="none" strike="noStrike">
                <a:solidFill>
                  <a:srgbClr val="CFD5EA"/>
                </a:solidFill>
                <a:latin typeface="Calibri"/>
                <a:ea typeface="Calibri"/>
                <a:cs typeface="Calibri"/>
                <a:sym typeface="Calibri"/>
              </a:rPr>
              <a:t>Condición de operación:</a:t>
            </a:r>
            <a:endParaRPr/>
          </a:p>
          <a:p>
            <a:pPr indent="0" lvl="0" marL="0" marR="0" rtl="0" algn="ctr">
              <a:lnSpc>
                <a:spcPct val="140035"/>
              </a:lnSpc>
              <a:spcBef>
                <a:spcPts val="0"/>
              </a:spcBef>
              <a:spcAft>
                <a:spcPts val="0"/>
              </a:spcAft>
              <a:buNone/>
            </a:pPr>
            <a:r>
              <a:rPr b="0" i="0" lang="en-US" sz="2253" u="none" cap="none" strike="noStrike">
                <a:solidFill>
                  <a:srgbClr val="E4081C"/>
                </a:solidFill>
                <a:latin typeface="Calibri"/>
                <a:ea typeface="Calibri"/>
                <a:cs typeface="Calibri"/>
                <a:sym typeface="Calibri"/>
              </a:rPr>
              <a:t>¿Cómo? Y ¿Para qué?</a:t>
            </a:r>
            <a:endParaRPr/>
          </a:p>
          <a:p>
            <a:pPr indent="0" lvl="0" marL="0" marR="0" rtl="0" algn="ctr">
              <a:lnSpc>
                <a:spcPct val="140035"/>
              </a:lnSpc>
              <a:spcBef>
                <a:spcPts val="0"/>
              </a:spcBef>
              <a:spcAft>
                <a:spcPts val="0"/>
              </a:spcAft>
              <a:buNone/>
            </a:pPr>
            <a:r>
              <a:t/>
            </a:r>
            <a:endParaRPr b="0" i="0" sz="2253" u="none" cap="none" strike="noStrike">
              <a:solidFill>
                <a:srgbClr val="E4081C"/>
              </a:solidFill>
              <a:latin typeface="Calibri"/>
              <a:ea typeface="Calibri"/>
              <a:cs typeface="Calibri"/>
              <a:sym typeface="Calibri"/>
            </a:endParaRPr>
          </a:p>
          <a:p>
            <a:pPr indent="0" lvl="0" marL="0" marR="0" rtl="0" algn="ctr">
              <a:lnSpc>
                <a:spcPct val="140035"/>
              </a:lnSpc>
              <a:spcBef>
                <a:spcPts val="0"/>
              </a:spcBef>
              <a:spcAft>
                <a:spcPts val="0"/>
              </a:spcAft>
              <a:buNone/>
            </a:pPr>
            <a:r>
              <a:t/>
            </a:r>
            <a:endParaRPr b="0" i="0" sz="2253" u="none" cap="none" strike="noStrike">
              <a:solidFill>
                <a:srgbClr val="E4081C"/>
              </a:solidFill>
              <a:latin typeface="Calibri"/>
              <a:ea typeface="Calibri"/>
              <a:cs typeface="Calibri"/>
              <a:sym typeface="Calibri"/>
            </a:endParaRPr>
          </a:p>
          <a:p>
            <a:pPr indent="0" lvl="0" marL="0" marR="0" rtl="0" algn="ctr">
              <a:lnSpc>
                <a:spcPct val="140035"/>
              </a:lnSpc>
              <a:spcBef>
                <a:spcPts val="0"/>
              </a:spcBef>
              <a:spcAft>
                <a:spcPts val="0"/>
              </a:spcAft>
              <a:buNone/>
            </a:pPr>
            <a:r>
              <a:rPr b="0" i="0" lang="en-US" sz="2253" u="none" cap="none" strike="noStrike">
                <a:solidFill>
                  <a:srgbClr val="E4081C"/>
                </a:solidFill>
                <a:latin typeface="Calibri"/>
                <a:ea typeface="Calibri"/>
                <a:cs typeface="Calibri"/>
                <a:sym typeface="Calibri"/>
              </a:rPr>
              <a:t>¿Cómo va a lograr la acción establecida en el recuadro anterior? (a través de qué o por medio de qué) y</a:t>
            </a:r>
            <a:endParaRPr/>
          </a:p>
          <a:p>
            <a:pPr indent="0" lvl="0" marL="0" marR="0" rtl="0" algn="ctr">
              <a:lnSpc>
                <a:spcPct val="140035"/>
              </a:lnSpc>
              <a:spcBef>
                <a:spcPts val="0"/>
              </a:spcBef>
              <a:spcAft>
                <a:spcPts val="0"/>
              </a:spcAft>
              <a:buNone/>
            </a:pPr>
            <a:r>
              <a:rPr b="0" i="0" lang="en-US" sz="2253" u="none" cap="none" strike="noStrike">
                <a:solidFill>
                  <a:srgbClr val="E4081C"/>
                </a:solidFill>
                <a:latin typeface="Calibri"/>
                <a:ea typeface="Calibri"/>
                <a:cs typeface="Calibri"/>
                <a:sym typeface="Calibri"/>
              </a:rPr>
              <a:t>¿Para qué hacerlo? (Cuál es la finalidad</a:t>
            </a:r>
            <a:r>
              <a:rPr b="0" i="0" lang="en-US" sz="2253" u="none" cap="none" strike="noStrike">
                <a:solidFill>
                  <a:srgbClr val="CFD5EA"/>
                </a:solidFill>
                <a:latin typeface="Calibri"/>
                <a:ea typeface="Calibri"/>
                <a:cs typeface="Calibri"/>
                <a:sym typeface="Calibri"/>
              </a:rPr>
              <a:t>)</a:t>
            </a:r>
            <a:endParaRPr/>
          </a:p>
        </p:txBody>
      </p:sp>
      <p:sp>
        <p:nvSpPr>
          <p:cNvPr id="118" name="Google Shape;118;p4"/>
          <p:cNvSpPr txBox="1"/>
          <p:nvPr/>
        </p:nvSpPr>
        <p:spPr>
          <a:xfrm>
            <a:off x="4676139" y="706452"/>
            <a:ext cx="9639598" cy="530196"/>
          </a:xfrm>
          <a:prstGeom prst="rect">
            <a:avLst/>
          </a:prstGeom>
          <a:noFill/>
          <a:ln>
            <a:noFill/>
          </a:ln>
        </p:spPr>
        <p:txBody>
          <a:bodyPr anchorCtr="0" anchor="t" bIns="0" lIns="0" spcFirstLastPara="1" rIns="0" wrap="square" tIns="0">
            <a:spAutoFit/>
          </a:bodyPr>
          <a:lstStyle/>
          <a:p>
            <a:pPr indent="0" lvl="0" marL="0" marR="0" rtl="0" algn="ctr">
              <a:lnSpc>
                <a:spcPct val="140029"/>
              </a:lnSpc>
              <a:spcBef>
                <a:spcPts val="0"/>
              </a:spcBef>
              <a:spcAft>
                <a:spcPts val="0"/>
              </a:spcAft>
              <a:buNone/>
            </a:pPr>
            <a:r>
              <a:rPr b="0" i="0" lang="en-US" sz="2753" u="none" cap="none" strike="noStrike">
                <a:solidFill>
                  <a:srgbClr val="C8CACA"/>
                </a:solidFill>
                <a:latin typeface="Calibri"/>
                <a:ea typeface="Calibri"/>
                <a:cs typeface="Calibri"/>
                <a:sym typeface="Calibri"/>
              </a:rPr>
              <a:t>El instructor presenta la descripción general del desarrollo del curso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p:nvPr/>
        </p:nvSpPr>
        <p:spPr>
          <a:xfrm>
            <a:off x="-95255" y="-95255"/>
            <a:ext cx="18478495" cy="10477495"/>
          </a:xfrm>
          <a:custGeom>
            <a:rect b="b" l="l" r="r" t="t"/>
            <a:pathLst>
              <a:path extrusionOk="0" h="10477495" w="18478495">
                <a:moveTo>
                  <a:pt x="0" y="0"/>
                </a:moveTo>
                <a:lnTo>
                  <a:pt x="18478495" y="0"/>
                </a:lnTo>
                <a:lnTo>
                  <a:pt x="18478495" y="10477495"/>
                </a:lnTo>
                <a:lnTo>
                  <a:pt x="0" y="10477495"/>
                </a:lnTo>
                <a:lnTo>
                  <a:pt x="0" y="0"/>
                </a:lnTo>
                <a:close/>
              </a:path>
            </a:pathLst>
          </a:custGeom>
          <a:blipFill rotWithShape="1">
            <a:blip r:embed="rId3">
              <a:alphaModFix/>
            </a:blip>
            <a:stretch>
              <a:fillRect b="0" l="0" r="0" t="0"/>
            </a:stretch>
          </a:blipFill>
          <a:ln>
            <a:noFill/>
          </a:ln>
        </p:spPr>
      </p:sp>
      <p:sp>
        <p:nvSpPr>
          <p:cNvPr id="124" name="Google Shape;124;p5"/>
          <p:cNvSpPr txBox="1"/>
          <p:nvPr/>
        </p:nvSpPr>
        <p:spPr>
          <a:xfrm>
            <a:off x="2123122" y="701435"/>
            <a:ext cx="1391002" cy="1058085"/>
          </a:xfrm>
          <a:prstGeom prst="rect">
            <a:avLst/>
          </a:prstGeom>
          <a:noFill/>
          <a:ln>
            <a:noFill/>
          </a:ln>
        </p:spPr>
        <p:txBody>
          <a:bodyPr anchorCtr="0" anchor="t" bIns="0" lIns="0" spcFirstLastPara="1" rIns="0" wrap="square" tIns="0">
            <a:spAutoFit/>
          </a:bodyPr>
          <a:lstStyle/>
          <a:p>
            <a:pPr indent="0" lvl="0" marL="0" marR="0" rtl="0" algn="l">
              <a:lnSpc>
                <a:spcPct val="237493"/>
              </a:lnSpc>
              <a:spcBef>
                <a:spcPts val="0"/>
              </a:spcBef>
              <a:spcAft>
                <a:spcPts val="0"/>
              </a:spcAft>
              <a:buNone/>
            </a:pPr>
            <a:r>
              <a:rPr b="1" i="0" lang="en-US" sz="1803" u="none" cap="none" strike="noStrike">
                <a:solidFill>
                  <a:srgbClr val="404040"/>
                </a:solidFill>
                <a:latin typeface="Calibri"/>
                <a:ea typeface="Calibri"/>
                <a:cs typeface="Calibri"/>
                <a:sym typeface="Calibri"/>
              </a:rPr>
              <a:t>CO</a:t>
            </a:r>
            <a:r>
              <a:rPr b="1" i="0" lang="en-US" sz="1803" u="none" cap="none" strike="noStrike">
                <a:solidFill>
                  <a:srgbClr val="000000"/>
                </a:solidFill>
                <a:latin typeface="Calibri"/>
                <a:ea typeface="Calibri"/>
                <a:cs typeface="Calibri"/>
                <a:sym typeface="Calibri"/>
              </a:rPr>
              <a:t> </a:t>
            </a:r>
            <a:r>
              <a:rPr b="1" i="0" lang="en-US" sz="1803" u="none" cap="none" strike="noStrike">
                <a:solidFill>
                  <a:srgbClr val="404040"/>
                </a:solidFill>
                <a:latin typeface="Calibri"/>
                <a:ea typeface="Calibri"/>
                <a:cs typeface="Calibri"/>
                <a:sym typeface="Calibri"/>
              </a:rPr>
              <a:t>GN</a:t>
            </a:r>
            <a:r>
              <a:rPr b="1" i="0" lang="en-US" sz="1803" u="none" cap="none" strike="noStrike">
                <a:solidFill>
                  <a:srgbClr val="000000"/>
                </a:solidFill>
                <a:latin typeface="Calibri"/>
                <a:ea typeface="Calibri"/>
                <a:cs typeface="Calibri"/>
                <a:sym typeface="Calibri"/>
              </a:rPr>
              <a:t> </a:t>
            </a:r>
            <a:r>
              <a:rPr b="1" i="0" lang="en-US" sz="1803" u="none" cap="none" strike="noStrike">
                <a:solidFill>
                  <a:srgbClr val="404040"/>
                </a:solidFill>
                <a:latin typeface="Calibri"/>
                <a:ea typeface="Calibri"/>
                <a:cs typeface="Calibri"/>
                <a:sym typeface="Calibri"/>
              </a:rPr>
              <a:t>IT</a:t>
            </a:r>
            <a:r>
              <a:rPr b="1" i="0" lang="en-US" sz="1803" u="none" cap="none" strike="noStrike">
                <a:solidFill>
                  <a:srgbClr val="000000"/>
                </a:solidFill>
                <a:latin typeface="Calibri"/>
                <a:ea typeface="Calibri"/>
                <a:cs typeface="Calibri"/>
                <a:sym typeface="Calibri"/>
              </a:rPr>
              <a:t> </a:t>
            </a:r>
            <a:r>
              <a:rPr b="1" i="0" lang="en-US" sz="1803" u="none" cap="none" strike="noStrike">
                <a:solidFill>
                  <a:srgbClr val="404040"/>
                </a:solidFill>
                <a:latin typeface="Calibri"/>
                <a:ea typeface="Calibri"/>
                <a:cs typeface="Calibri"/>
                <a:sym typeface="Calibri"/>
              </a:rPr>
              <a:t>I</a:t>
            </a:r>
            <a:r>
              <a:rPr b="1" i="0" lang="en-US" sz="1803" u="none" cap="none" strike="noStrike">
                <a:solidFill>
                  <a:srgbClr val="000000"/>
                </a:solidFill>
                <a:latin typeface="Calibri"/>
                <a:ea typeface="Calibri"/>
                <a:cs typeface="Calibri"/>
                <a:sym typeface="Calibri"/>
              </a:rPr>
              <a:t> </a:t>
            </a:r>
            <a:r>
              <a:rPr b="1" i="0" lang="en-US" sz="1803" u="none" cap="none" strike="noStrike">
                <a:solidFill>
                  <a:srgbClr val="404040"/>
                </a:solidFill>
                <a:latin typeface="Calibri"/>
                <a:ea typeface="Calibri"/>
                <a:cs typeface="Calibri"/>
                <a:sym typeface="Calibri"/>
              </a:rPr>
              <a:t>VO El Participante</a:t>
            </a:r>
            <a:endParaRPr/>
          </a:p>
        </p:txBody>
      </p:sp>
      <p:sp>
        <p:nvSpPr>
          <p:cNvPr id="125" name="Google Shape;125;p5"/>
          <p:cNvSpPr txBox="1"/>
          <p:nvPr/>
        </p:nvSpPr>
        <p:spPr>
          <a:xfrm>
            <a:off x="2123122" y="6671701"/>
            <a:ext cx="1391002" cy="352277"/>
          </a:xfrm>
          <a:prstGeom prst="rect">
            <a:avLst/>
          </a:prstGeom>
          <a:noFill/>
          <a:ln>
            <a:noFill/>
          </a:ln>
        </p:spPr>
        <p:txBody>
          <a:bodyPr anchorCtr="0" anchor="t" bIns="0" lIns="0" spcFirstLastPara="1" rIns="0" wrap="square" tIns="0">
            <a:spAutoFit/>
          </a:bodyPr>
          <a:lstStyle/>
          <a:p>
            <a:pPr indent="0" lvl="0" marL="0" marR="0" rtl="0" algn="l">
              <a:lnSpc>
                <a:spcPct val="140044"/>
              </a:lnSpc>
              <a:spcBef>
                <a:spcPts val="0"/>
              </a:spcBef>
              <a:spcAft>
                <a:spcPts val="0"/>
              </a:spcAft>
              <a:buNone/>
            </a:pPr>
            <a:r>
              <a:rPr b="1" i="0" lang="en-US" sz="1803" u="none" cap="none" strike="noStrike">
                <a:solidFill>
                  <a:srgbClr val="404040"/>
                </a:solidFill>
                <a:latin typeface="Calibri"/>
                <a:ea typeface="Calibri"/>
                <a:cs typeface="Calibri"/>
                <a:sym typeface="Calibri"/>
              </a:rPr>
              <a:t>El Participante</a:t>
            </a:r>
            <a:endParaRPr/>
          </a:p>
        </p:txBody>
      </p:sp>
      <p:sp>
        <p:nvSpPr>
          <p:cNvPr id="126" name="Google Shape;126;p5"/>
          <p:cNvSpPr txBox="1"/>
          <p:nvPr/>
        </p:nvSpPr>
        <p:spPr>
          <a:xfrm>
            <a:off x="2123122" y="9431574"/>
            <a:ext cx="1391002" cy="352277"/>
          </a:xfrm>
          <a:prstGeom prst="rect">
            <a:avLst/>
          </a:prstGeom>
          <a:noFill/>
          <a:ln>
            <a:noFill/>
          </a:ln>
        </p:spPr>
        <p:txBody>
          <a:bodyPr anchorCtr="0" anchor="t" bIns="0" lIns="0" spcFirstLastPara="1" rIns="0" wrap="square" tIns="0">
            <a:spAutoFit/>
          </a:bodyPr>
          <a:lstStyle/>
          <a:p>
            <a:pPr indent="0" lvl="0" marL="0" marR="0" rtl="0" algn="l">
              <a:lnSpc>
                <a:spcPct val="140044"/>
              </a:lnSpc>
              <a:spcBef>
                <a:spcPts val="0"/>
              </a:spcBef>
              <a:spcAft>
                <a:spcPts val="0"/>
              </a:spcAft>
              <a:buNone/>
            </a:pPr>
            <a:r>
              <a:rPr b="1" i="0" lang="en-US" sz="1803" u="none" cap="none" strike="noStrike">
                <a:solidFill>
                  <a:srgbClr val="404040"/>
                </a:solidFill>
                <a:latin typeface="Calibri"/>
                <a:ea typeface="Calibri"/>
                <a:cs typeface="Calibri"/>
                <a:sym typeface="Calibri"/>
              </a:rPr>
              <a:t>El Participante</a:t>
            </a:r>
            <a:endParaRPr/>
          </a:p>
        </p:txBody>
      </p:sp>
      <p:sp>
        <p:nvSpPr>
          <p:cNvPr id="127" name="Google Shape;127;p5"/>
          <p:cNvSpPr txBox="1"/>
          <p:nvPr/>
        </p:nvSpPr>
        <p:spPr>
          <a:xfrm>
            <a:off x="2227893" y="3709045"/>
            <a:ext cx="1325537" cy="352277"/>
          </a:xfrm>
          <a:prstGeom prst="rect">
            <a:avLst/>
          </a:prstGeom>
          <a:noFill/>
          <a:ln>
            <a:noFill/>
          </a:ln>
        </p:spPr>
        <p:txBody>
          <a:bodyPr anchorCtr="0" anchor="t" bIns="0" lIns="0" spcFirstLastPara="1" rIns="0" wrap="square" tIns="0">
            <a:spAutoFit/>
          </a:bodyPr>
          <a:lstStyle/>
          <a:p>
            <a:pPr indent="0" lvl="0" marL="0" marR="0" rtl="0" algn="l">
              <a:lnSpc>
                <a:spcPct val="140044"/>
              </a:lnSpc>
              <a:spcBef>
                <a:spcPts val="0"/>
              </a:spcBef>
              <a:spcAft>
                <a:spcPts val="0"/>
              </a:spcAft>
              <a:buNone/>
            </a:pPr>
            <a:r>
              <a:rPr b="1" i="0" lang="en-US" sz="1803" u="none" cap="none" strike="noStrike">
                <a:solidFill>
                  <a:srgbClr val="404040"/>
                </a:solidFill>
                <a:latin typeface="Calibri"/>
                <a:ea typeface="Calibri"/>
                <a:cs typeface="Calibri"/>
                <a:sym typeface="Calibri"/>
              </a:rPr>
              <a:t>PSICOMOTOR</a:t>
            </a:r>
            <a:endParaRPr/>
          </a:p>
        </p:txBody>
      </p:sp>
      <p:sp>
        <p:nvSpPr>
          <p:cNvPr id="128" name="Google Shape;128;p5"/>
          <p:cNvSpPr txBox="1"/>
          <p:nvPr/>
        </p:nvSpPr>
        <p:spPr>
          <a:xfrm>
            <a:off x="4453514" y="3597031"/>
            <a:ext cx="2615684" cy="1421776"/>
          </a:xfrm>
          <a:prstGeom prst="rect">
            <a:avLst/>
          </a:prstGeom>
          <a:noFill/>
          <a:ln>
            <a:noFill/>
          </a:ln>
        </p:spPr>
        <p:txBody>
          <a:bodyPr anchorCtr="0" anchor="t" bIns="0" lIns="0" spcFirstLastPara="1" rIns="0" wrap="square" tIns="0">
            <a:spAutoFit/>
          </a:bodyPr>
          <a:lstStyle/>
          <a:p>
            <a:pPr indent="0" lvl="0" marL="0" marR="0" rtl="0" algn="l">
              <a:lnSpc>
                <a:spcPct val="122906"/>
              </a:lnSpc>
              <a:spcBef>
                <a:spcPts val="0"/>
              </a:spcBef>
              <a:spcAft>
                <a:spcPts val="0"/>
              </a:spcAft>
              <a:buNone/>
            </a:pPr>
            <a:r>
              <a:rPr b="1" i="0" lang="en-US" sz="1803" u="none" cap="none" strike="noStrike">
                <a:solidFill>
                  <a:srgbClr val="E4081C"/>
                </a:solidFill>
                <a:latin typeface="Calibri"/>
                <a:ea typeface="Calibri"/>
                <a:cs typeface="Calibri"/>
                <a:sym typeface="Calibri"/>
              </a:rPr>
              <a:t> ¿Cuándo y Qué acción va a realizar? (verbo) más el objeto sobre el que recae la acción.</a:t>
            </a:r>
            <a:endParaRPr/>
          </a:p>
          <a:p>
            <a:pPr indent="0" lvl="0" marL="0" marR="0" rtl="0" algn="l">
              <a:lnSpc>
                <a:spcPct val="122906"/>
              </a:lnSpc>
              <a:spcBef>
                <a:spcPts val="0"/>
              </a:spcBef>
              <a:spcAft>
                <a:spcPts val="0"/>
              </a:spcAft>
              <a:buNone/>
            </a:pPr>
            <a:r>
              <a:t/>
            </a:r>
            <a:endParaRPr b="1" i="0" sz="1803" u="none" cap="none" strike="noStrike">
              <a:solidFill>
                <a:srgbClr val="E4081C"/>
              </a:solidFill>
              <a:latin typeface="Calibri"/>
              <a:ea typeface="Calibri"/>
              <a:cs typeface="Calibri"/>
              <a:sym typeface="Calibri"/>
            </a:endParaRPr>
          </a:p>
        </p:txBody>
      </p:sp>
      <p:sp>
        <p:nvSpPr>
          <p:cNvPr id="129" name="Google Shape;129;p5"/>
          <p:cNvSpPr txBox="1"/>
          <p:nvPr/>
        </p:nvSpPr>
        <p:spPr>
          <a:xfrm>
            <a:off x="4453514" y="1535830"/>
            <a:ext cx="2811666" cy="1287817"/>
          </a:xfrm>
          <a:prstGeom prst="rect">
            <a:avLst/>
          </a:prstGeom>
          <a:noFill/>
          <a:ln>
            <a:noFill/>
          </a:ln>
        </p:spPr>
        <p:txBody>
          <a:bodyPr anchorCtr="0" anchor="t" bIns="0" lIns="0" spcFirstLastPara="1" rIns="0" wrap="square" tIns="0">
            <a:spAutoFit/>
          </a:bodyPr>
          <a:lstStyle/>
          <a:p>
            <a:pPr indent="0" lvl="0" marL="0" marR="0" rtl="0" algn="l">
              <a:lnSpc>
                <a:spcPct val="140044"/>
              </a:lnSpc>
              <a:spcBef>
                <a:spcPts val="0"/>
              </a:spcBef>
              <a:spcAft>
                <a:spcPts val="0"/>
              </a:spcAft>
              <a:buNone/>
            </a:pPr>
            <a:r>
              <a:rPr b="1" i="0" lang="en-US" sz="1803" u="none" cap="none" strike="noStrike">
                <a:solidFill>
                  <a:srgbClr val="E4081C"/>
                </a:solidFill>
                <a:latin typeface="Calibri"/>
                <a:ea typeface="Calibri"/>
                <a:cs typeface="Calibri"/>
                <a:sym typeface="Calibri"/>
              </a:rPr>
              <a:t>¿Cuándo y Qué acción va a realizar? (verbo) más el objeto sobre el que recae la acción.</a:t>
            </a:r>
            <a:endParaRPr/>
          </a:p>
        </p:txBody>
      </p:sp>
      <p:sp>
        <p:nvSpPr>
          <p:cNvPr id="130" name="Google Shape;130;p5"/>
          <p:cNvSpPr txBox="1"/>
          <p:nvPr/>
        </p:nvSpPr>
        <p:spPr>
          <a:xfrm>
            <a:off x="7639626" y="1193497"/>
            <a:ext cx="4507721" cy="1931486"/>
          </a:xfrm>
          <a:prstGeom prst="rect">
            <a:avLst/>
          </a:prstGeom>
          <a:noFill/>
          <a:ln>
            <a:noFill/>
          </a:ln>
        </p:spPr>
        <p:txBody>
          <a:bodyPr anchorCtr="0" anchor="t" bIns="0" lIns="0" spcFirstLastPara="1" rIns="0" wrap="square" tIns="0">
            <a:spAutoFit/>
          </a:bodyPr>
          <a:lstStyle/>
          <a:p>
            <a:pPr indent="0" lvl="0" marL="0" marR="0" rtl="0" algn="l">
              <a:lnSpc>
                <a:spcPct val="118746"/>
              </a:lnSpc>
              <a:spcBef>
                <a:spcPts val="0"/>
              </a:spcBef>
              <a:spcAft>
                <a:spcPts val="0"/>
              </a:spcAft>
              <a:buNone/>
            </a:pPr>
            <a:r>
              <a:rPr b="1" i="0" lang="en-US" sz="1803" u="none" cap="none" strike="noStrike">
                <a:solidFill>
                  <a:srgbClr val="E4081C"/>
                </a:solidFill>
                <a:latin typeface="Calibri"/>
                <a:ea typeface="Calibri"/>
                <a:cs typeface="Calibri"/>
                <a:sym typeface="Calibri"/>
              </a:rPr>
              <a:t>Aquí vas a redactar las respuestas a las preguntas ¿Cómo lograr la acción establecida en el recuadro anterior (-por medio de- o –a través de- o –con base en-) y ¿para qué? lograr la acción previamente establecida (-con la finalidad de- o –para que-)</a:t>
            </a:r>
            <a:endParaRPr/>
          </a:p>
          <a:p>
            <a:pPr indent="0" lvl="0" marL="0" marR="0" rtl="0" algn="l">
              <a:lnSpc>
                <a:spcPct val="139767"/>
              </a:lnSpc>
              <a:spcBef>
                <a:spcPts val="0"/>
              </a:spcBef>
              <a:spcAft>
                <a:spcPts val="0"/>
              </a:spcAft>
              <a:buNone/>
            </a:pPr>
            <a:r>
              <a:t/>
            </a:r>
            <a:endParaRPr b="1" i="0" sz="1803" u="none" cap="none" strike="noStrike">
              <a:solidFill>
                <a:srgbClr val="E4081C"/>
              </a:solidFill>
              <a:latin typeface="Calibri"/>
              <a:ea typeface="Calibri"/>
              <a:cs typeface="Calibri"/>
              <a:sym typeface="Calibri"/>
            </a:endParaRPr>
          </a:p>
        </p:txBody>
      </p:sp>
      <p:sp>
        <p:nvSpPr>
          <p:cNvPr id="131" name="Google Shape;131;p5"/>
          <p:cNvSpPr txBox="1"/>
          <p:nvPr/>
        </p:nvSpPr>
        <p:spPr>
          <a:xfrm>
            <a:off x="2123122" y="6400695"/>
            <a:ext cx="958334" cy="35170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404040"/>
                </a:solidFill>
                <a:latin typeface="Calibri"/>
                <a:ea typeface="Calibri"/>
                <a:cs typeface="Calibri"/>
                <a:sym typeface="Calibri"/>
              </a:rPr>
              <a:t>AFECTIVO</a:t>
            </a:r>
            <a:endParaRPr/>
          </a:p>
        </p:txBody>
      </p:sp>
      <p:sp>
        <p:nvSpPr>
          <p:cNvPr id="132" name="Google Shape;132;p5"/>
          <p:cNvSpPr txBox="1"/>
          <p:nvPr/>
        </p:nvSpPr>
        <p:spPr>
          <a:xfrm>
            <a:off x="2123122" y="3981350"/>
            <a:ext cx="1390917" cy="35170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404040"/>
                </a:solidFill>
                <a:latin typeface="Calibri"/>
                <a:ea typeface="Calibri"/>
                <a:cs typeface="Calibri"/>
                <a:sym typeface="Calibri"/>
              </a:rPr>
              <a:t>El Participante</a:t>
            </a:r>
            <a:endParaRPr/>
          </a:p>
        </p:txBody>
      </p:sp>
      <p:sp>
        <p:nvSpPr>
          <p:cNvPr id="133" name="Google Shape;133;p5"/>
          <p:cNvSpPr txBox="1"/>
          <p:nvPr/>
        </p:nvSpPr>
        <p:spPr>
          <a:xfrm>
            <a:off x="2123122" y="9160569"/>
            <a:ext cx="2005751" cy="35170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404040"/>
                </a:solidFill>
                <a:latin typeface="Calibri"/>
                <a:ea typeface="Calibri"/>
                <a:cs typeface="Calibri"/>
                <a:sym typeface="Calibri"/>
              </a:rPr>
              <a:t>RELACIONAL/SOCIAL</a:t>
            </a:r>
            <a:endParaRPr/>
          </a:p>
        </p:txBody>
      </p:sp>
      <p:sp>
        <p:nvSpPr>
          <p:cNvPr id="134" name="Google Shape;134;p5"/>
          <p:cNvSpPr txBox="1"/>
          <p:nvPr/>
        </p:nvSpPr>
        <p:spPr>
          <a:xfrm>
            <a:off x="4509131" y="6083359"/>
            <a:ext cx="2464008" cy="16022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E4081C"/>
                </a:solidFill>
                <a:latin typeface="Calibri"/>
                <a:ea typeface="Calibri"/>
                <a:cs typeface="Calibri"/>
                <a:sym typeface="Calibri"/>
              </a:rPr>
              <a:t>¿Cuándo y Qué acción va a realizar? (verbo) más el objeto sobre el que recae la acción.</a:t>
            </a:r>
            <a:endParaRPr/>
          </a:p>
          <a:p>
            <a:pPr indent="0" lvl="0" marL="0" marR="0" rtl="0" algn="l">
              <a:lnSpc>
                <a:spcPct val="140000"/>
              </a:lnSpc>
              <a:spcBef>
                <a:spcPts val="0"/>
              </a:spcBef>
              <a:spcAft>
                <a:spcPts val="0"/>
              </a:spcAft>
              <a:buNone/>
            </a:pPr>
            <a:r>
              <a:t/>
            </a:r>
            <a:endParaRPr b="1" i="0" sz="1800" u="none" cap="none" strike="noStrike">
              <a:solidFill>
                <a:srgbClr val="E4081C"/>
              </a:solidFill>
              <a:latin typeface="Calibri"/>
              <a:ea typeface="Calibri"/>
              <a:cs typeface="Calibri"/>
              <a:sym typeface="Calibri"/>
            </a:endParaRPr>
          </a:p>
        </p:txBody>
      </p:sp>
      <p:sp>
        <p:nvSpPr>
          <p:cNvPr id="135" name="Google Shape;135;p5"/>
          <p:cNvSpPr txBox="1"/>
          <p:nvPr/>
        </p:nvSpPr>
        <p:spPr>
          <a:xfrm>
            <a:off x="427492" y="98578"/>
            <a:ext cx="191665" cy="5025593"/>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en-US" sz="3153" u="none" cap="none" strike="noStrike">
                <a:solidFill>
                  <a:srgbClr val="000000"/>
                </a:solidFill>
                <a:latin typeface="Calibri"/>
                <a:ea typeface="Calibri"/>
                <a:cs typeface="Calibri"/>
                <a:sym typeface="Calibri"/>
              </a:rPr>
              <a:t>Objetivos </a:t>
            </a:r>
            <a:endParaRPr/>
          </a:p>
        </p:txBody>
      </p:sp>
      <p:sp>
        <p:nvSpPr>
          <p:cNvPr id="136" name="Google Shape;136;p5"/>
          <p:cNvSpPr txBox="1"/>
          <p:nvPr/>
        </p:nvSpPr>
        <p:spPr>
          <a:xfrm>
            <a:off x="1114425" y="1098247"/>
            <a:ext cx="199200" cy="79605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lang="en-US" sz="3153">
                <a:latin typeface="Calibri"/>
                <a:ea typeface="Calibri"/>
                <a:cs typeface="Calibri"/>
                <a:sym typeface="Calibri"/>
              </a:rPr>
              <a:t>particulares</a:t>
            </a:r>
            <a:endParaRPr/>
          </a:p>
        </p:txBody>
      </p:sp>
      <p:sp>
        <p:nvSpPr>
          <p:cNvPr id="137" name="Google Shape;137;p5"/>
          <p:cNvSpPr txBox="1"/>
          <p:nvPr/>
        </p:nvSpPr>
        <p:spPr>
          <a:xfrm>
            <a:off x="2227893" y="238980"/>
            <a:ext cx="1391002" cy="512164"/>
          </a:xfrm>
          <a:prstGeom prst="rect">
            <a:avLst/>
          </a:prstGeom>
          <a:noFill/>
          <a:ln>
            <a:noFill/>
          </a:ln>
        </p:spPr>
        <p:txBody>
          <a:bodyPr anchorCtr="0" anchor="t" bIns="0" lIns="0" spcFirstLastPara="1" rIns="0" wrap="square" tIns="0">
            <a:spAutoFit/>
          </a:bodyPr>
          <a:lstStyle/>
          <a:p>
            <a:pPr indent="0" lvl="0" marL="0" marR="0" rtl="0" algn="l">
              <a:lnSpc>
                <a:spcPct val="237493"/>
              </a:lnSpc>
              <a:spcBef>
                <a:spcPts val="0"/>
              </a:spcBef>
              <a:spcAft>
                <a:spcPts val="0"/>
              </a:spcAft>
              <a:buNone/>
            </a:pPr>
            <a:r>
              <a:rPr b="1" i="0" lang="en-US" sz="1803" u="none" cap="none" strike="noStrike">
                <a:solidFill>
                  <a:srgbClr val="E4081C"/>
                </a:solidFill>
                <a:latin typeface="Calibri"/>
                <a:ea typeface="Calibri"/>
                <a:cs typeface="Calibri"/>
                <a:sym typeface="Calibri"/>
              </a:rPr>
              <a:t>Sujeto</a:t>
            </a:r>
            <a:endParaRPr/>
          </a:p>
        </p:txBody>
      </p:sp>
      <p:sp>
        <p:nvSpPr>
          <p:cNvPr id="138" name="Google Shape;138;p5"/>
          <p:cNvSpPr txBox="1"/>
          <p:nvPr/>
        </p:nvSpPr>
        <p:spPr>
          <a:xfrm>
            <a:off x="4509131" y="238980"/>
            <a:ext cx="2700430" cy="512164"/>
          </a:xfrm>
          <a:prstGeom prst="rect">
            <a:avLst/>
          </a:prstGeom>
          <a:noFill/>
          <a:ln>
            <a:noFill/>
          </a:ln>
        </p:spPr>
        <p:txBody>
          <a:bodyPr anchorCtr="0" anchor="t" bIns="0" lIns="0" spcFirstLastPara="1" rIns="0" wrap="square" tIns="0">
            <a:spAutoFit/>
          </a:bodyPr>
          <a:lstStyle/>
          <a:p>
            <a:pPr indent="0" lvl="0" marL="0" marR="0" rtl="0" algn="l">
              <a:lnSpc>
                <a:spcPct val="237493"/>
              </a:lnSpc>
              <a:spcBef>
                <a:spcPts val="0"/>
              </a:spcBef>
              <a:spcAft>
                <a:spcPts val="0"/>
              </a:spcAft>
              <a:buNone/>
            </a:pPr>
            <a:r>
              <a:rPr b="1" i="0" lang="en-US" sz="1803" u="none" cap="none" strike="noStrike">
                <a:solidFill>
                  <a:srgbClr val="E4081C"/>
                </a:solidFill>
                <a:latin typeface="Calibri"/>
                <a:ea typeface="Calibri"/>
                <a:cs typeface="Calibri"/>
                <a:sym typeface="Calibri"/>
              </a:rPr>
              <a:t>Acción o comportamiento</a:t>
            </a:r>
            <a:endParaRPr/>
          </a:p>
        </p:txBody>
      </p:sp>
      <p:sp>
        <p:nvSpPr>
          <p:cNvPr id="139" name="Google Shape;139;p5"/>
          <p:cNvSpPr txBox="1"/>
          <p:nvPr/>
        </p:nvSpPr>
        <p:spPr>
          <a:xfrm>
            <a:off x="8076306" y="238980"/>
            <a:ext cx="2700430" cy="512164"/>
          </a:xfrm>
          <a:prstGeom prst="rect">
            <a:avLst/>
          </a:prstGeom>
          <a:noFill/>
          <a:ln>
            <a:noFill/>
          </a:ln>
        </p:spPr>
        <p:txBody>
          <a:bodyPr anchorCtr="0" anchor="t" bIns="0" lIns="0" spcFirstLastPara="1" rIns="0" wrap="square" tIns="0">
            <a:spAutoFit/>
          </a:bodyPr>
          <a:lstStyle/>
          <a:p>
            <a:pPr indent="0" lvl="0" marL="0" marR="0" rtl="0" algn="l">
              <a:lnSpc>
                <a:spcPct val="237493"/>
              </a:lnSpc>
              <a:spcBef>
                <a:spcPts val="0"/>
              </a:spcBef>
              <a:spcAft>
                <a:spcPts val="0"/>
              </a:spcAft>
              <a:buNone/>
            </a:pPr>
            <a:r>
              <a:rPr b="1" i="0" lang="en-US" sz="1803" u="none" cap="none" strike="noStrike">
                <a:solidFill>
                  <a:srgbClr val="E4081C"/>
                </a:solidFill>
                <a:latin typeface="Calibri"/>
                <a:ea typeface="Calibri"/>
                <a:cs typeface="Calibri"/>
                <a:sym typeface="Calibri"/>
              </a:rPr>
              <a:t>Condición de operación</a:t>
            </a:r>
            <a:endParaRPr/>
          </a:p>
        </p:txBody>
      </p:sp>
      <p:sp>
        <p:nvSpPr>
          <p:cNvPr id="140" name="Google Shape;140;p5"/>
          <p:cNvSpPr txBox="1"/>
          <p:nvPr/>
        </p:nvSpPr>
        <p:spPr>
          <a:xfrm>
            <a:off x="13909221" y="201658"/>
            <a:ext cx="2700430" cy="512164"/>
          </a:xfrm>
          <a:prstGeom prst="rect">
            <a:avLst/>
          </a:prstGeom>
          <a:noFill/>
          <a:ln>
            <a:noFill/>
          </a:ln>
        </p:spPr>
        <p:txBody>
          <a:bodyPr anchorCtr="0" anchor="t" bIns="0" lIns="0" spcFirstLastPara="1" rIns="0" wrap="square" tIns="0">
            <a:spAutoFit/>
          </a:bodyPr>
          <a:lstStyle/>
          <a:p>
            <a:pPr indent="0" lvl="0" marL="0" marR="0" rtl="0" algn="l">
              <a:lnSpc>
                <a:spcPct val="237493"/>
              </a:lnSpc>
              <a:spcBef>
                <a:spcPts val="0"/>
              </a:spcBef>
              <a:spcAft>
                <a:spcPts val="0"/>
              </a:spcAft>
              <a:buNone/>
            </a:pPr>
            <a:r>
              <a:rPr b="1" i="0" lang="en-US" sz="1803" u="none" cap="none" strike="noStrike">
                <a:solidFill>
                  <a:srgbClr val="E4081C"/>
                </a:solidFill>
                <a:latin typeface="Calibri"/>
                <a:ea typeface="Calibri"/>
                <a:cs typeface="Calibri"/>
                <a:sym typeface="Calibri"/>
              </a:rPr>
              <a:t>Temas</a:t>
            </a:r>
            <a:endParaRPr/>
          </a:p>
        </p:txBody>
      </p:sp>
      <p:sp>
        <p:nvSpPr>
          <p:cNvPr id="141" name="Google Shape;141;p5"/>
          <p:cNvSpPr txBox="1"/>
          <p:nvPr/>
        </p:nvSpPr>
        <p:spPr>
          <a:xfrm>
            <a:off x="4529352" y="8976049"/>
            <a:ext cx="2464008" cy="16022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E4081C"/>
                </a:solidFill>
                <a:latin typeface="Calibri"/>
                <a:ea typeface="Calibri"/>
                <a:cs typeface="Calibri"/>
                <a:sym typeface="Calibri"/>
              </a:rPr>
              <a:t>¿Cuándo y Qué acción va a realizar? (verbo) más el objeto sobre el que recae la acción.</a:t>
            </a:r>
            <a:endParaRPr/>
          </a:p>
          <a:p>
            <a:pPr indent="0" lvl="0" marL="0" marR="0" rtl="0" algn="l">
              <a:lnSpc>
                <a:spcPct val="140000"/>
              </a:lnSpc>
              <a:spcBef>
                <a:spcPts val="0"/>
              </a:spcBef>
              <a:spcAft>
                <a:spcPts val="0"/>
              </a:spcAft>
              <a:buNone/>
            </a:pPr>
            <a:r>
              <a:t/>
            </a:r>
            <a:endParaRPr b="1" i="0" sz="1800" u="none" cap="none" strike="noStrike">
              <a:solidFill>
                <a:srgbClr val="E4081C"/>
              </a:solidFill>
              <a:latin typeface="Calibri"/>
              <a:ea typeface="Calibri"/>
              <a:cs typeface="Calibri"/>
              <a:sym typeface="Calibri"/>
            </a:endParaRPr>
          </a:p>
        </p:txBody>
      </p:sp>
      <p:sp>
        <p:nvSpPr>
          <p:cNvPr id="142" name="Google Shape;142;p5"/>
          <p:cNvSpPr txBox="1"/>
          <p:nvPr/>
        </p:nvSpPr>
        <p:spPr>
          <a:xfrm>
            <a:off x="7639626" y="3300139"/>
            <a:ext cx="4507721" cy="1931486"/>
          </a:xfrm>
          <a:prstGeom prst="rect">
            <a:avLst/>
          </a:prstGeom>
          <a:noFill/>
          <a:ln>
            <a:noFill/>
          </a:ln>
        </p:spPr>
        <p:txBody>
          <a:bodyPr anchorCtr="0" anchor="t" bIns="0" lIns="0" spcFirstLastPara="1" rIns="0" wrap="square" tIns="0">
            <a:spAutoFit/>
          </a:bodyPr>
          <a:lstStyle/>
          <a:p>
            <a:pPr indent="0" lvl="0" marL="0" marR="0" rtl="0" algn="l">
              <a:lnSpc>
                <a:spcPct val="118746"/>
              </a:lnSpc>
              <a:spcBef>
                <a:spcPts val="0"/>
              </a:spcBef>
              <a:spcAft>
                <a:spcPts val="0"/>
              </a:spcAft>
              <a:buNone/>
            </a:pPr>
            <a:r>
              <a:rPr b="1" i="0" lang="en-US" sz="1803" u="none" cap="none" strike="noStrike">
                <a:solidFill>
                  <a:srgbClr val="E4081C"/>
                </a:solidFill>
                <a:latin typeface="Calibri"/>
                <a:ea typeface="Calibri"/>
                <a:cs typeface="Calibri"/>
                <a:sym typeface="Calibri"/>
              </a:rPr>
              <a:t>Aquí vas a redactar las respuestas a las preguntas ¿Cómo lograr la acción establecida en el recuadro anterior (-por medio de- o –a través de- o –con base en-) y ¿para qué? lograr la acción previamente establecida (-con la finalidad de- o –para que-)</a:t>
            </a:r>
            <a:endParaRPr/>
          </a:p>
          <a:p>
            <a:pPr indent="0" lvl="0" marL="0" marR="0" rtl="0" algn="l">
              <a:lnSpc>
                <a:spcPct val="139767"/>
              </a:lnSpc>
              <a:spcBef>
                <a:spcPts val="0"/>
              </a:spcBef>
              <a:spcAft>
                <a:spcPts val="0"/>
              </a:spcAft>
              <a:buNone/>
            </a:pPr>
            <a:r>
              <a:t/>
            </a:r>
            <a:endParaRPr b="1" i="0" sz="1803" u="none" cap="none" strike="noStrike">
              <a:solidFill>
                <a:srgbClr val="E4081C"/>
              </a:solidFill>
              <a:latin typeface="Calibri"/>
              <a:ea typeface="Calibri"/>
              <a:cs typeface="Calibri"/>
              <a:sym typeface="Calibri"/>
            </a:endParaRPr>
          </a:p>
        </p:txBody>
      </p:sp>
      <p:sp>
        <p:nvSpPr>
          <p:cNvPr id="143" name="Google Shape;143;p5"/>
          <p:cNvSpPr txBox="1"/>
          <p:nvPr/>
        </p:nvSpPr>
        <p:spPr>
          <a:xfrm>
            <a:off x="7639626" y="5937801"/>
            <a:ext cx="4507721" cy="1931486"/>
          </a:xfrm>
          <a:prstGeom prst="rect">
            <a:avLst/>
          </a:prstGeom>
          <a:noFill/>
          <a:ln>
            <a:noFill/>
          </a:ln>
        </p:spPr>
        <p:txBody>
          <a:bodyPr anchorCtr="0" anchor="t" bIns="0" lIns="0" spcFirstLastPara="1" rIns="0" wrap="square" tIns="0">
            <a:spAutoFit/>
          </a:bodyPr>
          <a:lstStyle/>
          <a:p>
            <a:pPr indent="0" lvl="0" marL="0" marR="0" rtl="0" algn="l">
              <a:lnSpc>
                <a:spcPct val="118746"/>
              </a:lnSpc>
              <a:spcBef>
                <a:spcPts val="0"/>
              </a:spcBef>
              <a:spcAft>
                <a:spcPts val="0"/>
              </a:spcAft>
              <a:buNone/>
            </a:pPr>
            <a:r>
              <a:rPr b="1" i="0" lang="en-US" sz="1803" u="none" cap="none" strike="noStrike">
                <a:solidFill>
                  <a:srgbClr val="E4081C"/>
                </a:solidFill>
                <a:latin typeface="Calibri"/>
                <a:ea typeface="Calibri"/>
                <a:cs typeface="Calibri"/>
                <a:sym typeface="Calibri"/>
              </a:rPr>
              <a:t>Aquí vas a redactar las respuestas a las preguntas ¿Cómo lograr la acción establecida en el recuadro anterior (-por medio de- o –a través de- o –con base en-) y ¿para qué? lograr la acción previamente establecida (-con la finalidad de- o –para que-)</a:t>
            </a:r>
            <a:endParaRPr/>
          </a:p>
          <a:p>
            <a:pPr indent="0" lvl="0" marL="0" marR="0" rtl="0" algn="l">
              <a:lnSpc>
                <a:spcPct val="139767"/>
              </a:lnSpc>
              <a:spcBef>
                <a:spcPts val="0"/>
              </a:spcBef>
              <a:spcAft>
                <a:spcPts val="0"/>
              </a:spcAft>
              <a:buNone/>
            </a:pPr>
            <a:r>
              <a:t/>
            </a:r>
            <a:endParaRPr b="1" i="0" sz="1803" u="none" cap="none" strike="noStrike">
              <a:solidFill>
                <a:srgbClr val="E4081C"/>
              </a:solidFill>
              <a:latin typeface="Calibri"/>
              <a:ea typeface="Calibri"/>
              <a:cs typeface="Calibri"/>
              <a:sym typeface="Calibri"/>
            </a:endParaRPr>
          </a:p>
        </p:txBody>
      </p:sp>
      <p:sp>
        <p:nvSpPr>
          <p:cNvPr id="144" name="Google Shape;144;p5"/>
          <p:cNvSpPr txBox="1"/>
          <p:nvPr/>
        </p:nvSpPr>
        <p:spPr>
          <a:xfrm>
            <a:off x="7639626" y="9014149"/>
            <a:ext cx="4507721" cy="1931486"/>
          </a:xfrm>
          <a:prstGeom prst="rect">
            <a:avLst/>
          </a:prstGeom>
          <a:noFill/>
          <a:ln>
            <a:noFill/>
          </a:ln>
        </p:spPr>
        <p:txBody>
          <a:bodyPr anchorCtr="0" anchor="t" bIns="0" lIns="0" spcFirstLastPara="1" rIns="0" wrap="square" tIns="0">
            <a:spAutoFit/>
          </a:bodyPr>
          <a:lstStyle/>
          <a:p>
            <a:pPr indent="0" lvl="0" marL="0" marR="0" rtl="0" algn="l">
              <a:lnSpc>
                <a:spcPct val="118746"/>
              </a:lnSpc>
              <a:spcBef>
                <a:spcPts val="0"/>
              </a:spcBef>
              <a:spcAft>
                <a:spcPts val="0"/>
              </a:spcAft>
              <a:buNone/>
            </a:pPr>
            <a:r>
              <a:rPr b="1" i="0" lang="en-US" sz="1803" u="none" cap="none" strike="noStrike">
                <a:solidFill>
                  <a:srgbClr val="E4081C"/>
                </a:solidFill>
                <a:latin typeface="Calibri"/>
                <a:ea typeface="Calibri"/>
                <a:cs typeface="Calibri"/>
                <a:sym typeface="Calibri"/>
              </a:rPr>
              <a:t>Aquí vas a redactar las respuestas a las preguntas ¿Cómo lograr la acción establecida en el recuadro anterior (-por medio de- o –a través de- o –con base en-) y ¿para qué? lograr la acción previamente establecida (-con la finalidad de- o –para que-)</a:t>
            </a:r>
            <a:endParaRPr/>
          </a:p>
          <a:p>
            <a:pPr indent="0" lvl="0" marL="0" marR="0" rtl="0" algn="l">
              <a:lnSpc>
                <a:spcPct val="139767"/>
              </a:lnSpc>
              <a:spcBef>
                <a:spcPts val="0"/>
              </a:spcBef>
              <a:spcAft>
                <a:spcPts val="0"/>
              </a:spcAft>
              <a:buNone/>
            </a:pPr>
            <a:r>
              <a:t/>
            </a:r>
            <a:endParaRPr b="1" i="0" sz="1803" u="none" cap="none" strike="noStrike">
              <a:solidFill>
                <a:srgbClr val="E4081C"/>
              </a:solidFill>
              <a:latin typeface="Calibri"/>
              <a:ea typeface="Calibri"/>
              <a:cs typeface="Calibri"/>
              <a:sym typeface="Calibri"/>
            </a:endParaRPr>
          </a:p>
        </p:txBody>
      </p:sp>
      <p:sp>
        <p:nvSpPr>
          <p:cNvPr id="145" name="Google Shape;145;p5"/>
          <p:cNvSpPr txBox="1"/>
          <p:nvPr/>
        </p:nvSpPr>
        <p:spPr>
          <a:xfrm>
            <a:off x="12958389" y="1176958"/>
            <a:ext cx="4602093" cy="1238056"/>
          </a:xfrm>
          <a:prstGeom prst="rect">
            <a:avLst/>
          </a:prstGeom>
          <a:noFill/>
          <a:ln>
            <a:noFill/>
          </a:ln>
        </p:spPr>
        <p:txBody>
          <a:bodyPr anchorCtr="0" anchor="t" bIns="0" lIns="0" spcFirstLastPara="1" rIns="0" wrap="square" tIns="0">
            <a:spAutoFit/>
          </a:bodyPr>
          <a:lstStyle/>
          <a:p>
            <a:pPr indent="0" lvl="0" marL="0" marR="0" rtl="0" algn="ctr">
              <a:lnSpc>
                <a:spcPct val="140035"/>
              </a:lnSpc>
              <a:spcBef>
                <a:spcPts val="0"/>
              </a:spcBef>
              <a:spcAft>
                <a:spcPts val="0"/>
              </a:spcAft>
              <a:buNone/>
            </a:pPr>
            <a:r>
              <a:rPr b="0" i="0" lang="en-US" sz="2253" u="none" cap="none" strike="noStrike">
                <a:solidFill>
                  <a:srgbClr val="E4081C"/>
                </a:solidFill>
                <a:latin typeface="Calibri"/>
                <a:ea typeface="Calibri"/>
                <a:cs typeface="Calibri"/>
                <a:sym typeface="Calibri"/>
              </a:rPr>
              <a:t>Mencionar   los temas relacionados con el cumplimiento del objetivo particular No. 1</a:t>
            </a:r>
            <a:endParaRPr/>
          </a:p>
        </p:txBody>
      </p:sp>
      <p:sp>
        <p:nvSpPr>
          <p:cNvPr id="146" name="Google Shape;146;p5"/>
          <p:cNvSpPr txBox="1"/>
          <p:nvPr/>
        </p:nvSpPr>
        <p:spPr>
          <a:xfrm>
            <a:off x="13042697" y="3528650"/>
            <a:ext cx="4602093" cy="1238056"/>
          </a:xfrm>
          <a:prstGeom prst="rect">
            <a:avLst/>
          </a:prstGeom>
          <a:noFill/>
          <a:ln>
            <a:noFill/>
          </a:ln>
        </p:spPr>
        <p:txBody>
          <a:bodyPr anchorCtr="0" anchor="t" bIns="0" lIns="0" spcFirstLastPara="1" rIns="0" wrap="square" tIns="0">
            <a:spAutoFit/>
          </a:bodyPr>
          <a:lstStyle/>
          <a:p>
            <a:pPr indent="0" lvl="0" marL="0" marR="0" rtl="0" algn="ctr">
              <a:lnSpc>
                <a:spcPct val="140035"/>
              </a:lnSpc>
              <a:spcBef>
                <a:spcPts val="0"/>
              </a:spcBef>
              <a:spcAft>
                <a:spcPts val="0"/>
              </a:spcAft>
              <a:buNone/>
            </a:pPr>
            <a:r>
              <a:rPr b="0" i="0" lang="en-US" sz="2253" u="none" cap="none" strike="noStrike">
                <a:solidFill>
                  <a:srgbClr val="E4081C"/>
                </a:solidFill>
                <a:latin typeface="Calibri"/>
                <a:ea typeface="Calibri"/>
                <a:cs typeface="Calibri"/>
                <a:sym typeface="Calibri"/>
              </a:rPr>
              <a:t>Mencionar   los temas relacionados con el cumplimiento del objetivo particular No. 2</a:t>
            </a:r>
            <a:endParaRPr/>
          </a:p>
        </p:txBody>
      </p:sp>
      <p:sp>
        <p:nvSpPr>
          <p:cNvPr id="147" name="Google Shape;147;p5"/>
          <p:cNvSpPr txBox="1"/>
          <p:nvPr/>
        </p:nvSpPr>
        <p:spPr>
          <a:xfrm>
            <a:off x="12958389" y="6085748"/>
            <a:ext cx="4602093" cy="1238056"/>
          </a:xfrm>
          <a:prstGeom prst="rect">
            <a:avLst/>
          </a:prstGeom>
          <a:noFill/>
          <a:ln>
            <a:noFill/>
          </a:ln>
        </p:spPr>
        <p:txBody>
          <a:bodyPr anchorCtr="0" anchor="t" bIns="0" lIns="0" spcFirstLastPara="1" rIns="0" wrap="square" tIns="0">
            <a:spAutoFit/>
          </a:bodyPr>
          <a:lstStyle/>
          <a:p>
            <a:pPr indent="0" lvl="0" marL="0" marR="0" rtl="0" algn="ctr">
              <a:lnSpc>
                <a:spcPct val="140035"/>
              </a:lnSpc>
              <a:spcBef>
                <a:spcPts val="0"/>
              </a:spcBef>
              <a:spcAft>
                <a:spcPts val="0"/>
              </a:spcAft>
              <a:buNone/>
            </a:pPr>
            <a:r>
              <a:rPr b="0" i="0" lang="en-US" sz="2253" u="none" cap="none" strike="noStrike">
                <a:solidFill>
                  <a:srgbClr val="E4081C"/>
                </a:solidFill>
                <a:latin typeface="Calibri"/>
                <a:ea typeface="Calibri"/>
                <a:cs typeface="Calibri"/>
                <a:sym typeface="Calibri"/>
              </a:rPr>
              <a:t>Mencionar   los temas relacionados con el cumplimiento del objetivo particular No. 3</a:t>
            </a:r>
            <a:endParaRPr/>
          </a:p>
        </p:txBody>
      </p:sp>
      <p:sp>
        <p:nvSpPr>
          <p:cNvPr id="148" name="Google Shape;148;p5"/>
          <p:cNvSpPr txBox="1"/>
          <p:nvPr/>
        </p:nvSpPr>
        <p:spPr>
          <a:xfrm>
            <a:off x="12795047" y="8979160"/>
            <a:ext cx="4602093" cy="1238056"/>
          </a:xfrm>
          <a:prstGeom prst="rect">
            <a:avLst/>
          </a:prstGeom>
          <a:noFill/>
          <a:ln>
            <a:noFill/>
          </a:ln>
        </p:spPr>
        <p:txBody>
          <a:bodyPr anchorCtr="0" anchor="t" bIns="0" lIns="0" spcFirstLastPara="1" rIns="0" wrap="square" tIns="0">
            <a:spAutoFit/>
          </a:bodyPr>
          <a:lstStyle/>
          <a:p>
            <a:pPr indent="0" lvl="0" marL="0" marR="0" rtl="0" algn="ctr">
              <a:lnSpc>
                <a:spcPct val="140035"/>
              </a:lnSpc>
              <a:spcBef>
                <a:spcPts val="0"/>
              </a:spcBef>
              <a:spcAft>
                <a:spcPts val="0"/>
              </a:spcAft>
              <a:buNone/>
            </a:pPr>
            <a:r>
              <a:rPr b="0" i="0" lang="en-US" sz="2253" u="none" cap="none" strike="noStrike">
                <a:solidFill>
                  <a:srgbClr val="E4081C"/>
                </a:solidFill>
                <a:latin typeface="Calibri"/>
                <a:ea typeface="Calibri"/>
                <a:cs typeface="Calibri"/>
                <a:sym typeface="Calibri"/>
              </a:rPr>
              <a:t>Mencionar   los temas relacionados con el cumplimiento del objetivo particular No. 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6"/>
          <p:cNvSpPr/>
          <p:nvPr/>
        </p:nvSpPr>
        <p:spPr>
          <a:xfrm>
            <a:off x="-95255" y="-95255"/>
            <a:ext cx="17466469" cy="10477495"/>
          </a:xfrm>
          <a:custGeom>
            <a:rect b="b" l="l" r="r" t="t"/>
            <a:pathLst>
              <a:path extrusionOk="0" h="10477495" w="17466469">
                <a:moveTo>
                  <a:pt x="0" y="0"/>
                </a:moveTo>
                <a:lnTo>
                  <a:pt x="17466469" y="0"/>
                </a:lnTo>
                <a:lnTo>
                  <a:pt x="17466469" y="10477495"/>
                </a:lnTo>
                <a:lnTo>
                  <a:pt x="0" y="10477495"/>
                </a:lnTo>
                <a:lnTo>
                  <a:pt x="0" y="0"/>
                </a:lnTo>
                <a:close/>
              </a:path>
            </a:pathLst>
          </a:custGeom>
          <a:blipFill rotWithShape="1">
            <a:blip r:embed="rId3">
              <a:alphaModFix/>
            </a:blip>
            <a:stretch>
              <a:fillRect b="0" l="0" r="0" t="0"/>
            </a:stretch>
          </a:blipFill>
          <a:ln>
            <a:noFill/>
          </a:ln>
        </p:spPr>
      </p:sp>
      <p:sp>
        <p:nvSpPr>
          <p:cNvPr id="154" name="Google Shape;154;p6"/>
          <p:cNvSpPr txBox="1"/>
          <p:nvPr/>
        </p:nvSpPr>
        <p:spPr>
          <a:xfrm>
            <a:off x="940589" y="3568541"/>
            <a:ext cx="2514943" cy="1161407"/>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5969" u="none" cap="none" strike="noStrike">
                <a:solidFill>
                  <a:srgbClr val="FFFFFF"/>
                </a:solidFill>
                <a:latin typeface="Calibri"/>
                <a:ea typeface="Calibri"/>
                <a:cs typeface="Calibri"/>
                <a:sym typeface="Calibri"/>
              </a:rPr>
              <a:t>Temario</a:t>
            </a:r>
            <a:endParaRPr/>
          </a:p>
        </p:txBody>
      </p:sp>
      <p:sp>
        <p:nvSpPr>
          <p:cNvPr id="155" name="Google Shape;155;p6"/>
          <p:cNvSpPr txBox="1"/>
          <p:nvPr/>
        </p:nvSpPr>
        <p:spPr>
          <a:xfrm>
            <a:off x="7595235" y="833866"/>
            <a:ext cx="6639301" cy="524853"/>
          </a:xfrm>
          <a:prstGeom prst="rect">
            <a:avLst/>
          </a:prstGeom>
          <a:noFill/>
          <a:ln>
            <a:noFill/>
          </a:ln>
        </p:spPr>
        <p:txBody>
          <a:bodyPr anchorCtr="0" anchor="t" bIns="0" lIns="0" spcFirstLastPara="1" rIns="0" wrap="square" tIns="0">
            <a:spAutoFit/>
          </a:bodyPr>
          <a:lstStyle/>
          <a:p>
            <a:pPr indent="0" lvl="0" marL="0" marR="0" rtl="0" algn="l">
              <a:lnSpc>
                <a:spcPct val="225523"/>
              </a:lnSpc>
              <a:spcBef>
                <a:spcPts val="0"/>
              </a:spcBef>
              <a:spcAft>
                <a:spcPts val="0"/>
              </a:spcAft>
              <a:buNone/>
            </a:pPr>
            <a:r>
              <a:rPr b="0" i="0" lang="en-US" sz="1912" u="none" cap="none" strike="noStrike">
                <a:solidFill>
                  <a:srgbClr val="000000"/>
                </a:solidFill>
                <a:latin typeface="Calibri"/>
                <a:ea typeface="Calibri"/>
                <a:cs typeface="Calibri"/>
                <a:sym typeface="Calibri"/>
              </a:rPr>
              <a:t>Presentación, Descripción, Objetivos general y específicos del curso.</a:t>
            </a:r>
            <a:endParaRPr/>
          </a:p>
        </p:txBody>
      </p:sp>
      <p:sp>
        <p:nvSpPr>
          <p:cNvPr id="156" name="Google Shape;156;p6"/>
          <p:cNvSpPr txBox="1"/>
          <p:nvPr/>
        </p:nvSpPr>
        <p:spPr>
          <a:xfrm>
            <a:off x="7650485" y="1381549"/>
            <a:ext cx="4106159" cy="2153777"/>
          </a:xfrm>
          <a:prstGeom prst="rect">
            <a:avLst/>
          </a:prstGeom>
          <a:noFill/>
          <a:ln>
            <a:noFill/>
          </a:ln>
        </p:spPr>
        <p:txBody>
          <a:bodyPr anchorCtr="0" anchor="t" bIns="0" lIns="0" spcFirstLastPara="1" rIns="0" wrap="square" tIns="0">
            <a:spAutoFit/>
          </a:bodyPr>
          <a:lstStyle/>
          <a:p>
            <a:pPr indent="0" lvl="0" marL="0" marR="0" rtl="0" algn="l">
              <a:lnSpc>
                <a:spcPct val="225523"/>
              </a:lnSpc>
              <a:spcBef>
                <a:spcPts val="0"/>
              </a:spcBef>
              <a:spcAft>
                <a:spcPts val="0"/>
              </a:spcAft>
              <a:buNone/>
            </a:pPr>
            <a:r>
              <a:rPr b="0" i="0" lang="en-US" sz="1912" u="none" cap="none" strike="noStrike">
                <a:solidFill>
                  <a:srgbClr val="000000"/>
                </a:solidFill>
                <a:latin typeface="Calibri"/>
                <a:ea typeface="Calibri"/>
                <a:cs typeface="Calibri"/>
                <a:sym typeface="Calibri"/>
              </a:rPr>
              <a:t>Beneficios del Curso  </a:t>
            </a:r>
            <a:endParaRPr/>
          </a:p>
          <a:p>
            <a:pPr indent="0" lvl="0" marL="0" marR="0" rtl="0" algn="l">
              <a:lnSpc>
                <a:spcPct val="225523"/>
              </a:lnSpc>
              <a:spcBef>
                <a:spcPts val="0"/>
              </a:spcBef>
              <a:spcAft>
                <a:spcPts val="0"/>
              </a:spcAft>
              <a:buNone/>
            </a:pPr>
            <a:r>
              <a:rPr b="0" i="0" lang="en-US" sz="1912" u="none" cap="none" strike="noStrike">
                <a:solidFill>
                  <a:srgbClr val="000000"/>
                </a:solidFill>
                <a:latin typeface="Calibri"/>
                <a:ea typeface="Calibri"/>
                <a:cs typeface="Calibri"/>
                <a:sym typeface="Calibri"/>
              </a:rPr>
              <a:t>Tipos y momentos de evaluación Evaluación</a:t>
            </a:r>
            <a:r>
              <a:rPr b="0" i="0" lang="en-US" sz="1912" u="none" cap="none" strike="noStrike">
                <a:solidFill>
                  <a:srgbClr val="FFFFFF"/>
                </a:solidFill>
                <a:latin typeface="Calibri"/>
                <a:ea typeface="Calibri"/>
                <a:cs typeface="Calibri"/>
                <a:sym typeface="Calibri"/>
              </a:rPr>
              <a:t> </a:t>
            </a:r>
            <a:r>
              <a:rPr b="0" i="0" lang="en-US" sz="1912" u="none" cap="none" strike="noStrike">
                <a:solidFill>
                  <a:srgbClr val="000000"/>
                </a:solidFill>
                <a:latin typeface="Calibri"/>
                <a:ea typeface="Calibri"/>
                <a:cs typeface="Calibri"/>
                <a:sym typeface="Calibri"/>
              </a:rPr>
              <a:t>diagnóstica</a:t>
            </a:r>
            <a:endParaRPr/>
          </a:p>
          <a:p>
            <a:pPr indent="0" lvl="0" marL="0" marR="0" rtl="0" algn="l">
              <a:lnSpc>
                <a:spcPct val="225523"/>
              </a:lnSpc>
              <a:spcBef>
                <a:spcPts val="0"/>
              </a:spcBef>
              <a:spcAft>
                <a:spcPts val="0"/>
              </a:spcAft>
              <a:buNone/>
            </a:pPr>
            <a:r>
              <a:rPr b="0" i="0" lang="en-US" sz="1912" u="none" cap="none" strike="noStrike">
                <a:solidFill>
                  <a:srgbClr val="000000"/>
                </a:solidFill>
                <a:latin typeface="Calibri"/>
                <a:ea typeface="Calibri"/>
                <a:cs typeface="Calibri"/>
                <a:sym typeface="Calibri"/>
              </a:rPr>
              <a:t> Introducción</a:t>
            </a:r>
            <a:endParaRPr/>
          </a:p>
        </p:txBody>
      </p:sp>
      <p:sp>
        <p:nvSpPr>
          <p:cNvPr id="157" name="Google Shape;157;p6"/>
          <p:cNvSpPr txBox="1"/>
          <p:nvPr/>
        </p:nvSpPr>
        <p:spPr>
          <a:xfrm>
            <a:off x="7595235" y="3571280"/>
            <a:ext cx="2449549" cy="3782837"/>
          </a:xfrm>
          <a:prstGeom prst="rect">
            <a:avLst/>
          </a:prstGeom>
          <a:noFill/>
          <a:ln>
            <a:noFill/>
          </a:ln>
        </p:spPr>
        <p:txBody>
          <a:bodyPr anchorCtr="0" anchor="t" bIns="0" lIns="0" spcFirstLastPara="1" rIns="0" wrap="square" tIns="0">
            <a:spAutoFit/>
          </a:bodyPr>
          <a:lstStyle/>
          <a:p>
            <a:pPr indent="0" lvl="0" marL="0" marR="0" rtl="0" algn="l">
              <a:lnSpc>
                <a:spcPct val="225000"/>
              </a:lnSpc>
              <a:spcBef>
                <a:spcPts val="0"/>
              </a:spcBef>
              <a:spcAft>
                <a:spcPts val="0"/>
              </a:spcAft>
              <a:buNone/>
            </a:pPr>
            <a:r>
              <a:rPr b="0" i="0" lang="en-US" sz="1916" u="none" cap="none" strike="noStrike">
                <a:solidFill>
                  <a:srgbClr val="000000"/>
                </a:solidFill>
                <a:latin typeface="Calibri"/>
                <a:ea typeface="Calibri"/>
                <a:cs typeface="Calibri"/>
                <a:sym typeface="Calibri"/>
              </a:rPr>
              <a:t>Tema 1</a:t>
            </a:r>
            <a:endParaRPr/>
          </a:p>
          <a:p>
            <a:pPr indent="0" lvl="0" marL="0" marR="0" rtl="0" algn="l">
              <a:lnSpc>
                <a:spcPct val="225000"/>
              </a:lnSpc>
              <a:spcBef>
                <a:spcPts val="0"/>
              </a:spcBef>
              <a:spcAft>
                <a:spcPts val="0"/>
              </a:spcAft>
              <a:buNone/>
            </a:pPr>
            <a:r>
              <a:rPr b="0" i="0" lang="en-US" sz="1916" u="none" cap="none" strike="noStrike">
                <a:solidFill>
                  <a:srgbClr val="000000"/>
                </a:solidFill>
                <a:latin typeface="Calibri"/>
                <a:ea typeface="Calibri"/>
                <a:cs typeface="Calibri"/>
                <a:sym typeface="Calibri"/>
              </a:rPr>
              <a:t>Tema 1.1</a:t>
            </a:r>
            <a:endParaRPr/>
          </a:p>
          <a:p>
            <a:pPr indent="0" lvl="0" marL="0" marR="0" rtl="0" algn="l">
              <a:lnSpc>
                <a:spcPct val="225000"/>
              </a:lnSpc>
              <a:spcBef>
                <a:spcPts val="0"/>
              </a:spcBef>
              <a:spcAft>
                <a:spcPts val="0"/>
              </a:spcAft>
              <a:buNone/>
            </a:pPr>
            <a:r>
              <a:rPr b="0" i="0" lang="en-US" sz="1916" u="none" cap="none" strike="noStrike">
                <a:solidFill>
                  <a:srgbClr val="000000"/>
                </a:solidFill>
                <a:latin typeface="Calibri"/>
                <a:ea typeface="Calibri"/>
                <a:cs typeface="Calibri"/>
                <a:sym typeface="Calibri"/>
              </a:rPr>
              <a:t>Tema 1.1.1</a:t>
            </a:r>
            <a:endParaRPr/>
          </a:p>
          <a:p>
            <a:pPr indent="0" lvl="0" marL="0" marR="0" rtl="0" algn="l">
              <a:lnSpc>
                <a:spcPct val="225000"/>
              </a:lnSpc>
              <a:spcBef>
                <a:spcPts val="0"/>
              </a:spcBef>
              <a:spcAft>
                <a:spcPts val="0"/>
              </a:spcAft>
              <a:buNone/>
            </a:pPr>
            <a:r>
              <a:rPr b="0" i="0" lang="en-US" sz="1916" u="none" cap="none" strike="noStrike">
                <a:solidFill>
                  <a:srgbClr val="000000"/>
                </a:solidFill>
                <a:latin typeface="Calibri"/>
                <a:ea typeface="Calibri"/>
                <a:cs typeface="Calibri"/>
                <a:sym typeface="Calibri"/>
              </a:rPr>
              <a:t>Tema 2</a:t>
            </a:r>
            <a:endParaRPr/>
          </a:p>
          <a:p>
            <a:pPr indent="0" lvl="0" marL="0" marR="0" rtl="0" algn="l">
              <a:lnSpc>
                <a:spcPct val="225000"/>
              </a:lnSpc>
              <a:spcBef>
                <a:spcPts val="0"/>
              </a:spcBef>
              <a:spcAft>
                <a:spcPts val="0"/>
              </a:spcAft>
              <a:buNone/>
            </a:pPr>
            <a:r>
              <a:rPr b="0" i="0" lang="en-US" sz="1916" u="none" cap="none" strike="noStrike">
                <a:solidFill>
                  <a:srgbClr val="000000"/>
                </a:solidFill>
                <a:latin typeface="Calibri"/>
                <a:ea typeface="Calibri"/>
                <a:cs typeface="Calibri"/>
                <a:sym typeface="Calibri"/>
              </a:rPr>
              <a:t>Tema 3</a:t>
            </a:r>
            <a:endParaRPr/>
          </a:p>
          <a:p>
            <a:pPr indent="0" lvl="0" marL="0" marR="0" rtl="0" algn="l">
              <a:lnSpc>
                <a:spcPct val="225000"/>
              </a:lnSpc>
              <a:spcBef>
                <a:spcPts val="0"/>
              </a:spcBef>
              <a:spcAft>
                <a:spcPts val="0"/>
              </a:spcAft>
              <a:buNone/>
            </a:pPr>
            <a:r>
              <a:t/>
            </a:r>
            <a:endParaRPr b="0" i="0" sz="1916" u="none" cap="none" strike="noStrike">
              <a:solidFill>
                <a:srgbClr val="000000"/>
              </a:solidFill>
              <a:latin typeface="Calibri"/>
              <a:ea typeface="Calibri"/>
              <a:cs typeface="Calibri"/>
              <a:sym typeface="Calibri"/>
            </a:endParaRPr>
          </a:p>
          <a:p>
            <a:pPr indent="0" lvl="0" marL="0" marR="0" rtl="0" algn="l">
              <a:lnSpc>
                <a:spcPct val="225000"/>
              </a:lnSpc>
              <a:spcBef>
                <a:spcPts val="0"/>
              </a:spcBef>
              <a:spcAft>
                <a:spcPts val="0"/>
              </a:spcAft>
              <a:buNone/>
            </a:pPr>
            <a:r>
              <a:t/>
            </a:r>
            <a:endParaRPr b="0" i="0" sz="1916" u="none" cap="none" strike="noStrike">
              <a:solidFill>
                <a:srgbClr val="000000"/>
              </a:solidFill>
              <a:latin typeface="Calibri"/>
              <a:ea typeface="Calibri"/>
              <a:cs typeface="Calibri"/>
              <a:sym typeface="Calibri"/>
            </a:endParaRPr>
          </a:p>
        </p:txBody>
      </p:sp>
      <p:sp>
        <p:nvSpPr>
          <p:cNvPr id="158" name="Google Shape;158;p6"/>
          <p:cNvSpPr txBox="1"/>
          <p:nvPr/>
        </p:nvSpPr>
        <p:spPr>
          <a:xfrm>
            <a:off x="126047" y="5038718"/>
            <a:ext cx="4752082" cy="3061439"/>
          </a:xfrm>
          <a:prstGeom prst="rect">
            <a:avLst/>
          </a:prstGeom>
          <a:noFill/>
          <a:ln>
            <a:noFill/>
          </a:ln>
        </p:spPr>
        <p:txBody>
          <a:bodyPr anchorCtr="0" anchor="t" bIns="0" lIns="0" spcFirstLastPara="1" rIns="0" wrap="square" tIns="0">
            <a:spAutoFit/>
          </a:bodyPr>
          <a:lstStyle/>
          <a:p>
            <a:pPr indent="0" lvl="0" marL="0" marR="0" rtl="0" algn="ctr">
              <a:lnSpc>
                <a:spcPct val="140028"/>
              </a:lnSpc>
              <a:spcBef>
                <a:spcPts val="0"/>
              </a:spcBef>
              <a:spcAft>
                <a:spcPts val="0"/>
              </a:spcAft>
              <a:buNone/>
            </a:pPr>
            <a:r>
              <a:rPr b="1" i="0" lang="en-US" sz="2853" u="none" cap="none" strike="noStrike">
                <a:solidFill>
                  <a:srgbClr val="E4081C"/>
                </a:solidFill>
                <a:latin typeface="Calibri"/>
                <a:ea typeface="Calibri"/>
                <a:cs typeface="Calibri"/>
                <a:sym typeface="Calibri"/>
              </a:rPr>
              <a:t>El instructor Menciona el temario del curso</a:t>
            </a:r>
            <a:endParaRPr/>
          </a:p>
          <a:p>
            <a:pPr indent="0" lvl="0" marL="0" marR="0" rtl="0" algn="ctr">
              <a:lnSpc>
                <a:spcPct val="140028"/>
              </a:lnSpc>
              <a:spcBef>
                <a:spcPts val="0"/>
              </a:spcBef>
              <a:spcAft>
                <a:spcPts val="0"/>
              </a:spcAft>
              <a:buNone/>
            </a:pPr>
            <a:r>
              <a:rPr b="1" i="0" lang="en-US" sz="2853" u="none" cap="none" strike="noStrike">
                <a:solidFill>
                  <a:srgbClr val="E4081C"/>
                </a:solidFill>
                <a:latin typeface="Calibri"/>
                <a:ea typeface="Calibri"/>
                <a:cs typeface="Calibri"/>
                <a:sym typeface="Calibri"/>
              </a:rPr>
              <a:t>PROCURAR QUE SEAN 1 O 2 TEMAS x TECNICA INSTRUCCIONAL</a:t>
            </a:r>
            <a:endParaRPr/>
          </a:p>
          <a:p>
            <a:pPr indent="0" lvl="0" marL="0" marR="0" rtl="0" algn="ctr">
              <a:lnSpc>
                <a:spcPct val="140028"/>
              </a:lnSpc>
              <a:spcBef>
                <a:spcPts val="0"/>
              </a:spcBef>
              <a:spcAft>
                <a:spcPts val="0"/>
              </a:spcAft>
              <a:buNone/>
            </a:pPr>
            <a:r>
              <a:t/>
            </a:r>
            <a:endParaRPr b="1" i="0" sz="2853" u="none" cap="none" strike="noStrike">
              <a:solidFill>
                <a:srgbClr val="E4081C"/>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p:nvPr/>
        </p:nvSpPr>
        <p:spPr>
          <a:xfrm>
            <a:off x="10141839" y="3855339"/>
            <a:ext cx="1404933" cy="1404933"/>
          </a:xfrm>
          <a:custGeom>
            <a:rect b="b" l="l" r="r" t="t"/>
            <a:pathLst>
              <a:path extrusionOk="0" h="1404933" w="1404933">
                <a:moveTo>
                  <a:pt x="0" y="0"/>
                </a:moveTo>
                <a:lnTo>
                  <a:pt x="1404933" y="0"/>
                </a:lnTo>
                <a:lnTo>
                  <a:pt x="1404933" y="1404933"/>
                </a:lnTo>
                <a:lnTo>
                  <a:pt x="0" y="1404933"/>
                </a:lnTo>
                <a:lnTo>
                  <a:pt x="0" y="0"/>
                </a:lnTo>
                <a:close/>
              </a:path>
            </a:pathLst>
          </a:custGeom>
          <a:blipFill rotWithShape="1">
            <a:blip r:embed="rId3">
              <a:alphaModFix/>
            </a:blip>
            <a:stretch>
              <a:fillRect b="0" l="0" r="0" t="0"/>
            </a:stretch>
          </a:blipFill>
          <a:ln>
            <a:noFill/>
          </a:ln>
        </p:spPr>
      </p:sp>
      <p:sp>
        <p:nvSpPr>
          <p:cNvPr id="164" name="Google Shape;164;p7"/>
          <p:cNvSpPr/>
          <p:nvPr/>
        </p:nvSpPr>
        <p:spPr>
          <a:xfrm>
            <a:off x="10134595" y="6025096"/>
            <a:ext cx="5222924" cy="4357145"/>
          </a:xfrm>
          <a:custGeom>
            <a:rect b="b" l="l" r="r" t="t"/>
            <a:pathLst>
              <a:path extrusionOk="0" h="4357145" w="5222924">
                <a:moveTo>
                  <a:pt x="0" y="0"/>
                </a:moveTo>
                <a:lnTo>
                  <a:pt x="5222924" y="0"/>
                </a:lnTo>
                <a:lnTo>
                  <a:pt x="5222924" y="4357144"/>
                </a:lnTo>
                <a:lnTo>
                  <a:pt x="0" y="4357144"/>
                </a:lnTo>
                <a:lnTo>
                  <a:pt x="0" y="0"/>
                </a:lnTo>
                <a:close/>
              </a:path>
            </a:pathLst>
          </a:custGeom>
          <a:blipFill rotWithShape="1">
            <a:blip r:embed="rId4">
              <a:alphaModFix/>
            </a:blip>
            <a:stretch>
              <a:fillRect b="0" l="0" r="0" t="0"/>
            </a:stretch>
          </a:blipFill>
          <a:ln>
            <a:noFill/>
          </a:ln>
        </p:spPr>
      </p:sp>
      <p:sp>
        <p:nvSpPr>
          <p:cNvPr id="165" name="Google Shape;165;p7"/>
          <p:cNvSpPr/>
          <p:nvPr/>
        </p:nvSpPr>
        <p:spPr>
          <a:xfrm>
            <a:off x="10134595" y="-95255"/>
            <a:ext cx="6977058" cy="5605458"/>
          </a:xfrm>
          <a:custGeom>
            <a:rect b="b" l="l" r="r" t="t"/>
            <a:pathLst>
              <a:path extrusionOk="0" h="5605458" w="6977058">
                <a:moveTo>
                  <a:pt x="0" y="0"/>
                </a:moveTo>
                <a:lnTo>
                  <a:pt x="6977058" y="0"/>
                </a:lnTo>
                <a:lnTo>
                  <a:pt x="6977058" y="5605458"/>
                </a:lnTo>
                <a:lnTo>
                  <a:pt x="0" y="5605458"/>
                </a:lnTo>
                <a:lnTo>
                  <a:pt x="0" y="0"/>
                </a:lnTo>
                <a:close/>
              </a:path>
            </a:pathLst>
          </a:custGeom>
          <a:blipFill rotWithShape="1">
            <a:blip r:embed="rId5">
              <a:alphaModFix/>
            </a:blip>
            <a:stretch>
              <a:fillRect b="0" l="0" r="0" t="0"/>
            </a:stretch>
          </a:blipFill>
          <a:ln>
            <a:noFill/>
          </a:ln>
        </p:spPr>
      </p:sp>
      <p:sp>
        <p:nvSpPr>
          <p:cNvPr id="166" name="Google Shape;166;p7"/>
          <p:cNvSpPr/>
          <p:nvPr/>
        </p:nvSpPr>
        <p:spPr>
          <a:xfrm>
            <a:off x="16502062" y="6172200"/>
            <a:ext cx="1785938" cy="2657475"/>
          </a:xfrm>
          <a:custGeom>
            <a:rect b="b" l="l" r="r" t="t"/>
            <a:pathLst>
              <a:path extrusionOk="0" h="2657475" w="1785938">
                <a:moveTo>
                  <a:pt x="0" y="0"/>
                </a:moveTo>
                <a:lnTo>
                  <a:pt x="1785938" y="0"/>
                </a:lnTo>
                <a:lnTo>
                  <a:pt x="1785938" y="2657475"/>
                </a:lnTo>
                <a:lnTo>
                  <a:pt x="0" y="2657475"/>
                </a:lnTo>
                <a:lnTo>
                  <a:pt x="0" y="0"/>
                </a:lnTo>
                <a:close/>
              </a:path>
            </a:pathLst>
          </a:custGeom>
          <a:blipFill rotWithShape="1">
            <a:blip r:embed="rId6">
              <a:alphaModFix/>
            </a:blip>
            <a:stretch>
              <a:fillRect b="0" l="0" r="0" t="0"/>
            </a:stretch>
          </a:blipFill>
          <a:ln>
            <a:noFill/>
          </a:ln>
        </p:spPr>
      </p:sp>
      <p:sp>
        <p:nvSpPr>
          <p:cNvPr id="167" name="Google Shape;167;p7"/>
          <p:cNvSpPr/>
          <p:nvPr/>
        </p:nvSpPr>
        <p:spPr>
          <a:xfrm>
            <a:off x="17499902" y="1912239"/>
            <a:ext cx="190495" cy="2095505"/>
          </a:xfrm>
          <a:custGeom>
            <a:rect b="b" l="l" r="r" t="t"/>
            <a:pathLst>
              <a:path extrusionOk="0" h="2095505" w="190495">
                <a:moveTo>
                  <a:pt x="0" y="0"/>
                </a:moveTo>
                <a:lnTo>
                  <a:pt x="190495" y="0"/>
                </a:lnTo>
                <a:lnTo>
                  <a:pt x="190495" y="2095505"/>
                </a:lnTo>
                <a:lnTo>
                  <a:pt x="0" y="2095505"/>
                </a:lnTo>
                <a:lnTo>
                  <a:pt x="0" y="0"/>
                </a:lnTo>
                <a:close/>
              </a:path>
            </a:pathLst>
          </a:custGeom>
          <a:blipFill rotWithShape="1">
            <a:blip r:embed="rId7">
              <a:alphaModFix/>
            </a:blip>
            <a:stretch>
              <a:fillRect b="0" l="0" r="0" t="0"/>
            </a:stretch>
          </a:blipFill>
          <a:ln>
            <a:noFill/>
          </a:ln>
        </p:spPr>
      </p:sp>
      <p:sp>
        <p:nvSpPr>
          <p:cNvPr id="168" name="Google Shape;168;p7"/>
          <p:cNvSpPr txBox="1"/>
          <p:nvPr/>
        </p:nvSpPr>
        <p:spPr>
          <a:xfrm>
            <a:off x="1395417" y="2571498"/>
            <a:ext cx="5186105" cy="715236"/>
          </a:xfrm>
          <a:prstGeom prst="rect">
            <a:avLst/>
          </a:prstGeom>
          <a:noFill/>
          <a:ln>
            <a:noFill/>
          </a:ln>
        </p:spPr>
        <p:txBody>
          <a:bodyPr anchorCtr="0" anchor="t" bIns="0" lIns="0" spcFirstLastPara="1" rIns="0" wrap="square" tIns="0">
            <a:spAutoFit/>
          </a:bodyPr>
          <a:lstStyle/>
          <a:p>
            <a:pPr indent="0" lvl="0" marL="0" marR="0" rtl="0" algn="l">
              <a:lnSpc>
                <a:spcPct val="140048"/>
              </a:lnSpc>
              <a:spcBef>
                <a:spcPts val="0"/>
              </a:spcBef>
              <a:spcAft>
                <a:spcPts val="0"/>
              </a:spcAft>
              <a:buNone/>
            </a:pPr>
            <a:r>
              <a:rPr b="0" i="0" lang="en-US" sz="3718" u="none" cap="none" strike="noStrike">
                <a:solidFill>
                  <a:srgbClr val="000000"/>
                </a:solidFill>
                <a:latin typeface="Calibri"/>
                <a:ea typeface="Calibri"/>
                <a:cs typeface="Calibri"/>
                <a:sym typeface="Calibri"/>
              </a:rPr>
              <a:t>•</a:t>
            </a:r>
            <a:r>
              <a:rPr b="1" i="0" lang="en-US" sz="3718" u="none" cap="none" strike="noStrike">
                <a:solidFill>
                  <a:srgbClr val="000000"/>
                </a:solidFill>
                <a:latin typeface="Calibri"/>
                <a:ea typeface="Calibri"/>
                <a:cs typeface="Calibri"/>
                <a:sym typeface="Calibri"/>
              </a:rPr>
              <a:t>Beneficios de este curso</a:t>
            </a:r>
            <a:endParaRPr/>
          </a:p>
        </p:txBody>
      </p:sp>
      <p:sp>
        <p:nvSpPr>
          <p:cNvPr id="169" name="Google Shape;169;p7"/>
          <p:cNvSpPr txBox="1"/>
          <p:nvPr/>
        </p:nvSpPr>
        <p:spPr>
          <a:xfrm>
            <a:off x="6586923" y="2475990"/>
            <a:ext cx="93869" cy="804348"/>
          </a:xfrm>
          <a:prstGeom prst="rect">
            <a:avLst/>
          </a:prstGeom>
          <a:noFill/>
          <a:ln>
            <a:noFill/>
          </a:ln>
        </p:spPr>
        <p:txBody>
          <a:bodyPr anchorCtr="0" anchor="t" bIns="0" lIns="0" spcFirstLastPara="1" rIns="0" wrap="square" tIns="0">
            <a:spAutoFit/>
          </a:bodyPr>
          <a:lstStyle/>
          <a:p>
            <a:pPr indent="0" lvl="0" marL="0" marR="0" rtl="0" algn="l">
              <a:lnSpc>
                <a:spcPct val="250055"/>
              </a:lnSpc>
              <a:spcBef>
                <a:spcPts val="0"/>
              </a:spcBef>
              <a:spcAft>
                <a:spcPts val="0"/>
              </a:spcAft>
              <a:buNone/>
            </a:pPr>
            <a:r>
              <a:rPr b="0" i="0" lang="en-US" sz="2703" u="none" cap="none" strike="noStrike">
                <a:solidFill>
                  <a:srgbClr val="000000"/>
                </a:solidFill>
                <a:latin typeface="Calibri"/>
                <a:ea typeface="Calibri"/>
                <a:cs typeface="Calibri"/>
                <a:sym typeface="Calibri"/>
              </a:rPr>
              <a:t>:</a:t>
            </a:r>
            <a:endParaRPr/>
          </a:p>
        </p:txBody>
      </p:sp>
      <p:sp>
        <p:nvSpPr>
          <p:cNvPr id="170" name="Google Shape;170;p7"/>
          <p:cNvSpPr txBox="1"/>
          <p:nvPr/>
        </p:nvSpPr>
        <p:spPr>
          <a:xfrm>
            <a:off x="455325" y="4388147"/>
            <a:ext cx="8688675" cy="1755681"/>
          </a:xfrm>
          <a:prstGeom prst="rect">
            <a:avLst/>
          </a:prstGeom>
          <a:noFill/>
          <a:ln>
            <a:noFill/>
          </a:ln>
        </p:spPr>
        <p:txBody>
          <a:bodyPr anchorCtr="0" anchor="t" bIns="0" lIns="0" spcFirstLastPara="1" rIns="0" wrap="square" tIns="0">
            <a:spAutoFit/>
          </a:bodyPr>
          <a:lstStyle/>
          <a:p>
            <a:pPr indent="-351240" lvl="1" marL="702479" marR="0" rtl="0" algn="l">
              <a:lnSpc>
                <a:spcPct val="140024"/>
              </a:lnSpc>
              <a:spcBef>
                <a:spcPts val="0"/>
              </a:spcBef>
              <a:spcAft>
                <a:spcPts val="0"/>
              </a:spcAft>
              <a:buClr>
                <a:srgbClr val="E4081C"/>
              </a:buClr>
              <a:buSzPts val="3253"/>
              <a:buFont typeface="Arial"/>
              <a:buChar char="•"/>
            </a:pPr>
            <a:r>
              <a:rPr b="0" i="0" lang="en-US" sz="3253" u="none" cap="none" strike="noStrike">
                <a:solidFill>
                  <a:srgbClr val="E4081C"/>
                </a:solidFill>
                <a:latin typeface="Calibri"/>
                <a:ea typeface="Calibri"/>
                <a:cs typeface="Calibri"/>
                <a:sym typeface="Calibri"/>
              </a:rPr>
              <a:t>El instructor explica los beneficios del curso y su relación con la experiencia laboral y personal. (Redactar beneficios).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p:nvPr/>
        </p:nvSpPr>
        <p:spPr>
          <a:xfrm>
            <a:off x="862008" y="847720"/>
            <a:ext cx="16563970" cy="9163045"/>
          </a:xfrm>
          <a:custGeom>
            <a:rect b="b" l="l" r="r" t="t"/>
            <a:pathLst>
              <a:path extrusionOk="0" h="9163045" w="16563970">
                <a:moveTo>
                  <a:pt x="0" y="0"/>
                </a:moveTo>
                <a:lnTo>
                  <a:pt x="16563970" y="0"/>
                </a:lnTo>
                <a:lnTo>
                  <a:pt x="16563970" y="9163045"/>
                </a:lnTo>
                <a:lnTo>
                  <a:pt x="0" y="9163045"/>
                </a:lnTo>
                <a:lnTo>
                  <a:pt x="0" y="0"/>
                </a:lnTo>
                <a:close/>
              </a:path>
            </a:pathLst>
          </a:custGeom>
          <a:blipFill rotWithShape="1">
            <a:blip r:embed="rId3">
              <a:alphaModFix/>
            </a:blip>
            <a:stretch>
              <a:fillRect b="0" l="0" r="0" t="0"/>
            </a:stretch>
          </a:blipFill>
          <a:ln>
            <a:noFill/>
          </a:ln>
        </p:spPr>
      </p:sp>
      <p:sp>
        <p:nvSpPr>
          <p:cNvPr id="176" name="Google Shape;176;p8"/>
          <p:cNvSpPr txBox="1"/>
          <p:nvPr/>
        </p:nvSpPr>
        <p:spPr>
          <a:xfrm>
            <a:off x="8319140" y="3662405"/>
            <a:ext cx="8182780" cy="1103658"/>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3044" u="none" cap="none" strike="noStrike">
                <a:solidFill>
                  <a:srgbClr val="FEFFFF"/>
                </a:solidFill>
                <a:latin typeface="Calibri"/>
                <a:ea typeface="Calibri"/>
                <a:cs typeface="Calibri"/>
                <a:sym typeface="Calibri"/>
              </a:rPr>
              <a:t>¿Cómo es que nace tu interés por este curso: __________________</a:t>
            </a:r>
            <a:endParaRPr/>
          </a:p>
        </p:txBody>
      </p:sp>
      <p:sp>
        <p:nvSpPr>
          <p:cNvPr id="177" name="Google Shape;177;p8"/>
          <p:cNvSpPr txBox="1"/>
          <p:nvPr/>
        </p:nvSpPr>
        <p:spPr>
          <a:xfrm>
            <a:off x="7976240" y="3843414"/>
            <a:ext cx="138060" cy="408432"/>
          </a:xfrm>
          <a:prstGeom prst="rect">
            <a:avLst/>
          </a:prstGeom>
          <a:noFill/>
          <a:ln>
            <a:noFill/>
          </a:ln>
        </p:spPr>
        <p:txBody>
          <a:bodyPr anchorCtr="0" anchor="t" bIns="0" lIns="0" spcFirstLastPara="1" rIns="0" wrap="square" tIns="0">
            <a:spAutoFit/>
          </a:bodyPr>
          <a:lstStyle/>
          <a:p>
            <a:pPr indent="0" lvl="0" marL="0" marR="0" rtl="0" algn="l">
              <a:lnSpc>
                <a:spcPct val="103810"/>
              </a:lnSpc>
              <a:spcBef>
                <a:spcPts val="0"/>
              </a:spcBef>
              <a:spcAft>
                <a:spcPts val="0"/>
              </a:spcAft>
              <a:buNone/>
            </a:pPr>
            <a:r>
              <a:rPr b="0" i="0" lang="en-US" sz="3044" u="none" cap="none" strike="noStrike">
                <a:solidFill>
                  <a:srgbClr val="FEFFFF"/>
                </a:solidFill>
                <a:latin typeface="IBM Plex Sans Condensed"/>
                <a:ea typeface="IBM Plex Sans Condensed"/>
                <a:cs typeface="IBM Plex Sans Condensed"/>
                <a:sym typeface="IBM Plex Sans Condensed"/>
              </a:rPr>
              <a:t>•</a:t>
            </a:r>
            <a:endParaRPr/>
          </a:p>
        </p:txBody>
      </p:sp>
      <p:sp>
        <p:nvSpPr>
          <p:cNvPr id="178" name="Google Shape;178;p8"/>
          <p:cNvSpPr txBox="1"/>
          <p:nvPr/>
        </p:nvSpPr>
        <p:spPr>
          <a:xfrm>
            <a:off x="8319140" y="5866567"/>
            <a:ext cx="5682353" cy="575165"/>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b="1" i="0" lang="en-US" sz="3041" u="none" cap="none" strike="noStrike">
                <a:solidFill>
                  <a:srgbClr val="FEFFFF"/>
                </a:solidFill>
                <a:latin typeface="Calibri"/>
                <a:ea typeface="Calibri"/>
                <a:cs typeface="Calibri"/>
                <a:sym typeface="Calibri"/>
              </a:rPr>
              <a:t>¿Cuál es tu experiencia en el tema?</a:t>
            </a:r>
            <a:endParaRPr/>
          </a:p>
        </p:txBody>
      </p:sp>
      <p:sp>
        <p:nvSpPr>
          <p:cNvPr id="179" name="Google Shape;179;p8"/>
          <p:cNvSpPr txBox="1"/>
          <p:nvPr/>
        </p:nvSpPr>
        <p:spPr>
          <a:xfrm>
            <a:off x="8319140" y="7669078"/>
            <a:ext cx="6267812" cy="575165"/>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b="1" i="0" lang="en-US" sz="3041" u="none" cap="none" strike="noStrike">
                <a:solidFill>
                  <a:srgbClr val="FEFFFF"/>
                </a:solidFill>
                <a:latin typeface="Calibri"/>
                <a:ea typeface="Calibri"/>
                <a:cs typeface="Calibri"/>
                <a:sym typeface="Calibri"/>
              </a:rPr>
              <a:t>¿Que expectativa tienes de este curso?</a:t>
            </a:r>
            <a:endParaRPr/>
          </a:p>
        </p:txBody>
      </p:sp>
      <p:sp>
        <p:nvSpPr>
          <p:cNvPr id="180" name="Google Shape;180;p8"/>
          <p:cNvSpPr txBox="1"/>
          <p:nvPr/>
        </p:nvSpPr>
        <p:spPr>
          <a:xfrm>
            <a:off x="7976240" y="5942786"/>
            <a:ext cx="137889" cy="512636"/>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b="0" i="0" lang="en-US" sz="3041" u="none" cap="none" strike="noStrike">
                <a:solidFill>
                  <a:srgbClr val="FEFFFF"/>
                </a:solidFill>
                <a:latin typeface="IBM Plex Sans Condensed"/>
                <a:ea typeface="IBM Plex Sans Condensed"/>
                <a:cs typeface="IBM Plex Sans Condensed"/>
                <a:sym typeface="IBM Plex Sans Condensed"/>
              </a:rPr>
              <a:t>•</a:t>
            </a:r>
            <a:endParaRPr/>
          </a:p>
        </p:txBody>
      </p:sp>
      <p:sp>
        <p:nvSpPr>
          <p:cNvPr id="181" name="Google Shape;181;p8"/>
          <p:cNvSpPr txBox="1"/>
          <p:nvPr/>
        </p:nvSpPr>
        <p:spPr>
          <a:xfrm>
            <a:off x="7976240" y="7745297"/>
            <a:ext cx="137889" cy="512636"/>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b="0" i="0" lang="en-US" sz="3041" u="none" cap="none" strike="noStrike">
                <a:solidFill>
                  <a:srgbClr val="FEFFFF"/>
                </a:solidFill>
                <a:latin typeface="IBM Plex Sans Condensed"/>
                <a:ea typeface="IBM Plex Sans Condensed"/>
                <a:cs typeface="IBM Plex Sans Condensed"/>
                <a:sym typeface="IBM Plex Sans Condensed"/>
              </a:rPr>
              <a:t>•</a:t>
            </a:r>
            <a:endParaRPr/>
          </a:p>
        </p:txBody>
      </p:sp>
      <p:sp>
        <p:nvSpPr>
          <p:cNvPr id="182" name="Google Shape;182;p8"/>
          <p:cNvSpPr txBox="1"/>
          <p:nvPr/>
        </p:nvSpPr>
        <p:spPr>
          <a:xfrm>
            <a:off x="2893690" y="3358834"/>
            <a:ext cx="3150665" cy="1557095"/>
          </a:xfrm>
          <a:prstGeom prst="rect">
            <a:avLst/>
          </a:prstGeom>
          <a:noFill/>
          <a:ln>
            <a:noFill/>
          </a:ln>
        </p:spPr>
        <p:txBody>
          <a:bodyPr anchorCtr="0" anchor="t" bIns="0" lIns="0" spcFirstLastPara="1" rIns="0" wrap="square" tIns="0">
            <a:spAutoFit/>
          </a:bodyPr>
          <a:lstStyle/>
          <a:p>
            <a:pPr indent="0" lvl="0" marL="0" marR="0" rtl="0" algn="l">
              <a:lnSpc>
                <a:spcPct val="118620"/>
              </a:lnSpc>
              <a:spcBef>
                <a:spcPts val="0"/>
              </a:spcBef>
              <a:spcAft>
                <a:spcPts val="0"/>
              </a:spcAft>
              <a:buNone/>
            </a:pPr>
            <a:r>
              <a:rPr b="0" i="0" lang="en-US" sz="4844" u="none" cap="none" strike="noStrike">
                <a:solidFill>
                  <a:srgbClr val="FFFFFF"/>
                </a:solidFill>
                <a:latin typeface="Calibri"/>
                <a:ea typeface="Calibri"/>
                <a:cs typeface="Calibri"/>
                <a:sym typeface="Calibri"/>
              </a:rPr>
              <a:t>AHORA REFLEXIONA</a:t>
            </a:r>
            <a:endParaRPr/>
          </a:p>
        </p:txBody>
      </p:sp>
      <p:sp>
        <p:nvSpPr>
          <p:cNvPr id="183" name="Google Shape;183;p8"/>
          <p:cNvSpPr txBox="1"/>
          <p:nvPr/>
        </p:nvSpPr>
        <p:spPr>
          <a:xfrm>
            <a:off x="1895260" y="5048250"/>
            <a:ext cx="4149095" cy="3109079"/>
          </a:xfrm>
          <a:prstGeom prst="rect">
            <a:avLst/>
          </a:prstGeom>
          <a:noFill/>
          <a:ln>
            <a:noFill/>
          </a:ln>
        </p:spPr>
        <p:txBody>
          <a:bodyPr anchorCtr="0" anchor="t" bIns="0" lIns="0" spcFirstLastPara="1" rIns="0" wrap="square" tIns="0">
            <a:spAutoFit/>
          </a:bodyPr>
          <a:lstStyle/>
          <a:p>
            <a:pPr indent="0" lvl="0" marL="0" marR="0" rtl="0" algn="just">
              <a:lnSpc>
                <a:spcPct val="197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just">
              <a:lnSpc>
                <a:spcPct val="184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74579" lvl="1" marL="549159" marR="0" rtl="0" algn="just">
              <a:lnSpc>
                <a:spcPct val="140031"/>
              </a:lnSpc>
              <a:spcBef>
                <a:spcPts val="0"/>
              </a:spcBef>
              <a:spcAft>
                <a:spcPts val="0"/>
              </a:spcAft>
              <a:buClr>
                <a:srgbClr val="E4081C"/>
              </a:buClr>
              <a:buSzPts val="2543"/>
              <a:buFont typeface="Arial"/>
              <a:buChar char="•"/>
            </a:pPr>
            <a:r>
              <a:rPr b="1" i="0" lang="en-US" sz="2543" u="none" cap="none" strike="noStrike">
                <a:solidFill>
                  <a:srgbClr val="E4081C"/>
                </a:solidFill>
                <a:latin typeface="Calibri"/>
                <a:ea typeface="Calibri"/>
                <a:cs typeface="Calibri"/>
                <a:sym typeface="Calibri"/>
              </a:rPr>
              <a:t>El instructor crea un ambiente participativo mediante preguntas al grupo.</a:t>
            </a:r>
            <a:endParaRPr/>
          </a:p>
          <a:p>
            <a:pPr indent="0" lvl="0" marL="0" marR="0" rtl="0" algn="just">
              <a:lnSpc>
                <a:spcPct val="130672"/>
              </a:lnSpc>
              <a:spcBef>
                <a:spcPts val="0"/>
              </a:spcBef>
              <a:spcAft>
                <a:spcPts val="0"/>
              </a:spcAft>
              <a:buNone/>
            </a:pPr>
            <a:r>
              <a:t/>
            </a:r>
            <a:endParaRPr b="1" i="0" sz="2543" u="none" cap="none" strike="noStrike">
              <a:solidFill>
                <a:srgbClr val="E4081C"/>
              </a:solidFill>
              <a:latin typeface="Calibri"/>
              <a:ea typeface="Calibri"/>
              <a:cs typeface="Calibri"/>
              <a:sym typeface="Calibri"/>
            </a:endParaRPr>
          </a:p>
        </p:txBody>
      </p:sp>
      <p:sp>
        <p:nvSpPr>
          <p:cNvPr id="184" name="Google Shape;184;p8"/>
          <p:cNvSpPr txBox="1"/>
          <p:nvPr/>
        </p:nvSpPr>
        <p:spPr>
          <a:xfrm>
            <a:off x="7976240" y="2340901"/>
            <a:ext cx="8182780" cy="57507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3044" u="none" cap="none" strike="noStrike">
                <a:solidFill>
                  <a:srgbClr val="FEFFFF"/>
                </a:solidFill>
                <a:latin typeface="Calibri"/>
                <a:ea typeface="Calibri"/>
                <a:cs typeface="Calibri"/>
                <a:sym typeface="Calibri"/>
              </a:rPr>
              <a:t>EJEMPLO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9"/>
          <p:cNvSpPr/>
          <p:nvPr/>
        </p:nvSpPr>
        <p:spPr>
          <a:xfrm>
            <a:off x="4008115" y="-95255"/>
            <a:ext cx="14187488" cy="10477495"/>
          </a:xfrm>
          <a:custGeom>
            <a:rect b="b" l="l" r="r" t="t"/>
            <a:pathLst>
              <a:path extrusionOk="0" h="10477495" w="14187488">
                <a:moveTo>
                  <a:pt x="0" y="0"/>
                </a:moveTo>
                <a:lnTo>
                  <a:pt x="14187488" y="0"/>
                </a:lnTo>
                <a:lnTo>
                  <a:pt x="14187488" y="10477495"/>
                </a:lnTo>
                <a:lnTo>
                  <a:pt x="0" y="10477495"/>
                </a:lnTo>
                <a:lnTo>
                  <a:pt x="0" y="0"/>
                </a:lnTo>
                <a:close/>
              </a:path>
            </a:pathLst>
          </a:custGeom>
          <a:blipFill rotWithShape="1">
            <a:blip r:embed="rId3">
              <a:alphaModFix/>
            </a:blip>
            <a:stretch>
              <a:fillRect b="0" l="0" r="0" t="0"/>
            </a:stretch>
          </a:blipFill>
          <a:ln>
            <a:noFill/>
          </a:ln>
        </p:spPr>
      </p:sp>
      <p:sp>
        <p:nvSpPr>
          <p:cNvPr id="190" name="Google Shape;190;p9"/>
          <p:cNvSpPr txBox="1"/>
          <p:nvPr/>
        </p:nvSpPr>
        <p:spPr>
          <a:xfrm>
            <a:off x="4199196" y="-13111"/>
            <a:ext cx="2225100" cy="346800"/>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1" i="0" lang="en-US" sz="2253" u="none" cap="none" strike="noStrike">
                <a:solidFill>
                  <a:srgbClr val="FFFFFF"/>
                </a:solidFill>
                <a:latin typeface="Calibri"/>
                <a:ea typeface="Calibri"/>
                <a:cs typeface="Calibri"/>
                <a:sym typeface="Calibri"/>
              </a:rPr>
              <a:t>Aspecto</a:t>
            </a:r>
            <a:r>
              <a:rPr b="1" lang="en-US" sz="2253">
                <a:solidFill>
                  <a:srgbClr val="FFFFFF"/>
                </a:solidFill>
                <a:latin typeface="Calibri"/>
                <a:ea typeface="Calibri"/>
                <a:cs typeface="Calibri"/>
                <a:sym typeface="Calibri"/>
              </a:rPr>
              <a:t> a</a:t>
            </a:r>
            <a:r>
              <a:rPr b="1" i="0" lang="en-US" sz="2253" u="none" cap="none" strike="noStrike">
                <a:solidFill>
                  <a:srgbClr val="FFFFFF"/>
                </a:solidFill>
                <a:latin typeface="Calibri"/>
                <a:ea typeface="Calibri"/>
                <a:cs typeface="Calibri"/>
                <a:sym typeface="Calibri"/>
              </a:rPr>
              <a:t> evaluar:</a:t>
            </a:r>
            <a:endParaRPr/>
          </a:p>
        </p:txBody>
      </p:sp>
      <p:sp>
        <p:nvSpPr>
          <p:cNvPr id="191" name="Google Shape;191;p9"/>
          <p:cNvSpPr txBox="1"/>
          <p:nvPr/>
        </p:nvSpPr>
        <p:spPr>
          <a:xfrm>
            <a:off x="4199196" y="5159502"/>
            <a:ext cx="2843584" cy="1428353"/>
          </a:xfrm>
          <a:prstGeom prst="rect">
            <a:avLst/>
          </a:prstGeom>
          <a:noFill/>
          <a:ln>
            <a:noFill/>
          </a:ln>
        </p:spPr>
        <p:txBody>
          <a:bodyPr anchorCtr="0" anchor="t" bIns="0" lIns="0" spcFirstLastPara="1" rIns="0" wrap="square" tIns="0">
            <a:spAutoFit/>
          </a:bodyPr>
          <a:lstStyle/>
          <a:p>
            <a:pPr indent="0" lvl="0" marL="0" marR="0" rtl="0" algn="l">
              <a:lnSpc>
                <a:spcPct val="120017"/>
              </a:lnSpc>
              <a:spcBef>
                <a:spcPts val="0"/>
              </a:spcBef>
              <a:spcAft>
                <a:spcPts val="0"/>
              </a:spcAft>
              <a:buNone/>
            </a:pPr>
            <a:r>
              <a:rPr b="0" i="0" lang="en-US" sz="2253" u="none" cap="none" strike="noStrike">
                <a:solidFill>
                  <a:srgbClr val="000000"/>
                </a:solidFill>
                <a:latin typeface="Calibri"/>
                <a:ea typeface="Calibri"/>
                <a:cs typeface="Calibri"/>
                <a:sym typeface="Calibri"/>
              </a:rPr>
              <a:t>2.EVALUACIÓN FORMATIVA</a:t>
            </a:r>
            <a:endParaRPr/>
          </a:p>
          <a:p>
            <a:pPr indent="0" lvl="0" marL="0" marR="0" rtl="0" algn="l">
              <a:lnSpc>
                <a:spcPct val="120017"/>
              </a:lnSpc>
              <a:spcBef>
                <a:spcPts val="0"/>
              </a:spcBef>
              <a:spcAft>
                <a:spcPts val="0"/>
              </a:spcAft>
              <a:buNone/>
            </a:pPr>
            <a:r>
              <a:rPr b="0" i="0" lang="en-US" sz="2253" u="none" cap="none" strike="noStrike">
                <a:solidFill>
                  <a:srgbClr val="000000"/>
                </a:solidFill>
                <a:latin typeface="Calibri"/>
                <a:ea typeface="Calibri"/>
                <a:cs typeface="Calibri"/>
                <a:sym typeface="Calibri"/>
              </a:rPr>
              <a:t> (pueden ser más de una)</a:t>
            </a:r>
            <a:endParaRPr/>
          </a:p>
        </p:txBody>
      </p:sp>
      <p:sp>
        <p:nvSpPr>
          <p:cNvPr id="192" name="Google Shape;192;p9"/>
          <p:cNvSpPr txBox="1"/>
          <p:nvPr/>
        </p:nvSpPr>
        <p:spPr>
          <a:xfrm>
            <a:off x="7042780" y="1795115"/>
            <a:ext cx="1323708" cy="440207"/>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0" i="0" lang="en-US" sz="2253" u="none" cap="none" strike="noStrike">
                <a:solidFill>
                  <a:srgbClr val="000000"/>
                </a:solidFill>
                <a:latin typeface="Calibri"/>
                <a:ea typeface="Calibri"/>
                <a:cs typeface="Calibri"/>
                <a:sym typeface="Calibri"/>
              </a:rPr>
              <a:t>Referencial</a:t>
            </a:r>
            <a:endParaRPr/>
          </a:p>
        </p:txBody>
      </p:sp>
      <p:sp>
        <p:nvSpPr>
          <p:cNvPr id="193" name="Google Shape;193;p9"/>
          <p:cNvSpPr txBox="1"/>
          <p:nvPr/>
        </p:nvSpPr>
        <p:spPr>
          <a:xfrm>
            <a:off x="7042780" y="-13111"/>
            <a:ext cx="1374100" cy="440207"/>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1" i="0" lang="en-US" sz="2253" u="none" cap="none" strike="noStrike">
                <a:solidFill>
                  <a:srgbClr val="FFFFFF"/>
                </a:solidFill>
                <a:latin typeface="Calibri"/>
                <a:ea typeface="Calibri"/>
                <a:cs typeface="Calibri"/>
                <a:sym typeface="Calibri"/>
              </a:rPr>
              <a:t>Porcentaje:</a:t>
            </a:r>
            <a:endParaRPr/>
          </a:p>
        </p:txBody>
      </p:sp>
      <p:sp>
        <p:nvSpPr>
          <p:cNvPr id="194" name="Google Shape;194;p9"/>
          <p:cNvSpPr txBox="1"/>
          <p:nvPr/>
        </p:nvSpPr>
        <p:spPr>
          <a:xfrm>
            <a:off x="7042780" y="4233718"/>
            <a:ext cx="1936799" cy="433239"/>
          </a:xfrm>
          <a:prstGeom prst="rect">
            <a:avLst/>
          </a:prstGeom>
          <a:noFill/>
          <a:ln>
            <a:noFill/>
          </a:ln>
        </p:spPr>
        <p:txBody>
          <a:bodyPr anchorCtr="0" anchor="t" bIns="0" lIns="0" spcFirstLastPara="1" rIns="0" wrap="square" tIns="0">
            <a:spAutoFit/>
          </a:bodyPr>
          <a:lstStyle/>
          <a:p>
            <a:pPr indent="0" lvl="0" marL="0" marR="0" rtl="0" algn="l">
              <a:lnSpc>
                <a:spcPct val="141722"/>
              </a:lnSpc>
              <a:spcBef>
                <a:spcPts val="0"/>
              </a:spcBef>
              <a:spcAft>
                <a:spcPts val="0"/>
              </a:spcAft>
              <a:buNone/>
            </a:pPr>
            <a:r>
              <a:rPr b="0" i="0" lang="en-US" sz="2253" u="none" cap="none" strike="noStrike">
                <a:solidFill>
                  <a:srgbClr val="000000"/>
                </a:solidFill>
                <a:latin typeface="Calibri"/>
                <a:ea typeface="Calibri"/>
                <a:cs typeface="Calibri"/>
                <a:sym typeface="Calibri"/>
              </a:rPr>
              <a:t>Tema 1</a:t>
            </a:r>
            <a:endParaRPr/>
          </a:p>
        </p:txBody>
      </p:sp>
      <p:sp>
        <p:nvSpPr>
          <p:cNvPr id="195" name="Google Shape;195;p9"/>
          <p:cNvSpPr txBox="1"/>
          <p:nvPr/>
        </p:nvSpPr>
        <p:spPr>
          <a:xfrm>
            <a:off x="9833615" y="-146461"/>
            <a:ext cx="1940128" cy="743038"/>
          </a:xfrm>
          <a:prstGeom prst="rect">
            <a:avLst/>
          </a:prstGeom>
          <a:noFill/>
          <a:ln>
            <a:noFill/>
          </a:ln>
        </p:spPr>
        <p:txBody>
          <a:bodyPr anchorCtr="0" anchor="t" bIns="0" lIns="0" spcFirstLastPara="1" rIns="0" wrap="square" tIns="0">
            <a:spAutoFit/>
          </a:bodyPr>
          <a:lstStyle/>
          <a:p>
            <a:pPr indent="0" lvl="0" marL="0" marR="0" rtl="0" algn="l">
              <a:lnSpc>
                <a:spcPct val="119928"/>
              </a:lnSpc>
              <a:spcBef>
                <a:spcPts val="0"/>
              </a:spcBef>
              <a:spcAft>
                <a:spcPts val="0"/>
              </a:spcAft>
              <a:buNone/>
            </a:pPr>
            <a:r>
              <a:rPr b="1" i="0" lang="en-US" sz="2253" u="none" cap="none" strike="noStrike">
                <a:solidFill>
                  <a:srgbClr val="FFFFFF"/>
                </a:solidFill>
                <a:latin typeface="Calibri"/>
                <a:ea typeface="Calibri"/>
                <a:cs typeface="Calibri"/>
                <a:sym typeface="Calibri"/>
              </a:rPr>
              <a:t>Instrumentode evaluación: </a:t>
            </a:r>
            <a:endParaRPr/>
          </a:p>
        </p:txBody>
      </p:sp>
      <p:sp>
        <p:nvSpPr>
          <p:cNvPr id="196" name="Google Shape;196;p9"/>
          <p:cNvSpPr txBox="1"/>
          <p:nvPr/>
        </p:nvSpPr>
        <p:spPr>
          <a:xfrm>
            <a:off x="9833615" y="3986817"/>
            <a:ext cx="2773575" cy="838204"/>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1" i="0" lang="en-US" sz="2253" u="none" cap="none" strike="noStrike">
                <a:solidFill>
                  <a:srgbClr val="000000"/>
                </a:solidFill>
                <a:latin typeface="Calibri"/>
                <a:ea typeface="Calibri"/>
                <a:cs typeface="Calibri"/>
                <a:sym typeface="Calibri"/>
              </a:rPr>
              <a:t>P.ej. Guía de Observación</a:t>
            </a:r>
            <a:endParaRPr/>
          </a:p>
        </p:txBody>
      </p:sp>
      <p:sp>
        <p:nvSpPr>
          <p:cNvPr id="197" name="Google Shape;197;p9"/>
          <p:cNvSpPr txBox="1"/>
          <p:nvPr/>
        </p:nvSpPr>
        <p:spPr>
          <a:xfrm>
            <a:off x="12766353" y="9277479"/>
            <a:ext cx="826803" cy="440207"/>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0" i="0" lang="en-US" sz="2253" u="none" cap="none" strike="noStrike">
                <a:solidFill>
                  <a:srgbClr val="000000"/>
                </a:solidFill>
                <a:latin typeface="Calibri"/>
                <a:ea typeface="Calibri"/>
                <a:cs typeface="Calibri"/>
                <a:sym typeface="Calibri"/>
              </a:rPr>
              <a:t>Al final</a:t>
            </a:r>
            <a:endParaRPr/>
          </a:p>
        </p:txBody>
      </p:sp>
      <p:sp>
        <p:nvSpPr>
          <p:cNvPr id="198" name="Google Shape;198;p9"/>
          <p:cNvSpPr txBox="1"/>
          <p:nvPr/>
        </p:nvSpPr>
        <p:spPr>
          <a:xfrm>
            <a:off x="12766353" y="1786542"/>
            <a:ext cx="935688" cy="440207"/>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0" i="0" lang="en-US" sz="2253" u="none" cap="none" strike="noStrike">
                <a:solidFill>
                  <a:srgbClr val="000000"/>
                </a:solidFill>
                <a:latin typeface="Calibri"/>
                <a:ea typeface="Calibri"/>
                <a:cs typeface="Calibri"/>
                <a:sym typeface="Calibri"/>
              </a:rPr>
              <a:t>Al inicio</a:t>
            </a:r>
            <a:endParaRPr/>
          </a:p>
        </p:txBody>
      </p:sp>
      <p:sp>
        <p:nvSpPr>
          <p:cNvPr id="199" name="Google Shape;199;p9"/>
          <p:cNvSpPr txBox="1"/>
          <p:nvPr/>
        </p:nvSpPr>
        <p:spPr>
          <a:xfrm>
            <a:off x="12766353" y="5703603"/>
            <a:ext cx="1308821" cy="440207"/>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0" i="0" lang="en-US" sz="2253" u="none" cap="none" strike="noStrike">
                <a:solidFill>
                  <a:srgbClr val="000000"/>
                </a:solidFill>
                <a:latin typeface="Calibri"/>
                <a:ea typeface="Calibri"/>
                <a:cs typeface="Calibri"/>
                <a:sym typeface="Calibri"/>
              </a:rPr>
              <a:t>Intermedia</a:t>
            </a:r>
            <a:endParaRPr/>
          </a:p>
        </p:txBody>
      </p:sp>
      <p:sp>
        <p:nvSpPr>
          <p:cNvPr id="200" name="Google Shape;200;p9"/>
          <p:cNvSpPr txBox="1"/>
          <p:nvPr/>
        </p:nvSpPr>
        <p:spPr>
          <a:xfrm>
            <a:off x="12766353" y="-146461"/>
            <a:ext cx="1644963" cy="745379"/>
          </a:xfrm>
          <a:prstGeom prst="rect">
            <a:avLst/>
          </a:prstGeom>
          <a:noFill/>
          <a:ln>
            <a:noFill/>
          </a:ln>
        </p:spPr>
        <p:txBody>
          <a:bodyPr anchorCtr="0" anchor="t" bIns="0" lIns="0" spcFirstLastPara="1" rIns="0" wrap="square" tIns="0">
            <a:spAutoFit/>
          </a:bodyPr>
          <a:lstStyle/>
          <a:p>
            <a:pPr indent="0" lvl="0" marL="0" marR="0" rtl="0" algn="l">
              <a:lnSpc>
                <a:spcPct val="119928"/>
              </a:lnSpc>
              <a:spcBef>
                <a:spcPts val="0"/>
              </a:spcBef>
              <a:spcAft>
                <a:spcPts val="0"/>
              </a:spcAft>
              <a:buNone/>
            </a:pPr>
            <a:r>
              <a:rPr b="1" i="0" lang="en-US" sz="2253" u="none" cap="none" strike="noStrike">
                <a:solidFill>
                  <a:srgbClr val="FFFFFF"/>
                </a:solidFill>
                <a:latin typeface="Calibri"/>
                <a:ea typeface="Calibri"/>
                <a:cs typeface="Calibri"/>
                <a:sym typeface="Calibri"/>
              </a:rPr>
              <a:t>Momentode aplicación:</a:t>
            </a:r>
            <a:endParaRPr/>
          </a:p>
        </p:txBody>
      </p:sp>
      <p:sp>
        <p:nvSpPr>
          <p:cNvPr id="201" name="Google Shape;201;p9"/>
          <p:cNvSpPr txBox="1"/>
          <p:nvPr/>
        </p:nvSpPr>
        <p:spPr>
          <a:xfrm>
            <a:off x="14987588" y="-13111"/>
            <a:ext cx="2252167" cy="440207"/>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1" i="0" lang="en-US" sz="2253" u="none" cap="none" strike="noStrike">
                <a:solidFill>
                  <a:srgbClr val="FFFFFF"/>
                </a:solidFill>
                <a:latin typeface="Calibri"/>
                <a:ea typeface="Calibri"/>
                <a:cs typeface="Calibri"/>
                <a:sym typeface="Calibri"/>
              </a:rPr>
              <a:t>Tipo de evaluación</a:t>
            </a:r>
            <a:endParaRPr/>
          </a:p>
        </p:txBody>
      </p:sp>
      <p:sp>
        <p:nvSpPr>
          <p:cNvPr id="202" name="Google Shape;202;p9"/>
          <p:cNvSpPr txBox="1"/>
          <p:nvPr/>
        </p:nvSpPr>
        <p:spPr>
          <a:xfrm>
            <a:off x="4199196" y="1653650"/>
            <a:ext cx="2014909" cy="742466"/>
          </a:xfrm>
          <a:prstGeom prst="rect">
            <a:avLst/>
          </a:prstGeom>
          <a:noFill/>
          <a:ln>
            <a:noFill/>
          </a:ln>
        </p:spPr>
        <p:txBody>
          <a:bodyPr anchorCtr="0" anchor="t" bIns="0" lIns="0" spcFirstLastPara="1" rIns="0" wrap="square" tIns="0">
            <a:spAutoFit/>
          </a:bodyPr>
          <a:lstStyle/>
          <a:p>
            <a:pPr indent="0" lvl="0" marL="0" marR="0" rtl="0" algn="l">
              <a:lnSpc>
                <a:spcPct val="120088"/>
              </a:lnSpc>
              <a:spcBef>
                <a:spcPts val="0"/>
              </a:spcBef>
              <a:spcAft>
                <a:spcPts val="0"/>
              </a:spcAft>
              <a:buNone/>
            </a:pPr>
            <a:r>
              <a:rPr b="0" i="0" lang="en-US" sz="2250" u="none" cap="none" strike="noStrike">
                <a:solidFill>
                  <a:srgbClr val="000000"/>
                </a:solidFill>
                <a:latin typeface="Calibri"/>
                <a:ea typeface="Calibri"/>
                <a:cs typeface="Calibri"/>
                <a:sym typeface="Calibri"/>
              </a:rPr>
              <a:t>1.EVALUACIÓN DIAGNÓSTICA</a:t>
            </a:r>
            <a:endParaRPr/>
          </a:p>
        </p:txBody>
      </p:sp>
      <p:sp>
        <p:nvSpPr>
          <p:cNvPr id="203" name="Google Shape;203;p9"/>
          <p:cNvSpPr txBox="1"/>
          <p:nvPr/>
        </p:nvSpPr>
        <p:spPr>
          <a:xfrm>
            <a:off x="4199196" y="9144586"/>
            <a:ext cx="1815827" cy="744907"/>
          </a:xfrm>
          <a:prstGeom prst="rect">
            <a:avLst/>
          </a:prstGeom>
          <a:noFill/>
          <a:ln>
            <a:noFill/>
          </a:ln>
        </p:spPr>
        <p:txBody>
          <a:bodyPr anchorCtr="0" anchor="t" bIns="0" lIns="0" spcFirstLastPara="1" rIns="0" wrap="square" tIns="0">
            <a:spAutoFit/>
          </a:bodyPr>
          <a:lstStyle/>
          <a:p>
            <a:pPr indent="0" lvl="0" marL="0" marR="0" rtl="0" algn="l">
              <a:lnSpc>
                <a:spcPct val="120177"/>
              </a:lnSpc>
              <a:spcBef>
                <a:spcPts val="0"/>
              </a:spcBef>
              <a:spcAft>
                <a:spcPts val="0"/>
              </a:spcAft>
              <a:buNone/>
            </a:pPr>
            <a:r>
              <a:rPr b="0" i="0" lang="en-US" sz="2250" u="none" cap="none" strike="noStrike">
                <a:solidFill>
                  <a:srgbClr val="000000"/>
                </a:solidFill>
                <a:latin typeface="Calibri"/>
                <a:ea typeface="Calibri"/>
                <a:cs typeface="Calibri"/>
                <a:sym typeface="Calibri"/>
              </a:rPr>
              <a:t>3.EVALUACIÓN SUMATIVA</a:t>
            </a:r>
            <a:endParaRPr/>
          </a:p>
        </p:txBody>
      </p:sp>
      <p:sp>
        <p:nvSpPr>
          <p:cNvPr id="204" name="Google Shape;204;p9"/>
          <p:cNvSpPr txBox="1"/>
          <p:nvPr/>
        </p:nvSpPr>
        <p:spPr>
          <a:xfrm>
            <a:off x="9833615" y="8457843"/>
            <a:ext cx="2773575" cy="399379"/>
          </a:xfrm>
          <a:prstGeom prst="rect">
            <a:avLst/>
          </a:prstGeom>
          <a:noFill/>
          <a:ln>
            <a:noFill/>
          </a:ln>
        </p:spPr>
        <p:txBody>
          <a:bodyPr anchorCtr="0" anchor="t" bIns="0" lIns="0" spcFirstLastPara="1" rIns="0" wrap="square" tIns="0">
            <a:spAutoFit/>
          </a:bodyPr>
          <a:lstStyle/>
          <a:p>
            <a:pPr indent="0" lvl="0" marL="0" marR="0" rtl="0" algn="l">
              <a:lnSpc>
                <a:spcPct val="120177"/>
              </a:lnSpc>
              <a:spcBef>
                <a:spcPts val="0"/>
              </a:spcBef>
              <a:spcAft>
                <a:spcPts val="0"/>
              </a:spcAft>
              <a:buNone/>
            </a:pPr>
            <a:r>
              <a:rPr b="1" i="0" lang="en-US" sz="2250" u="none" cap="none" strike="noStrike">
                <a:solidFill>
                  <a:srgbClr val="000000"/>
                </a:solidFill>
                <a:latin typeface="Calibri"/>
                <a:ea typeface="Calibri"/>
                <a:cs typeface="Calibri"/>
                <a:sym typeface="Calibri"/>
              </a:rPr>
              <a:t>P.ej.  Cuestionario </a:t>
            </a:r>
            <a:endParaRPr/>
          </a:p>
        </p:txBody>
      </p:sp>
      <p:sp>
        <p:nvSpPr>
          <p:cNvPr id="205" name="Google Shape;205;p9"/>
          <p:cNvSpPr txBox="1"/>
          <p:nvPr/>
        </p:nvSpPr>
        <p:spPr>
          <a:xfrm>
            <a:off x="14987588" y="1958835"/>
            <a:ext cx="2698318" cy="438200"/>
          </a:xfrm>
          <a:prstGeom prst="rect">
            <a:avLst/>
          </a:prstGeom>
          <a:noFill/>
          <a:ln>
            <a:noFill/>
          </a:ln>
        </p:spPr>
        <p:txBody>
          <a:bodyPr anchorCtr="0" anchor="t" bIns="0" lIns="0" spcFirstLastPara="1" rIns="0" wrap="square" tIns="0">
            <a:spAutoFit/>
          </a:bodyPr>
          <a:lstStyle/>
          <a:p>
            <a:pPr indent="0" lvl="0" marL="0" marR="0" rtl="0" algn="l">
              <a:lnSpc>
                <a:spcPct val="139955"/>
              </a:lnSpc>
              <a:spcBef>
                <a:spcPts val="0"/>
              </a:spcBef>
              <a:spcAft>
                <a:spcPts val="0"/>
              </a:spcAft>
              <a:buNone/>
            </a:pPr>
            <a:r>
              <a:rPr b="0" i="0" lang="en-US" sz="2250" u="none" cap="none" strike="noStrike">
                <a:solidFill>
                  <a:srgbClr val="000000"/>
                </a:solidFill>
                <a:latin typeface="Calibri"/>
                <a:ea typeface="Calibri"/>
                <a:cs typeface="Calibri"/>
                <a:sym typeface="Calibri"/>
              </a:rPr>
              <a:t>Pej. Heteroevaluación</a:t>
            </a:r>
            <a:endParaRPr/>
          </a:p>
        </p:txBody>
      </p:sp>
      <p:sp>
        <p:nvSpPr>
          <p:cNvPr id="206" name="Google Shape;206;p9"/>
          <p:cNvSpPr txBox="1"/>
          <p:nvPr/>
        </p:nvSpPr>
        <p:spPr>
          <a:xfrm>
            <a:off x="8366489" y="9153525"/>
            <a:ext cx="606047" cy="507637"/>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1" i="0" lang="en-US" sz="2703" u="none" cap="none" strike="noStrike">
                <a:solidFill>
                  <a:srgbClr val="2F5597"/>
                </a:solidFill>
                <a:latin typeface="Calibri"/>
                <a:ea typeface="Calibri"/>
                <a:cs typeface="Calibri"/>
                <a:sym typeface="Calibri"/>
              </a:rPr>
              <a:t>X%</a:t>
            </a:r>
            <a:endParaRPr/>
          </a:p>
        </p:txBody>
      </p:sp>
      <p:sp>
        <p:nvSpPr>
          <p:cNvPr id="207" name="Google Shape;207;p9"/>
          <p:cNvSpPr txBox="1"/>
          <p:nvPr/>
        </p:nvSpPr>
        <p:spPr>
          <a:xfrm>
            <a:off x="8402007" y="1730554"/>
            <a:ext cx="605076" cy="507637"/>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1" i="0" lang="en-US" sz="2703" u="none" cap="none" strike="noStrike">
                <a:solidFill>
                  <a:srgbClr val="2F5597"/>
                </a:solidFill>
                <a:latin typeface="Calibri"/>
                <a:ea typeface="Calibri"/>
                <a:cs typeface="Calibri"/>
                <a:sym typeface="Calibri"/>
              </a:rPr>
              <a:t>X %</a:t>
            </a:r>
            <a:endParaRPr/>
          </a:p>
        </p:txBody>
      </p:sp>
      <p:sp>
        <p:nvSpPr>
          <p:cNvPr id="208" name="Google Shape;208;p9"/>
          <p:cNvSpPr txBox="1"/>
          <p:nvPr/>
        </p:nvSpPr>
        <p:spPr>
          <a:xfrm>
            <a:off x="8416881" y="4198315"/>
            <a:ext cx="605076" cy="468641"/>
          </a:xfrm>
          <a:prstGeom prst="rect">
            <a:avLst/>
          </a:prstGeom>
          <a:noFill/>
          <a:ln>
            <a:noFill/>
          </a:ln>
        </p:spPr>
        <p:txBody>
          <a:bodyPr anchorCtr="0" anchor="t" bIns="0" lIns="0" spcFirstLastPara="1" rIns="0" wrap="square" tIns="0">
            <a:spAutoFit/>
          </a:bodyPr>
          <a:lstStyle/>
          <a:p>
            <a:pPr indent="0" lvl="0" marL="0" marR="0" rtl="0" algn="l">
              <a:lnSpc>
                <a:spcPct val="120828"/>
              </a:lnSpc>
              <a:spcBef>
                <a:spcPts val="0"/>
              </a:spcBef>
              <a:spcAft>
                <a:spcPts val="0"/>
              </a:spcAft>
              <a:buNone/>
            </a:pPr>
            <a:r>
              <a:rPr b="1" i="0" lang="en-US" sz="2703" u="none" cap="none" strike="noStrike">
                <a:solidFill>
                  <a:srgbClr val="2F5597"/>
                </a:solidFill>
                <a:latin typeface="Calibri"/>
                <a:ea typeface="Calibri"/>
                <a:cs typeface="Calibri"/>
                <a:sym typeface="Calibri"/>
              </a:rPr>
              <a:t>X%</a:t>
            </a:r>
            <a:endParaRPr/>
          </a:p>
        </p:txBody>
      </p:sp>
      <p:sp>
        <p:nvSpPr>
          <p:cNvPr id="209" name="Google Shape;209;p9"/>
          <p:cNvSpPr txBox="1"/>
          <p:nvPr/>
        </p:nvSpPr>
        <p:spPr>
          <a:xfrm>
            <a:off x="154762" y="6613923"/>
            <a:ext cx="3555273" cy="1901070"/>
          </a:xfrm>
          <a:prstGeom prst="rect">
            <a:avLst/>
          </a:prstGeom>
          <a:noFill/>
          <a:ln>
            <a:noFill/>
          </a:ln>
        </p:spPr>
        <p:txBody>
          <a:bodyPr anchorCtr="0" anchor="t" bIns="0" lIns="0" spcFirstLastPara="1" rIns="0" wrap="square" tIns="0">
            <a:spAutoFit/>
          </a:bodyPr>
          <a:lstStyle/>
          <a:p>
            <a:pPr indent="0" lvl="0" marL="0" marR="0" rtl="0" algn="l">
              <a:lnSpc>
                <a:spcPct val="118480"/>
              </a:lnSpc>
              <a:spcBef>
                <a:spcPts val="0"/>
              </a:spcBef>
              <a:spcAft>
                <a:spcPts val="0"/>
              </a:spcAft>
              <a:buNone/>
            </a:pPr>
            <a:r>
              <a:rPr b="0" i="0" lang="en-US" sz="3041" u="none" cap="none" strike="noStrike">
                <a:solidFill>
                  <a:srgbClr val="000000"/>
                </a:solidFill>
                <a:latin typeface="Calibri"/>
                <a:ea typeface="Calibri"/>
                <a:cs typeface="Calibri"/>
                <a:sym typeface="Calibri"/>
              </a:rPr>
              <a:t>Criterio: “Competente” con X% Porcentaje</a:t>
            </a:r>
            <a:r>
              <a:rPr b="0" i="0" lang="en-US" sz="3041" u="none" cap="none" strike="noStrike">
                <a:solidFill>
                  <a:srgbClr val="FFFFFF"/>
                </a:solidFill>
                <a:latin typeface="Calibri"/>
                <a:ea typeface="Calibri"/>
                <a:cs typeface="Calibri"/>
                <a:sym typeface="Calibri"/>
              </a:rPr>
              <a:t> </a:t>
            </a:r>
            <a:r>
              <a:rPr b="0" i="0" lang="en-US" sz="3041" u="none" cap="none" strike="noStrike">
                <a:solidFill>
                  <a:srgbClr val="000000"/>
                </a:solidFill>
                <a:latin typeface="Calibri"/>
                <a:ea typeface="Calibri"/>
                <a:cs typeface="Calibri"/>
                <a:sym typeface="Calibri"/>
              </a:rPr>
              <a:t>de un total de 100%</a:t>
            </a:r>
            <a:endParaRPr/>
          </a:p>
        </p:txBody>
      </p:sp>
      <p:sp>
        <p:nvSpPr>
          <p:cNvPr id="210" name="Google Shape;210;p9"/>
          <p:cNvSpPr txBox="1"/>
          <p:nvPr/>
        </p:nvSpPr>
        <p:spPr>
          <a:xfrm>
            <a:off x="154762" y="4523327"/>
            <a:ext cx="3853353" cy="1448091"/>
          </a:xfrm>
          <a:prstGeom prst="rect">
            <a:avLst/>
          </a:prstGeom>
          <a:noFill/>
          <a:ln>
            <a:noFill/>
          </a:ln>
        </p:spPr>
        <p:txBody>
          <a:bodyPr anchorCtr="0" anchor="t" bIns="0" lIns="0" spcFirstLastPara="1" rIns="0" wrap="square" tIns="0">
            <a:spAutoFit/>
          </a:bodyPr>
          <a:lstStyle/>
          <a:p>
            <a:pPr indent="0" lvl="0" marL="0" marR="0" rtl="0" algn="l">
              <a:lnSpc>
                <a:spcPct val="118579"/>
              </a:lnSpc>
              <a:spcBef>
                <a:spcPts val="0"/>
              </a:spcBef>
              <a:spcAft>
                <a:spcPts val="0"/>
              </a:spcAft>
              <a:buNone/>
            </a:pPr>
            <a:r>
              <a:rPr b="0" i="0" lang="en-US" sz="3041" u="none" cap="none" strike="noStrike">
                <a:solidFill>
                  <a:srgbClr val="000000"/>
                </a:solidFill>
                <a:latin typeface="Calibri"/>
                <a:ea typeface="Calibri"/>
                <a:cs typeface="Calibri"/>
                <a:sym typeface="Calibri"/>
              </a:rPr>
              <a:t>TE EXPLICAMOS EL TIPO DE EVALUACIONES DURANTE EL CURSO</a:t>
            </a:r>
            <a:endParaRPr/>
          </a:p>
        </p:txBody>
      </p:sp>
      <p:sp>
        <p:nvSpPr>
          <p:cNvPr id="211" name="Google Shape;211;p9"/>
          <p:cNvSpPr txBox="1"/>
          <p:nvPr/>
        </p:nvSpPr>
        <p:spPr>
          <a:xfrm rot="-884793">
            <a:off x="842340" y="440492"/>
            <a:ext cx="2530767" cy="3969749"/>
          </a:xfrm>
          <a:prstGeom prst="rect">
            <a:avLst/>
          </a:prstGeom>
          <a:noFill/>
          <a:ln>
            <a:noFill/>
          </a:ln>
        </p:spPr>
        <p:txBody>
          <a:bodyPr anchorCtr="0" anchor="t" bIns="0" lIns="0" spcFirstLastPara="1" rIns="0" wrap="square" tIns="0">
            <a:spAutoFit/>
          </a:bodyPr>
          <a:lstStyle/>
          <a:p>
            <a:pPr indent="0" lvl="0" marL="0" marR="0" rtl="0" algn="just">
              <a:lnSpc>
                <a:spcPct val="140053"/>
              </a:lnSpc>
              <a:spcBef>
                <a:spcPts val="0"/>
              </a:spcBef>
              <a:spcAft>
                <a:spcPts val="0"/>
              </a:spcAft>
              <a:buNone/>
            </a:pPr>
            <a:r>
              <a:rPr b="1" i="0" lang="en-US" sz="1483" u="none" cap="none" strike="noStrike">
                <a:solidFill>
                  <a:srgbClr val="E4081C"/>
                </a:solidFill>
                <a:latin typeface="Calibri"/>
                <a:ea typeface="Calibri"/>
                <a:cs typeface="Calibri"/>
                <a:sym typeface="Calibri"/>
              </a:rPr>
              <a:t> El instructor especifica el tipo de evaluaciones a realizar, los instrumentos a utilizar, el momento de aplicarlos y los criterios a utilizar y el alcance o propósito de cada evaluación.</a:t>
            </a:r>
            <a:endParaRPr/>
          </a:p>
          <a:p>
            <a:pPr indent="0" lvl="0" marL="0" marR="0" rtl="0" algn="just">
              <a:lnSpc>
                <a:spcPct val="140053"/>
              </a:lnSpc>
              <a:spcBef>
                <a:spcPts val="0"/>
              </a:spcBef>
              <a:spcAft>
                <a:spcPts val="0"/>
              </a:spcAft>
              <a:buNone/>
            </a:pPr>
            <a:r>
              <a:rPr b="1" i="0" lang="en-US" sz="1483" u="none" cap="none" strike="noStrike">
                <a:solidFill>
                  <a:srgbClr val="E4081C"/>
                </a:solidFill>
                <a:latin typeface="Calibri"/>
                <a:ea typeface="Calibri"/>
                <a:cs typeface="Calibri"/>
                <a:sym typeface="Calibri"/>
              </a:rPr>
              <a:t>Evaluación de Diagnóstico (Redactar instrumento) al inicio del Curso-Taller (valor) %</a:t>
            </a:r>
            <a:endParaRPr/>
          </a:p>
          <a:p>
            <a:pPr indent="0" lvl="0" marL="0" marR="0" rtl="0" algn="just">
              <a:lnSpc>
                <a:spcPct val="140053"/>
              </a:lnSpc>
              <a:spcBef>
                <a:spcPts val="0"/>
              </a:spcBef>
              <a:spcAft>
                <a:spcPts val="0"/>
              </a:spcAft>
              <a:buNone/>
            </a:pPr>
            <a:r>
              <a:rPr b="1" i="0" lang="en-US" sz="1483" u="none" cap="none" strike="noStrike">
                <a:solidFill>
                  <a:srgbClr val="E4081C"/>
                </a:solidFill>
                <a:latin typeface="Calibri"/>
                <a:ea typeface="Calibri"/>
                <a:cs typeface="Calibri"/>
                <a:sym typeface="Calibri"/>
              </a:rPr>
              <a:t>Evaluación Formativa (Redactar instrumento) intermedia (valor) %</a:t>
            </a:r>
            <a:endParaRPr/>
          </a:p>
          <a:p>
            <a:pPr indent="0" lvl="0" marL="0" marR="0" rtl="0" algn="just">
              <a:lnSpc>
                <a:spcPct val="140053"/>
              </a:lnSpc>
              <a:spcBef>
                <a:spcPts val="0"/>
              </a:spcBef>
              <a:spcAft>
                <a:spcPts val="0"/>
              </a:spcAft>
              <a:buNone/>
            </a:pPr>
            <a:r>
              <a:rPr b="1" i="0" lang="en-US" sz="1483" u="none" cap="none" strike="noStrike">
                <a:solidFill>
                  <a:srgbClr val="E4081C"/>
                </a:solidFill>
                <a:latin typeface="Calibri"/>
                <a:ea typeface="Calibri"/>
                <a:cs typeface="Calibri"/>
                <a:sym typeface="Calibri"/>
              </a:rPr>
              <a:t>Evaluación final o Sumativa (Redactar instrumento) al final del Curso-Taller. (Valor) %</a:t>
            </a:r>
            <a:endParaRPr/>
          </a:p>
        </p:txBody>
      </p:sp>
      <p:sp>
        <p:nvSpPr>
          <p:cNvPr id="212" name="Google Shape;212;p9"/>
          <p:cNvSpPr txBox="1"/>
          <p:nvPr/>
        </p:nvSpPr>
        <p:spPr>
          <a:xfrm>
            <a:off x="10107413" y="971550"/>
            <a:ext cx="1940128" cy="743038"/>
          </a:xfrm>
          <a:prstGeom prst="rect">
            <a:avLst/>
          </a:prstGeom>
          <a:noFill/>
          <a:ln>
            <a:noFill/>
          </a:ln>
        </p:spPr>
        <p:txBody>
          <a:bodyPr anchorCtr="0" anchor="t" bIns="0" lIns="0" spcFirstLastPara="1" rIns="0" wrap="square" tIns="0">
            <a:spAutoFit/>
          </a:bodyPr>
          <a:lstStyle/>
          <a:p>
            <a:pPr indent="0" lvl="0" marL="0" marR="0" rtl="0" algn="l">
              <a:lnSpc>
                <a:spcPct val="119928"/>
              </a:lnSpc>
              <a:spcBef>
                <a:spcPts val="0"/>
              </a:spcBef>
              <a:spcAft>
                <a:spcPts val="0"/>
              </a:spcAft>
              <a:buNone/>
            </a:pPr>
            <a:r>
              <a:rPr b="1" i="0" lang="en-US" sz="2253" u="none" cap="none" strike="noStrike">
                <a:solidFill>
                  <a:srgbClr val="000000"/>
                </a:solidFill>
                <a:latin typeface="Calibri"/>
                <a:ea typeface="Calibri"/>
                <a:cs typeface="Calibri"/>
                <a:sym typeface="Calibri"/>
              </a:rPr>
              <a:t>P.ej. Cuestionario</a:t>
            </a:r>
            <a:endParaRPr/>
          </a:p>
        </p:txBody>
      </p:sp>
      <p:sp>
        <p:nvSpPr>
          <p:cNvPr id="213" name="Google Shape;213;p9"/>
          <p:cNvSpPr txBox="1"/>
          <p:nvPr/>
        </p:nvSpPr>
        <p:spPr>
          <a:xfrm>
            <a:off x="7085157" y="5365615"/>
            <a:ext cx="1936799" cy="433239"/>
          </a:xfrm>
          <a:prstGeom prst="rect">
            <a:avLst/>
          </a:prstGeom>
          <a:noFill/>
          <a:ln>
            <a:noFill/>
          </a:ln>
        </p:spPr>
        <p:txBody>
          <a:bodyPr anchorCtr="0" anchor="t" bIns="0" lIns="0" spcFirstLastPara="1" rIns="0" wrap="square" tIns="0">
            <a:spAutoFit/>
          </a:bodyPr>
          <a:lstStyle/>
          <a:p>
            <a:pPr indent="0" lvl="0" marL="0" marR="0" rtl="0" algn="l">
              <a:lnSpc>
                <a:spcPct val="141722"/>
              </a:lnSpc>
              <a:spcBef>
                <a:spcPts val="0"/>
              </a:spcBef>
              <a:spcAft>
                <a:spcPts val="0"/>
              </a:spcAft>
              <a:buNone/>
            </a:pPr>
            <a:r>
              <a:rPr b="0" i="0" lang="en-US" sz="2253" u="none" cap="none" strike="noStrike">
                <a:solidFill>
                  <a:srgbClr val="000000"/>
                </a:solidFill>
                <a:latin typeface="Calibri"/>
                <a:ea typeface="Calibri"/>
                <a:cs typeface="Calibri"/>
                <a:sym typeface="Calibri"/>
              </a:rPr>
              <a:t>Tema 2</a:t>
            </a:r>
            <a:endParaRPr/>
          </a:p>
        </p:txBody>
      </p:sp>
      <p:sp>
        <p:nvSpPr>
          <p:cNvPr id="214" name="Google Shape;214;p9"/>
          <p:cNvSpPr txBox="1"/>
          <p:nvPr/>
        </p:nvSpPr>
        <p:spPr>
          <a:xfrm>
            <a:off x="8374504" y="5330212"/>
            <a:ext cx="605076" cy="468641"/>
          </a:xfrm>
          <a:prstGeom prst="rect">
            <a:avLst/>
          </a:prstGeom>
          <a:noFill/>
          <a:ln>
            <a:noFill/>
          </a:ln>
        </p:spPr>
        <p:txBody>
          <a:bodyPr anchorCtr="0" anchor="t" bIns="0" lIns="0" spcFirstLastPara="1" rIns="0" wrap="square" tIns="0">
            <a:spAutoFit/>
          </a:bodyPr>
          <a:lstStyle/>
          <a:p>
            <a:pPr indent="0" lvl="0" marL="0" marR="0" rtl="0" algn="l">
              <a:lnSpc>
                <a:spcPct val="120828"/>
              </a:lnSpc>
              <a:spcBef>
                <a:spcPts val="0"/>
              </a:spcBef>
              <a:spcAft>
                <a:spcPts val="0"/>
              </a:spcAft>
              <a:buNone/>
            </a:pPr>
            <a:r>
              <a:rPr b="1" i="0" lang="en-US" sz="2703" u="none" cap="none" strike="noStrike">
                <a:solidFill>
                  <a:srgbClr val="2F5597"/>
                </a:solidFill>
                <a:latin typeface="Calibri"/>
                <a:ea typeface="Calibri"/>
                <a:cs typeface="Calibri"/>
                <a:sym typeface="Calibri"/>
              </a:rPr>
              <a:t>X%</a:t>
            </a:r>
            <a:endParaRPr/>
          </a:p>
        </p:txBody>
      </p:sp>
      <p:sp>
        <p:nvSpPr>
          <p:cNvPr id="215" name="Google Shape;215;p9"/>
          <p:cNvSpPr txBox="1"/>
          <p:nvPr/>
        </p:nvSpPr>
        <p:spPr>
          <a:xfrm>
            <a:off x="8416881" y="6361711"/>
            <a:ext cx="605076" cy="468641"/>
          </a:xfrm>
          <a:prstGeom prst="rect">
            <a:avLst/>
          </a:prstGeom>
          <a:noFill/>
          <a:ln>
            <a:noFill/>
          </a:ln>
        </p:spPr>
        <p:txBody>
          <a:bodyPr anchorCtr="0" anchor="t" bIns="0" lIns="0" spcFirstLastPara="1" rIns="0" wrap="square" tIns="0">
            <a:spAutoFit/>
          </a:bodyPr>
          <a:lstStyle/>
          <a:p>
            <a:pPr indent="0" lvl="0" marL="0" marR="0" rtl="0" algn="l">
              <a:lnSpc>
                <a:spcPct val="120828"/>
              </a:lnSpc>
              <a:spcBef>
                <a:spcPts val="0"/>
              </a:spcBef>
              <a:spcAft>
                <a:spcPts val="0"/>
              </a:spcAft>
              <a:buNone/>
            </a:pPr>
            <a:r>
              <a:rPr b="1" i="0" lang="en-US" sz="2703" u="none" cap="none" strike="noStrike">
                <a:solidFill>
                  <a:srgbClr val="2F5597"/>
                </a:solidFill>
                <a:latin typeface="Calibri"/>
                <a:ea typeface="Calibri"/>
                <a:cs typeface="Calibri"/>
                <a:sym typeface="Calibri"/>
              </a:rPr>
              <a:t>X%</a:t>
            </a:r>
            <a:endParaRPr/>
          </a:p>
        </p:txBody>
      </p:sp>
      <p:sp>
        <p:nvSpPr>
          <p:cNvPr id="216" name="Google Shape;216;p9"/>
          <p:cNvSpPr txBox="1"/>
          <p:nvPr/>
        </p:nvSpPr>
        <p:spPr>
          <a:xfrm>
            <a:off x="7070284" y="6323611"/>
            <a:ext cx="1936799" cy="433239"/>
          </a:xfrm>
          <a:prstGeom prst="rect">
            <a:avLst/>
          </a:prstGeom>
          <a:noFill/>
          <a:ln>
            <a:noFill/>
          </a:ln>
        </p:spPr>
        <p:txBody>
          <a:bodyPr anchorCtr="0" anchor="t" bIns="0" lIns="0" spcFirstLastPara="1" rIns="0" wrap="square" tIns="0">
            <a:spAutoFit/>
          </a:bodyPr>
          <a:lstStyle/>
          <a:p>
            <a:pPr indent="0" lvl="0" marL="0" marR="0" rtl="0" algn="l">
              <a:lnSpc>
                <a:spcPct val="141722"/>
              </a:lnSpc>
              <a:spcBef>
                <a:spcPts val="0"/>
              </a:spcBef>
              <a:spcAft>
                <a:spcPts val="0"/>
              </a:spcAft>
              <a:buNone/>
            </a:pPr>
            <a:r>
              <a:rPr b="0" i="0" lang="en-US" sz="2253" u="none" cap="none" strike="noStrike">
                <a:solidFill>
                  <a:srgbClr val="000000"/>
                </a:solidFill>
                <a:latin typeface="Calibri"/>
                <a:ea typeface="Calibri"/>
                <a:cs typeface="Calibri"/>
                <a:sym typeface="Calibri"/>
              </a:rPr>
              <a:t>Tema 3</a:t>
            </a:r>
            <a:endParaRPr/>
          </a:p>
        </p:txBody>
      </p:sp>
      <p:sp>
        <p:nvSpPr>
          <p:cNvPr id="217" name="Google Shape;217;p9"/>
          <p:cNvSpPr txBox="1"/>
          <p:nvPr/>
        </p:nvSpPr>
        <p:spPr>
          <a:xfrm>
            <a:off x="9827589" y="1960450"/>
            <a:ext cx="2499777" cy="438022"/>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1" i="0" lang="en-US" sz="2253" u="none" cap="none" strike="noStrike">
                <a:solidFill>
                  <a:srgbClr val="E4081C"/>
                </a:solidFill>
                <a:latin typeface="Calibri"/>
                <a:ea typeface="Calibri"/>
                <a:cs typeface="Calibri"/>
                <a:sym typeface="Calibri"/>
              </a:rPr>
              <a:t>Puedes incluir el link</a:t>
            </a:r>
            <a:endParaRPr/>
          </a:p>
        </p:txBody>
      </p:sp>
      <p:sp>
        <p:nvSpPr>
          <p:cNvPr id="218" name="Google Shape;218;p9"/>
          <p:cNvSpPr txBox="1"/>
          <p:nvPr/>
        </p:nvSpPr>
        <p:spPr>
          <a:xfrm>
            <a:off x="9827589" y="5326472"/>
            <a:ext cx="2499777" cy="438022"/>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1" i="0" lang="en-US" sz="2253" u="none" cap="none" strike="noStrike">
                <a:solidFill>
                  <a:srgbClr val="E4081C"/>
                </a:solidFill>
                <a:latin typeface="Calibri"/>
                <a:ea typeface="Calibri"/>
                <a:cs typeface="Calibri"/>
                <a:sym typeface="Calibri"/>
              </a:rPr>
              <a:t>Puedes incluir el link</a:t>
            </a:r>
            <a:endParaRPr/>
          </a:p>
        </p:txBody>
      </p:sp>
      <p:sp>
        <p:nvSpPr>
          <p:cNvPr id="219" name="Google Shape;219;p9"/>
          <p:cNvSpPr txBox="1"/>
          <p:nvPr/>
        </p:nvSpPr>
        <p:spPr>
          <a:xfrm>
            <a:off x="9851971" y="9302067"/>
            <a:ext cx="2499777" cy="438022"/>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1" i="0" lang="en-US" sz="2253" u="none" cap="none" strike="noStrike">
                <a:solidFill>
                  <a:srgbClr val="E4081C"/>
                </a:solidFill>
                <a:latin typeface="Calibri"/>
                <a:ea typeface="Calibri"/>
                <a:cs typeface="Calibri"/>
                <a:sym typeface="Calibri"/>
              </a:rPr>
              <a:t>Puedes incluir el link</a:t>
            </a:r>
            <a:endParaRPr/>
          </a:p>
        </p:txBody>
      </p:sp>
      <p:sp>
        <p:nvSpPr>
          <p:cNvPr id="220" name="Google Shape;220;p9"/>
          <p:cNvSpPr txBox="1"/>
          <p:nvPr/>
        </p:nvSpPr>
        <p:spPr>
          <a:xfrm>
            <a:off x="15108666" y="5120637"/>
            <a:ext cx="2698318" cy="438200"/>
          </a:xfrm>
          <a:prstGeom prst="rect">
            <a:avLst/>
          </a:prstGeom>
          <a:noFill/>
          <a:ln>
            <a:noFill/>
          </a:ln>
        </p:spPr>
        <p:txBody>
          <a:bodyPr anchorCtr="0" anchor="t" bIns="0" lIns="0" spcFirstLastPara="1" rIns="0" wrap="square" tIns="0">
            <a:spAutoFit/>
          </a:bodyPr>
          <a:lstStyle/>
          <a:p>
            <a:pPr indent="0" lvl="0" marL="0" marR="0" rtl="0" algn="l">
              <a:lnSpc>
                <a:spcPct val="139955"/>
              </a:lnSpc>
              <a:spcBef>
                <a:spcPts val="0"/>
              </a:spcBef>
              <a:spcAft>
                <a:spcPts val="0"/>
              </a:spcAft>
              <a:buNone/>
            </a:pPr>
            <a:r>
              <a:rPr b="0" i="0" lang="en-US" sz="2250" u="none" cap="none" strike="noStrike">
                <a:solidFill>
                  <a:srgbClr val="000000"/>
                </a:solidFill>
                <a:latin typeface="Calibri"/>
                <a:ea typeface="Calibri"/>
                <a:cs typeface="Calibri"/>
                <a:sym typeface="Calibri"/>
              </a:rPr>
              <a:t>Pej. Heteroevaluación</a:t>
            </a:r>
            <a:endParaRPr/>
          </a:p>
        </p:txBody>
      </p:sp>
      <p:sp>
        <p:nvSpPr>
          <p:cNvPr id="221" name="Google Shape;221;p9"/>
          <p:cNvSpPr txBox="1"/>
          <p:nvPr/>
        </p:nvSpPr>
        <p:spPr>
          <a:xfrm>
            <a:off x="15108666" y="9021531"/>
            <a:ext cx="2698318" cy="438200"/>
          </a:xfrm>
          <a:prstGeom prst="rect">
            <a:avLst/>
          </a:prstGeom>
          <a:noFill/>
          <a:ln>
            <a:noFill/>
          </a:ln>
        </p:spPr>
        <p:txBody>
          <a:bodyPr anchorCtr="0" anchor="t" bIns="0" lIns="0" spcFirstLastPara="1" rIns="0" wrap="square" tIns="0">
            <a:spAutoFit/>
          </a:bodyPr>
          <a:lstStyle/>
          <a:p>
            <a:pPr indent="0" lvl="0" marL="0" marR="0" rtl="0" algn="l">
              <a:lnSpc>
                <a:spcPct val="139955"/>
              </a:lnSpc>
              <a:spcBef>
                <a:spcPts val="0"/>
              </a:spcBef>
              <a:spcAft>
                <a:spcPts val="0"/>
              </a:spcAft>
              <a:buNone/>
            </a:pPr>
            <a:r>
              <a:rPr b="0" i="0" lang="en-US" sz="2250" u="none" cap="none" strike="noStrike">
                <a:solidFill>
                  <a:srgbClr val="000000"/>
                </a:solidFill>
                <a:latin typeface="Calibri"/>
                <a:ea typeface="Calibri"/>
                <a:cs typeface="Calibri"/>
                <a:sym typeface="Calibri"/>
              </a:rPr>
              <a:t>Pej. Heteroevaluación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0"/>
          <p:cNvSpPr/>
          <p:nvPr/>
        </p:nvSpPr>
        <p:spPr>
          <a:xfrm>
            <a:off x="703931" y="2125223"/>
            <a:ext cx="16607176" cy="19045"/>
          </a:xfrm>
          <a:custGeom>
            <a:rect b="b" l="l" r="r" t="t"/>
            <a:pathLst>
              <a:path extrusionOk="0" h="19045" w="16607176">
                <a:moveTo>
                  <a:pt x="0" y="0"/>
                </a:moveTo>
                <a:lnTo>
                  <a:pt x="16607175" y="0"/>
                </a:lnTo>
                <a:lnTo>
                  <a:pt x="16607175" y="19045"/>
                </a:lnTo>
                <a:lnTo>
                  <a:pt x="0" y="19045"/>
                </a:lnTo>
                <a:lnTo>
                  <a:pt x="0" y="0"/>
                </a:lnTo>
                <a:close/>
              </a:path>
            </a:pathLst>
          </a:custGeom>
          <a:blipFill rotWithShape="1">
            <a:blip r:embed="rId3">
              <a:alphaModFix/>
            </a:blip>
            <a:stretch>
              <a:fillRect b="0" l="0" r="0" t="0"/>
            </a:stretch>
          </a:blipFill>
          <a:ln>
            <a:noFill/>
          </a:ln>
        </p:spPr>
      </p:sp>
      <p:sp>
        <p:nvSpPr>
          <p:cNvPr id="227" name="Google Shape;227;p10"/>
          <p:cNvSpPr/>
          <p:nvPr/>
        </p:nvSpPr>
        <p:spPr>
          <a:xfrm>
            <a:off x="703931" y="10263340"/>
            <a:ext cx="16607176" cy="19045"/>
          </a:xfrm>
          <a:custGeom>
            <a:rect b="b" l="l" r="r" t="t"/>
            <a:pathLst>
              <a:path extrusionOk="0" h="19045" w="16607176">
                <a:moveTo>
                  <a:pt x="0" y="0"/>
                </a:moveTo>
                <a:lnTo>
                  <a:pt x="16607175" y="0"/>
                </a:lnTo>
                <a:lnTo>
                  <a:pt x="16607175" y="19045"/>
                </a:lnTo>
                <a:lnTo>
                  <a:pt x="0" y="19045"/>
                </a:lnTo>
                <a:lnTo>
                  <a:pt x="0" y="0"/>
                </a:lnTo>
                <a:close/>
              </a:path>
            </a:pathLst>
          </a:custGeom>
          <a:blipFill rotWithShape="1">
            <a:blip r:embed="rId3">
              <a:alphaModFix/>
            </a:blip>
            <a:stretch>
              <a:fillRect b="0" l="0" r="0" t="0"/>
            </a:stretch>
          </a:blipFill>
          <a:ln>
            <a:noFill/>
          </a:ln>
        </p:spPr>
      </p:sp>
      <p:sp>
        <p:nvSpPr>
          <p:cNvPr id="228" name="Google Shape;228;p10"/>
          <p:cNvSpPr/>
          <p:nvPr/>
        </p:nvSpPr>
        <p:spPr>
          <a:xfrm>
            <a:off x="955391" y="4032118"/>
            <a:ext cx="12930145" cy="28575"/>
          </a:xfrm>
          <a:custGeom>
            <a:rect b="b" l="l" r="r" t="t"/>
            <a:pathLst>
              <a:path extrusionOk="0" h="28575" w="12930145">
                <a:moveTo>
                  <a:pt x="0" y="0"/>
                </a:moveTo>
                <a:lnTo>
                  <a:pt x="12930144" y="0"/>
                </a:lnTo>
                <a:lnTo>
                  <a:pt x="12930144" y="28575"/>
                </a:lnTo>
                <a:lnTo>
                  <a:pt x="0" y="28575"/>
                </a:lnTo>
                <a:lnTo>
                  <a:pt x="0" y="0"/>
                </a:lnTo>
                <a:close/>
              </a:path>
            </a:pathLst>
          </a:custGeom>
          <a:blipFill rotWithShape="1">
            <a:blip r:embed="rId4">
              <a:alphaModFix/>
            </a:blip>
            <a:stretch>
              <a:fillRect b="0" l="0" r="0" t="0"/>
            </a:stretch>
          </a:blipFill>
          <a:ln>
            <a:noFill/>
          </a:ln>
        </p:spPr>
      </p:sp>
      <p:sp>
        <p:nvSpPr>
          <p:cNvPr id="229" name="Google Shape;229;p10"/>
          <p:cNvSpPr/>
          <p:nvPr/>
        </p:nvSpPr>
        <p:spPr>
          <a:xfrm>
            <a:off x="1083978" y="8604090"/>
            <a:ext cx="13030157" cy="28575"/>
          </a:xfrm>
          <a:custGeom>
            <a:rect b="b" l="l" r="r" t="t"/>
            <a:pathLst>
              <a:path extrusionOk="0" h="28575" w="13030157">
                <a:moveTo>
                  <a:pt x="0" y="0"/>
                </a:moveTo>
                <a:lnTo>
                  <a:pt x="13030157" y="0"/>
                </a:lnTo>
                <a:lnTo>
                  <a:pt x="13030157" y="28575"/>
                </a:lnTo>
                <a:lnTo>
                  <a:pt x="0" y="28575"/>
                </a:lnTo>
                <a:lnTo>
                  <a:pt x="0" y="0"/>
                </a:lnTo>
                <a:close/>
              </a:path>
            </a:pathLst>
          </a:custGeom>
          <a:blipFill rotWithShape="1">
            <a:blip r:embed="rId5">
              <a:alphaModFix/>
            </a:blip>
            <a:stretch>
              <a:fillRect b="0" l="0" r="0" t="0"/>
            </a:stretch>
          </a:blipFill>
          <a:ln>
            <a:noFill/>
          </a:ln>
        </p:spPr>
      </p:sp>
      <p:sp>
        <p:nvSpPr>
          <p:cNvPr id="230" name="Google Shape;230;p10"/>
          <p:cNvSpPr/>
          <p:nvPr/>
        </p:nvSpPr>
        <p:spPr>
          <a:xfrm>
            <a:off x="5587598" y="2444720"/>
            <a:ext cx="7112403" cy="361202"/>
          </a:xfrm>
          <a:custGeom>
            <a:rect b="b" l="l" r="r" t="t"/>
            <a:pathLst>
              <a:path extrusionOk="0" h="361202" w="7112403">
                <a:moveTo>
                  <a:pt x="0" y="0"/>
                </a:moveTo>
                <a:lnTo>
                  <a:pt x="7112404" y="0"/>
                </a:lnTo>
                <a:lnTo>
                  <a:pt x="7112404" y="361202"/>
                </a:lnTo>
                <a:lnTo>
                  <a:pt x="0" y="361202"/>
                </a:lnTo>
                <a:lnTo>
                  <a:pt x="0" y="0"/>
                </a:lnTo>
                <a:close/>
              </a:path>
            </a:pathLst>
          </a:custGeom>
          <a:blipFill rotWithShape="1">
            <a:blip r:embed="rId6">
              <a:alphaModFix/>
            </a:blip>
            <a:stretch>
              <a:fillRect b="0" l="0" r="0" t="0"/>
            </a:stretch>
          </a:blipFill>
          <a:ln>
            <a:noFill/>
          </a:ln>
        </p:spPr>
      </p:sp>
      <p:sp>
        <p:nvSpPr>
          <p:cNvPr id="231" name="Google Shape;231;p10"/>
          <p:cNvSpPr/>
          <p:nvPr/>
        </p:nvSpPr>
        <p:spPr>
          <a:xfrm>
            <a:off x="9427850" y="3574918"/>
            <a:ext cx="3014662" cy="28575"/>
          </a:xfrm>
          <a:custGeom>
            <a:rect b="b" l="l" r="r" t="t"/>
            <a:pathLst>
              <a:path extrusionOk="0" h="28575" w="3014662">
                <a:moveTo>
                  <a:pt x="0" y="0"/>
                </a:moveTo>
                <a:lnTo>
                  <a:pt x="3014662" y="0"/>
                </a:lnTo>
                <a:lnTo>
                  <a:pt x="3014662" y="28575"/>
                </a:lnTo>
                <a:lnTo>
                  <a:pt x="0" y="28575"/>
                </a:lnTo>
                <a:lnTo>
                  <a:pt x="0" y="0"/>
                </a:lnTo>
                <a:close/>
              </a:path>
            </a:pathLst>
          </a:custGeom>
          <a:blipFill rotWithShape="1">
            <a:blip r:embed="rId7">
              <a:alphaModFix/>
            </a:blip>
            <a:stretch>
              <a:fillRect b="0" l="0" r="0" t="0"/>
            </a:stretch>
          </a:blipFill>
          <a:ln>
            <a:noFill/>
          </a:ln>
        </p:spPr>
      </p:sp>
      <p:sp>
        <p:nvSpPr>
          <p:cNvPr id="232" name="Google Shape;232;p10"/>
          <p:cNvSpPr txBox="1"/>
          <p:nvPr/>
        </p:nvSpPr>
        <p:spPr>
          <a:xfrm>
            <a:off x="1761177" y="303924"/>
            <a:ext cx="15058896" cy="1917040"/>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0" i="0" lang="en-US" sz="9911" u="none" cap="none" strike="noStrike">
                <a:solidFill>
                  <a:srgbClr val="000000"/>
                </a:solidFill>
                <a:latin typeface="Calibri"/>
                <a:ea typeface="Calibri"/>
                <a:cs typeface="Calibri"/>
                <a:sym typeface="Calibri"/>
              </a:rPr>
              <a:t>ACUERDOS Y COMPROMISOS</a:t>
            </a:r>
            <a:endParaRPr/>
          </a:p>
        </p:txBody>
      </p:sp>
      <p:sp>
        <p:nvSpPr>
          <p:cNvPr id="233" name="Google Shape;233;p10"/>
          <p:cNvSpPr txBox="1"/>
          <p:nvPr/>
        </p:nvSpPr>
        <p:spPr>
          <a:xfrm>
            <a:off x="1083978" y="2177646"/>
            <a:ext cx="16506018" cy="4572982"/>
          </a:xfrm>
          <a:prstGeom prst="rect">
            <a:avLst/>
          </a:prstGeom>
          <a:noFill/>
          <a:ln>
            <a:noFill/>
          </a:ln>
        </p:spPr>
        <p:txBody>
          <a:bodyPr anchorCtr="0" anchor="t" bIns="0" lIns="0" spcFirstLastPara="1" rIns="0" wrap="square" tIns="0">
            <a:spAutoFit/>
          </a:bodyPr>
          <a:lstStyle/>
          <a:p>
            <a:pPr indent="0" lvl="0" marL="0" marR="0" rtl="0" algn="just">
              <a:lnSpc>
                <a:spcPct val="250016"/>
              </a:lnSpc>
              <a:spcBef>
                <a:spcPts val="0"/>
              </a:spcBef>
              <a:spcAft>
                <a:spcPts val="0"/>
              </a:spcAft>
              <a:buNone/>
            </a:pPr>
            <a:r>
              <a:rPr b="1" i="0" lang="en-US" sz="3041" u="none" cap="none" strike="noStrike">
                <a:solidFill>
                  <a:srgbClr val="000000"/>
                </a:solidFill>
                <a:latin typeface="Calibri"/>
                <a:ea typeface="Calibri"/>
                <a:cs typeface="Calibri"/>
                <a:sym typeface="Calibri"/>
              </a:rPr>
              <a:t>Les quiero pedir por favor que en 3 minutos redacten </a:t>
            </a:r>
            <a:r>
              <a:rPr b="1" i="1" lang="en-US" sz="3041" u="none" cap="none" strike="noStrike">
                <a:solidFill>
                  <a:srgbClr val="000000"/>
                </a:solidFill>
                <a:latin typeface="Calibri"/>
                <a:ea typeface="Calibri"/>
                <a:cs typeface="Calibri"/>
                <a:sym typeface="Calibri"/>
              </a:rPr>
              <a:t>SUS EXPECTATIVAS </a:t>
            </a:r>
            <a:r>
              <a:rPr b="1" i="0" lang="en-US" sz="3041" u="none" cap="none" strike="noStrike">
                <a:solidFill>
                  <a:srgbClr val="000000"/>
                </a:solidFill>
                <a:latin typeface="Calibri"/>
                <a:ea typeface="Calibri"/>
                <a:cs typeface="Calibri"/>
                <a:sym typeface="Calibri"/>
              </a:rPr>
              <a:t>sobre el curso.</a:t>
            </a:r>
            <a:endParaRPr/>
          </a:p>
          <a:p>
            <a:pPr indent="0" lvl="0" marL="0" marR="0" rtl="0" algn="just">
              <a:lnSpc>
                <a:spcPct val="250016"/>
              </a:lnSpc>
              <a:spcBef>
                <a:spcPts val="0"/>
              </a:spcBef>
              <a:spcAft>
                <a:spcPts val="0"/>
              </a:spcAft>
              <a:buNone/>
            </a:pPr>
            <a:r>
              <a:rPr b="1" i="0" lang="en-US" sz="3041" u="none" cap="none" strike="noStrike">
                <a:solidFill>
                  <a:srgbClr val="000000"/>
                </a:solidFill>
                <a:latin typeface="Calibri"/>
                <a:ea typeface="Calibri"/>
                <a:cs typeface="Calibri"/>
                <a:sym typeface="Calibri"/>
              </a:rPr>
              <a:t> </a:t>
            </a:r>
            <a:endParaRPr/>
          </a:p>
          <a:p>
            <a:pPr indent="0" lvl="0" marL="0" marR="0" rtl="0" algn="just">
              <a:lnSpc>
                <a:spcPct val="250016"/>
              </a:lnSpc>
              <a:spcBef>
                <a:spcPts val="0"/>
              </a:spcBef>
              <a:spcAft>
                <a:spcPts val="0"/>
              </a:spcAft>
              <a:buNone/>
            </a:pPr>
            <a:r>
              <a:rPr b="1" i="0" lang="en-US" sz="3041" u="none" cap="none" strike="noStrike">
                <a:solidFill>
                  <a:srgbClr val="000000"/>
                </a:solidFill>
                <a:latin typeface="Calibri"/>
                <a:ea typeface="Calibri"/>
                <a:cs typeface="Calibri"/>
                <a:sym typeface="Calibri"/>
              </a:rPr>
              <a:t>REGLAS BÁSICAS DE OPERACIÓN DEL CURSO (≤1min)</a:t>
            </a:r>
            <a:endParaRPr/>
          </a:p>
          <a:p>
            <a:pPr indent="0" lvl="0" marL="0" marR="0" rtl="0" algn="just">
              <a:lnSpc>
                <a:spcPct val="49983"/>
              </a:lnSpc>
              <a:spcBef>
                <a:spcPts val="0"/>
              </a:spcBef>
              <a:spcAft>
                <a:spcPts val="0"/>
              </a:spcAft>
              <a:buNone/>
            </a:pPr>
            <a:r>
              <a:rPr b="0" i="0" lang="en-US" sz="3041" u="none" cap="none" strike="noStrike">
                <a:solidFill>
                  <a:srgbClr val="000000"/>
                </a:solidFill>
                <a:latin typeface="Arimo"/>
                <a:ea typeface="Arimo"/>
                <a:cs typeface="Arimo"/>
                <a:sym typeface="Arimo"/>
              </a:rPr>
              <a:t>❑</a:t>
            </a:r>
            <a:endParaRPr/>
          </a:p>
          <a:p>
            <a:pPr indent="0" lvl="0" marL="0" marR="0" rtl="0" algn="just">
              <a:lnSpc>
                <a:spcPct val="187010"/>
              </a:lnSpc>
              <a:spcBef>
                <a:spcPts val="0"/>
              </a:spcBef>
              <a:spcAft>
                <a:spcPts val="0"/>
              </a:spcAft>
              <a:buNone/>
            </a:pPr>
            <a:r>
              <a:rPr b="0" i="0" lang="en-US" sz="3041" u="none" cap="none" strike="noStrike">
                <a:solidFill>
                  <a:srgbClr val="000000"/>
                </a:solidFill>
                <a:latin typeface="Arimo"/>
                <a:ea typeface="Arimo"/>
                <a:cs typeface="Arimo"/>
                <a:sym typeface="Arimo"/>
              </a:rPr>
              <a:t>❑</a:t>
            </a:r>
            <a:endParaRPr/>
          </a:p>
          <a:p>
            <a:pPr indent="0" lvl="0" marL="0" marR="0" rtl="0" algn="just">
              <a:lnSpc>
                <a:spcPct val="187010"/>
              </a:lnSpc>
              <a:spcBef>
                <a:spcPts val="0"/>
              </a:spcBef>
              <a:spcAft>
                <a:spcPts val="0"/>
              </a:spcAft>
              <a:buNone/>
            </a:pPr>
            <a:r>
              <a:rPr b="0" i="0" lang="en-US" sz="3041" u="none" cap="none" strike="noStrike">
                <a:solidFill>
                  <a:srgbClr val="000000"/>
                </a:solidFill>
                <a:latin typeface="Arimo"/>
                <a:ea typeface="Arimo"/>
                <a:cs typeface="Arimo"/>
                <a:sym typeface="Arimo"/>
              </a:rPr>
              <a:t>❑</a:t>
            </a:r>
            <a:endParaRPr/>
          </a:p>
        </p:txBody>
      </p:sp>
      <p:sp>
        <p:nvSpPr>
          <p:cNvPr id="234" name="Google Shape;234;p10"/>
          <p:cNvSpPr txBox="1"/>
          <p:nvPr/>
        </p:nvSpPr>
        <p:spPr>
          <a:xfrm>
            <a:off x="1551044" y="5286375"/>
            <a:ext cx="13112655" cy="1397952"/>
          </a:xfrm>
          <a:prstGeom prst="rect">
            <a:avLst/>
          </a:prstGeom>
          <a:noFill/>
          <a:ln>
            <a:noFill/>
          </a:ln>
        </p:spPr>
        <p:txBody>
          <a:bodyPr anchorCtr="0" anchor="t" bIns="0" lIns="0" spcFirstLastPara="1" rIns="0" wrap="square" tIns="0">
            <a:spAutoFit/>
          </a:bodyPr>
          <a:lstStyle/>
          <a:p>
            <a:pPr indent="0" lvl="0" marL="0" marR="0" rtl="0" algn="l">
              <a:lnSpc>
                <a:spcPct val="49983"/>
              </a:lnSpc>
              <a:spcBef>
                <a:spcPts val="0"/>
              </a:spcBef>
              <a:spcAft>
                <a:spcPts val="0"/>
              </a:spcAft>
              <a:buNone/>
            </a:pPr>
            <a:r>
              <a:rPr b="1" i="0" lang="en-US" sz="2983" u="none" cap="none" strike="noStrike">
                <a:solidFill>
                  <a:srgbClr val="000000"/>
                </a:solidFill>
                <a:latin typeface="Calibri"/>
                <a:ea typeface="Calibri"/>
                <a:cs typeface="Calibri"/>
                <a:sym typeface="Calibri"/>
              </a:rPr>
              <a:t>Puntualidad </a:t>
            </a:r>
            <a:endParaRPr/>
          </a:p>
          <a:p>
            <a:pPr indent="0" lvl="0" marL="0" marR="0" rtl="0" algn="l">
              <a:lnSpc>
                <a:spcPct val="49983"/>
              </a:lnSpc>
              <a:spcBef>
                <a:spcPts val="0"/>
              </a:spcBef>
              <a:spcAft>
                <a:spcPts val="0"/>
              </a:spcAft>
              <a:buNone/>
            </a:pPr>
            <a:r>
              <a:t/>
            </a:r>
            <a:endParaRPr b="1" i="0" sz="2983" u="none" cap="none" strike="noStrike">
              <a:solidFill>
                <a:srgbClr val="000000"/>
              </a:solidFill>
              <a:latin typeface="Calibri"/>
              <a:ea typeface="Calibri"/>
              <a:cs typeface="Calibri"/>
              <a:sym typeface="Calibri"/>
            </a:endParaRPr>
          </a:p>
          <a:p>
            <a:pPr indent="0" lvl="0" marL="0" marR="0" rtl="0" algn="l">
              <a:lnSpc>
                <a:spcPct val="49983"/>
              </a:lnSpc>
              <a:spcBef>
                <a:spcPts val="0"/>
              </a:spcBef>
              <a:spcAft>
                <a:spcPts val="0"/>
              </a:spcAft>
              <a:buNone/>
            </a:pPr>
            <a:r>
              <a:t/>
            </a:r>
            <a:endParaRPr b="1" i="0" sz="2983" u="none" cap="none" strike="noStrike">
              <a:solidFill>
                <a:srgbClr val="000000"/>
              </a:solidFill>
              <a:latin typeface="Calibri"/>
              <a:ea typeface="Calibri"/>
              <a:cs typeface="Calibri"/>
              <a:sym typeface="Calibri"/>
            </a:endParaRPr>
          </a:p>
          <a:p>
            <a:pPr indent="0" lvl="0" marL="0" marR="0" rtl="0" algn="l">
              <a:lnSpc>
                <a:spcPct val="49983"/>
              </a:lnSpc>
              <a:spcBef>
                <a:spcPts val="0"/>
              </a:spcBef>
              <a:spcAft>
                <a:spcPts val="0"/>
              </a:spcAft>
              <a:buNone/>
            </a:pPr>
            <a:r>
              <a:rPr b="1" i="0" lang="en-US" sz="2983" u="none" cap="none" strike="noStrike">
                <a:solidFill>
                  <a:srgbClr val="000000"/>
                </a:solidFill>
                <a:latin typeface="Calibri"/>
                <a:ea typeface="Calibri"/>
                <a:cs typeface="Calibri"/>
                <a:sym typeface="Calibri"/>
              </a:rPr>
              <a:t>Precaución en todo momento del proceso </a:t>
            </a:r>
            <a:endParaRPr/>
          </a:p>
          <a:p>
            <a:pPr indent="0" lvl="0" marL="0" marR="0" rtl="0" algn="l">
              <a:lnSpc>
                <a:spcPct val="49983"/>
              </a:lnSpc>
              <a:spcBef>
                <a:spcPts val="0"/>
              </a:spcBef>
              <a:spcAft>
                <a:spcPts val="0"/>
              </a:spcAft>
              <a:buNone/>
            </a:pPr>
            <a:r>
              <a:t/>
            </a:r>
            <a:endParaRPr b="1" i="0" sz="2983" u="none" cap="none" strike="noStrike">
              <a:solidFill>
                <a:srgbClr val="000000"/>
              </a:solidFill>
              <a:latin typeface="Calibri"/>
              <a:ea typeface="Calibri"/>
              <a:cs typeface="Calibri"/>
              <a:sym typeface="Calibri"/>
            </a:endParaRPr>
          </a:p>
          <a:p>
            <a:pPr indent="0" lvl="0" marL="0" marR="0" rtl="0" algn="l">
              <a:lnSpc>
                <a:spcPct val="49983"/>
              </a:lnSpc>
              <a:spcBef>
                <a:spcPts val="0"/>
              </a:spcBef>
              <a:spcAft>
                <a:spcPts val="0"/>
              </a:spcAft>
              <a:buNone/>
            </a:pPr>
            <a:r>
              <a:t/>
            </a:r>
            <a:endParaRPr b="1" i="0" sz="2983" u="none" cap="none" strike="noStrike">
              <a:solidFill>
                <a:srgbClr val="000000"/>
              </a:solidFill>
              <a:latin typeface="Calibri"/>
              <a:ea typeface="Calibri"/>
              <a:cs typeface="Calibri"/>
              <a:sym typeface="Calibri"/>
            </a:endParaRPr>
          </a:p>
          <a:p>
            <a:pPr indent="0" lvl="0" marL="0" marR="0" rtl="0" algn="l">
              <a:lnSpc>
                <a:spcPct val="49983"/>
              </a:lnSpc>
              <a:spcBef>
                <a:spcPts val="0"/>
              </a:spcBef>
              <a:spcAft>
                <a:spcPts val="0"/>
              </a:spcAft>
              <a:buNone/>
            </a:pPr>
            <a:r>
              <a:rPr b="1" i="0" lang="en-US" sz="2983" u="none" cap="none" strike="noStrike">
                <a:solidFill>
                  <a:srgbClr val="000000"/>
                </a:solidFill>
                <a:latin typeface="Calibri"/>
                <a:ea typeface="Calibri"/>
                <a:cs typeface="Calibri"/>
                <a:sym typeface="Calibri"/>
              </a:rPr>
              <a:t>Respeto a opiniones diversas</a:t>
            </a:r>
            <a:endParaRPr/>
          </a:p>
        </p:txBody>
      </p:sp>
      <p:sp>
        <p:nvSpPr>
          <p:cNvPr id="235" name="Google Shape;235;p10"/>
          <p:cNvSpPr txBox="1"/>
          <p:nvPr/>
        </p:nvSpPr>
        <p:spPr>
          <a:xfrm>
            <a:off x="955391" y="6661640"/>
            <a:ext cx="5820413" cy="1195568"/>
          </a:xfrm>
          <a:prstGeom prst="rect">
            <a:avLst/>
          </a:prstGeom>
          <a:noFill/>
          <a:ln>
            <a:noFill/>
          </a:ln>
        </p:spPr>
        <p:txBody>
          <a:bodyPr anchorCtr="0" anchor="t" bIns="0" lIns="0" spcFirstLastPara="1" rIns="0" wrap="square" tIns="0">
            <a:spAutoFit/>
          </a:bodyPr>
          <a:lstStyle/>
          <a:p>
            <a:pPr indent="0" lvl="0" marL="0" marR="0" rtl="0" algn="l">
              <a:lnSpc>
                <a:spcPct val="250016"/>
              </a:lnSpc>
              <a:spcBef>
                <a:spcPts val="0"/>
              </a:spcBef>
              <a:spcAft>
                <a:spcPts val="0"/>
              </a:spcAft>
              <a:buNone/>
            </a:pPr>
            <a:r>
              <a:rPr b="1" i="0" lang="en-US" sz="3041" u="none" cap="none" strike="noStrike">
                <a:solidFill>
                  <a:srgbClr val="000000"/>
                </a:solidFill>
                <a:latin typeface="Calibri"/>
                <a:ea typeface="Calibri"/>
                <a:cs typeface="Calibri"/>
                <a:sym typeface="Calibri"/>
              </a:rPr>
              <a:t>CONTRATO DE APRENDIZAJE (3 min)</a:t>
            </a:r>
            <a:endParaRPr/>
          </a:p>
          <a:p>
            <a:pPr indent="0" lvl="0" marL="0" marR="0" rtl="0" algn="l">
              <a:lnSpc>
                <a:spcPct val="49983"/>
              </a:lnSpc>
              <a:spcBef>
                <a:spcPts val="0"/>
              </a:spcBef>
              <a:spcAft>
                <a:spcPts val="0"/>
              </a:spcAft>
              <a:buNone/>
            </a:pPr>
            <a:r>
              <a:rPr b="0" i="0" lang="en-US" sz="3041" u="none" cap="none" strike="noStrike">
                <a:solidFill>
                  <a:srgbClr val="000000"/>
                </a:solidFill>
                <a:latin typeface="Arimo"/>
                <a:ea typeface="Arimo"/>
                <a:cs typeface="Arimo"/>
                <a:sym typeface="Arimo"/>
              </a:rPr>
              <a:t>❑</a:t>
            </a:r>
            <a:endParaRPr/>
          </a:p>
        </p:txBody>
      </p:sp>
      <p:sp>
        <p:nvSpPr>
          <p:cNvPr id="236" name="Google Shape;236;p10"/>
          <p:cNvSpPr txBox="1"/>
          <p:nvPr/>
        </p:nvSpPr>
        <p:spPr>
          <a:xfrm>
            <a:off x="1551044" y="7757015"/>
            <a:ext cx="14630343" cy="772606"/>
          </a:xfrm>
          <a:prstGeom prst="rect">
            <a:avLst/>
          </a:prstGeom>
          <a:noFill/>
          <a:ln>
            <a:noFill/>
          </a:ln>
        </p:spPr>
        <p:txBody>
          <a:bodyPr anchorCtr="0" anchor="t" bIns="0" lIns="0" spcFirstLastPara="1" rIns="0" wrap="square" tIns="0">
            <a:spAutoFit/>
          </a:bodyPr>
          <a:lstStyle/>
          <a:p>
            <a:pPr indent="0" lvl="0" marL="0" marR="0" rtl="0" algn="l">
              <a:lnSpc>
                <a:spcPct val="49983"/>
              </a:lnSpc>
              <a:spcBef>
                <a:spcPts val="0"/>
              </a:spcBef>
              <a:spcAft>
                <a:spcPts val="0"/>
              </a:spcAft>
              <a:buNone/>
            </a:pPr>
            <a:r>
              <a:rPr b="1" i="0" lang="en-US" sz="3041" u="none" cap="none" strike="noStrike">
                <a:solidFill>
                  <a:srgbClr val="000000"/>
                </a:solidFill>
                <a:latin typeface="Calibri"/>
                <a:ea typeface="Calibri"/>
                <a:cs typeface="Calibri"/>
                <a:sym typeface="Calibri"/>
              </a:rPr>
              <a:t>Nos servirá para maximizar tiempo y recursos para la mejor adquisición de la competencia.</a:t>
            </a:r>
            <a:endParaRPr/>
          </a:p>
          <a:p>
            <a:pPr indent="0" lvl="0" marL="0" marR="0" rtl="0" algn="l">
              <a:lnSpc>
                <a:spcPct val="187010"/>
              </a:lnSpc>
              <a:spcBef>
                <a:spcPts val="0"/>
              </a:spcBef>
              <a:spcAft>
                <a:spcPts val="0"/>
              </a:spcAft>
              <a:buNone/>
            </a:pPr>
            <a:r>
              <a:rPr b="1" i="0" lang="en-US" sz="3041" u="none" cap="none" strike="noStrike">
                <a:solidFill>
                  <a:srgbClr val="000000"/>
                </a:solidFill>
                <a:latin typeface="Calibri"/>
                <a:ea typeface="Calibri"/>
                <a:cs typeface="Calibri"/>
                <a:sym typeface="Calibri"/>
              </a:rPr>
              <a:t>3 minutospara llenarlo</a:t>
            </a:r>
            <a:endParaRPr/>
          </a:p>
        </p:txBody>
      </p:sp>
      <p:sp>
        <p:nvSpPr>
          <p:cNvPr id="237" name="Google Shape;237;p10"/>
          <p:cNvSpPr txBox="1"/>
          <p:nvPr/>
        </p:nvSpPr>
        <p:spPr>
          <a:xfrm rot="-884793">
            <a:off x="224081" y="2108258"/>
            <a:ext cx="1801001" cy="562388"/>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None/>
            </a:pPr>
            <a:r>
              <a:rPr b="1" i="0" lang="en-US" sz="2983" u="none" cap="none" strike="noStrike">
                <a:solidFill>
                  <a:srgbClr val="E4081C"/>
                </a:solidFill>
                <a:latin typeface="Calibri"/>
                <a:ea typeface="Calibri"/>
                <a:cs typeface="Calibri"/>
                <a:sym typeface="Calibri"/>
              </a:rPr>
              <a:t>EJEMPLO</a:t>
            </a:r>
            <a:endParaRPr/>
          </a:p>
        </p:txBody>
      </p:sp>
      <p:sp>
        <p:nvSpPr>
          <p:cNvPr id="238" name="Google Shape;238;p10"/>
          <p:cNvSpPr txBox="1"/>
          <p:nvPr/>
        </p:nvSpPr>
        <p:spPr>
          <a:xfrm>
            <a:off x="1083978" y="3395523"/>
            <a:ext cx="16506018" cy="665131"/>
          </a:xfrm>
          <a:prstGeom prst="rect">
            <a:avLst/>
          </a:prstGeom>
          <a:noFill/>
          <a:ln>
            <a:noFill/>
          </a:ln>
        </p:spPr>
        <p:txBody>
          <a:bodyPr anchorCtr="0" anchor="t" bIns="0" lIns="0" spcFirstLastPara="1" rIns="0" wrap="square" tIns="0">
            <a:spAutoFit/>
          </a:bodyPr>
          <a:lstStyle/>
          <a:p>
            <a:pPr indent="0" lvl="0" marL="0" marR="0" rtl="0" algn="just">
              <a:lnSpc>
                <a:spcPct val="187010"/>
              </a:lnSpc>
              <a:spcBef>
                <a:spcPts val="0"/>
              </a:spcBef>
              <a:spcAft>
                <a:spcPts val="0"/>
              </a:spcAft>
              <a:buNone/>
            </a:pPr>
            <a:r>
              <a:rPr b="1" i="0" lang="en-US" sz="3041" u="sng" cap="none" strike="noStrike">
                <a:solidFill>
                  <a:srgbClr val="203864"/>
                </a:solidFill>
                <a:latin typeface="Arimo"/>
                <a:ea typeface="Arimo"/>
                <a:cs typeface="Arimo"/>
                <a:sym typeface="Arimo"/>
                <a:hlinkClick r:id="rId8">
                  <a:extLst>
                    <a:ext uri="{A12FA001-AC4F-418D-AE19-62706E023703}">
                      <ahyp:hlinkClr val="tx"/>
                    </a:ext>
                  </a:extLst>
                </a:hlinkClick>
              </a:rPr>
              <a:t>https://perti.pertinentia.com/EncuestaExpectativasdeCurso</a:t>
            </a:r>
            <a:endParaRPr/>
          </a:p>
        </p:txBody>
      </p:sp>
      <p:sp>
        <p:nvSpPr>
          <p:cNvPr id="239" name="Google Shape;239;p10"/>
          <p:cNvSpPr txBox="1"/>
          <p:nvPr/>
        </p:nvSpPr>
        <p:spPr>
          <a:xfrm>
            <a:off x="931932" y="8623140"/>
            <a:ext cx="9957595" cy="566353"/>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200" u="sng" cap="none" strike="noStrike">
                <a:solidFill>
                  <a:srgbClr val="203864"/>
                </a:solidFill>
                <a:latin typeface="Arimo"/>
                <a:ea typeface="Arimo"/>
                <a:cs typeface="Arimo"/>
                <a:sym typeface="Arimo"/>
                <a:hlinkClick r:id="rId9">
                  <a:extLst>
                    <a:ext uri="{A12FA001-AC4F-418D-AE19-62706E023703}">
                      <ahyp:hlinkClr val="tx"/>
                    </a:ext>
                  </a:extLst>
                </a:hlinkClick>
              </a:rPr>
              <a:t>https://perti.pertinentia.com/ContratodeAprendizaje</a:t>
            </a:r>
            <a:endParaRPr/>
          </a:p>
        </p:txBody>
      </p:sp>
      <p:sp>
        <p:nvSpPr>
          <p:cNvPr id="240" name="Google Shape;240;p10"/>
          <p:cNvSpPr txBox="1"/>
          <p:nvPr/>
        </p:nvSpPr>
        <p:spPr>
          <a:xfrm>
            <a:off x="11866215" y="9851865"/>
            <a:ext cx="5082674" cy="322804"/>
          </a:xfrm>
          <a:prstGeom prst="rect">
            <a:avLst/>
          </a:prstGeom>
          <a:noFill/>
          <a:ln>
            <a:noFill/>
          </a:ln>
        </p:spPr>
        <p:txBody>
          <a:bodyPr anchorCtr="0" anchor="t" bIns="0" lIns="0" spcFirstLastPara="1" rIns="0" wrap="square" tIns="0">
            <a:spAutoFit/>
          </a:bodyPr>
          <a:lstStyle/>
          <a:p>
            <a:pPr indent="0" lvl="0" marL="0" marR="0" rtl="0" algn="l">
              <a:lnSpc>
                <a:spcPct val="49983"/>
              </a:lnSpc>
              <a:spcBef>
                <a:spcPts val="0"/>
              </a:spcBef>
              <a:spcAft>
                <a:spcPts val="0"/>
              </a:spcAft>
              <a:buNone/>
            </a:pPr>
            <a:r>
              <a:rPr b="1" i="0" lang="en-US" sz="3041" u="none" cap="none" strike="noStrike">
                <a:solidFill>
                  <a:srgbClr val="000000"/>
                </a:solidFill>
                <a:latin typeface="Calibri"/>
                <a:ea typeface="Calibri"/>
                <a:cs typeface="Calibri"/>
                <a:sym typeface="Calibri"/>
              </a:rPr>
              <a:t>¿ALGUNA DUDA HASTA AQUÍ?</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8CACA"/>
        </a:solidFill>
      </p:bgPr>
    </p:bg>
    <p:spTree>
      <p:nvGrpSpPr>
        <p:cNvPr id="244" name="Shape 244"/>
        <p:cNvGrpSpPr/>
        <p:nvPr/>
      </p:nvGrpSpPr>
      <p:grpSpPr>
        <a:xfrm>
          <a:off x="0" y="0"/>
          <a:ext cx="0" cy="0"/>
          <a:chOff x="0" y="0"/>
          <a:chExt cx="0" cy="0"/>
        </a:xfrm>
      </p:grpSpPr>
      <p:sp>
        <p:nvSpPr>
          <p:cNvPr id="245" name="Google Shape;245;p11"/>
          <p:cNvSpPr/>
          <p:nvPr/>
        </p:nvSpPr>
        <p:spPr>
          <a:xfrm>
            <a:off x="871538" y="885725"/>
            <a:ext cx="16580787" cy="8579787"/>
          </a:xfrm>
          <a:custGeom>
            <a:rect b="b" l="l" r="r" t="t"/>
            <a:pathLst>
              <a:path extrusionOk="0" h="7626477" w="14738477">
                <a:moveTo>
                  <a:pt x="14649577" y="69977"/>
                </a:moveTo>
                <a:lnTo>
                  <a:pt x="14649577" y="7512177"/>
                </a:lnTo>
                <a:lnTo>
                  <a:pt x="95250" y="7512177"/>
                </a:lnTo>
                <a:lnTo>
                  <a:pt x="95250" y="69977"/>
                </a:lnTo>
                <a:close/>
                <a:moveTo>
                  <a:pt x="0" y="0"/>
                </a:moveTo>
                <a:lnTo>
                  <a:pt x="0" y="7626477"/>
                </a:lnTo>
                <a:lnTo>
                  <a:pt x="14738477" y="7626477"/>
                </a:lnTo>
                <a:lnTo>
                  <a:pt x="14738477" y="0"/>
                </a:lnTo>
                <a:close/>
              </a:path>
            </a:pathLst>
          </a:custGeom>
          <a:blipFill rotWithShape="1">
            <a:blip r:embed="rId3">
              <a:alphaModFix/>
            </a:blip>
            <a:stretch>
              <a:fillRect b="0" l="0" r="0" t="0"/>
            </a:stretch>
          </a:blipFill>
          <a:ln>
            <a:noFill/>
          </a:ln>
        </p:spPr>
      </p:sp>
      <p:sp>
        <p:nvSpPr>
          <p:cNvPr id="246" name="Google Shape;246;p11"/>
          <p:cNvSpPr/>
          <p:nvPr/>
        </p:nvSpPr>
        <p:spPr>
          <a:xfrm>
            <a:off x="876295" y="862008"/>
            <a:ext cx="16578258" cy="8577258"/>
          </a:xfrm>
          <a:custGeom>
            <a:rect b="b" l="l" r="r" t="t"/>
            <a:pathLst>
              <a:path extrusionOk="0" h="8577258" w="16578258">
                <a:moveTo>
                  <a:pt x="0" y="0"/>
                </a:moveTo>
                <a:lnTo>
                  <a:pt x="16578258" y="0"/>
                </a:lnTo>
                <a:lnTo>
                  <a:pt x="16578258" y="8577257"/>
                </a:lnTo>
                <a:lnTo>
                  <a:pt x="0" y="8577257"/>
                </a:lnTo>
                <a:lnTo>
                  <a:pt x="0" y="0"/>
                </a:lnTo>
                <a:close/>
              </a:path>
            </a:pathLst>
          </a:custGeom>
          <a:blipFill rotWithShape="1">
            <a:blip r:embed="rId4">
              <a:alphaModFix/>
            </a:blip>
            <a:stretch>
              <a:fillRect b="0" l="0" r="0" t="0"/>
            </a:stretch>
          </a:blipFill>
          <a:ln>
            <a:noFill/>
          </a:ln>
        </p:spPr>
      </p:sp>
      <p:sp>
        <p:nvSpPr>
          <p:cNvPr id="247" name="Google Shape;247;p11"/>
          <p:cNvSpPr txBox="1"/>
          <p:nvPr/>
        </p:nvSpPr>
        <p:spPr>
          <a:xfrm>
            <a:off x="2318004" y="1780132"/>
            <a:ext cx="8574000" cy="1161407"/>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5969" u="none" cap="none" strike="noStrike">
                <a:solidFill>
                  <a:srgbClr val="000000"/>
                </a:solidFill>
                <a:latin typeface="Calibri"/>
                <a:ea typeface="Calibri"/>
                <a:cs typeface="Calibri"/>
                <a:sym typeface="Calibri"/>
              </a:rPr>
              <a:t>EVALUACIÓN DIAGNÓSTICA</a:t>
            </a:r>
            <a:endParaRPr/>
          </a:p>
        </p:txBody>
      </p:sp>
      <p:sp>
        <p:nvSpPr>
          <p:cNvPr id="248" name="Google Shape;248;p11"/>
          <p:cNvSpPr txBox="1"/>
          <p:nvPr/>
        </p:nvSpPr>
        <p:spPr>
          <a:xfrm>
            <a:off x="11411526" y="1780132"/>
            <a:ext cx="1319336" cy="1153188"/>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5969" u="none" cap="none" strike="noStrike">
                <a:solidFill>
                  <a:srgbClr val="000000"/>
                </a:solidFill>
                <a:latin typeface="Calibri"/>
                <a:ea typeface="Calibri"/>
                <a:cs typeface="Calibri"/>
                <a:sym typeface="Calibri"/>
              </a:rPr>
              <a:t>X%</a:t>
            </a:r>
            <a:endParaRPr/>
          </a:p>
        </p:txBody>
      </p:sp>
      <p:sp>
        <p:nvSpPr>
          <p:cNvPr id="249" name="Google Shape;249;p11"/>
          <p:cNvSpPr txBox="1"/>
          <p:nvPr/>
        </p:nvSpPr>
        <p:spPr>
          <a:xfrm>
            <a:off x="2318004" y="4038157"/>
            <a:ext cx="97084" cy="368322"/>
          </a:xfrm>
          <a:prstGeom prst="rect">
            <a:avLst/>
          </a:prstGeom>
          <a:noFill/>
          <a:ln>
            <a:noFill/>
          </a:ln>
        </p:spPr>
        <p:txBody>
          <a:bodyPr anchorCtr="0" anchor="t" bIns="0" lIns="0" spcFirstLastPara="1" rIns="0" wrap="square" tIns="0">
            <a:spAutoFit/>
          </a:bodyPr>
          <a:lstStyle/>
          <a:p>
            <a:pPr indent="0" lvl="0" marL="0" marR="0" rtl="0" algn="l">
              <a:lnSpc>
                <a:spcPct val="139981"/>
              </a:lnSpc>
              <a:spcBef>
                <a:spcPts val="0"/>
              </a:spcBef>
              <a:spcAft>
                <a:spcPts val="0"/>
              </a:spcAft>
              <a:buNone/>
            </a:pPr>
            <a:r>
              <a:rPr b="0" i="0" lang="en-US" sz="2141" u="none" cap="none" strike="noStrike">
                <a:solidFill>
                  <a:srgbClr val="000000"/>
                </a:solidFill>
                <a:latin typeface="IBM Plex Sans Condensed"/>
                <a:ea typeface="IBM Plex Sans Condensed"/>
                <a:cs typeface="IBM Plex Sans Condensed"/>
                <a:sym typeface="IBM Plex Sans Condensed"/>
              </a:rPr>
              <a:t>•</a:t>
            </a:r>
            <a:endParaRPr/>
          </a:p>
        </p:txBody>
      </p:sp>
      <p:sp>
        <p:nvSpPr>
          <p:cNvPr id="250" name="Google Shape;250;p11"/>
          <p:cNvSpPr txBox="1"/>
          <p:nvPr/>
        </p:nvSpPr>
        <p:spPr>
          <a:xfrm>
            <a:off x="2318004" y="4996934"/>
            <a:ext cx="97084" cy="368322"/>
          </a:xfrm>
          <a:prstGeom prst="rect">
            <a:avLst/>
          </a:prstGeom>
          <a:noFill/>
          <a:ln>
            <a:noFill/>
          </a:ln>
        </p:spPr>
        <p:txBody>
          <a:bodyPr anchorCtr="0" anchor="t" bIns="0" lIns="0" spcFirstLastPara="1" rIns="0" wrap="square" tIns="0">
            <a:spAutoFit/>
          </a:bodyPr>
          <a:lstStyle/>
          <a:p>
            <a:pPr indent="0" lvl="0" marL="0" marR="0" rtl="0" algn="l">
              <a:lnSpc>
                <a:spcPct val="139981"/>
              </a:lnSpc>
              <a:spcBef>
                <a:spcPts val="0"/>
              </a:spcBef>
              <a:spcAft>
                <a:spcPts val="0"/>
              </a:spcAft>
              <a:buNone/>
            </a:pPr>
            <a:r>
              <a:rPr b="0" i="0" lang="en-US" sz="2141" u="none" cap="none" strike="noStrike">
                <a:solidFill>
                  <a:srgbClr val="000000"/>
                </a:solidFill>
                <a:latin typeface="IBM Plex Sans Condensed"/>
                <a:ea typeface="IBM Plex Sans Condensed"/>
                <a:cs typeface="IBM Plex Sans Condensed"/>
                <a:sym typeface="IBM Plex Sans Condensed"/>
              </a:rPr>
              <a:t>•</a:t>
            </a:r>
            <a:endParaRPr/>
          </a:p>
        </p:txBody>
      </p:sp>
      <p:sp>
        <p:nvSpPr>
          <p:cNvPr id="251" name="Google Shape;251;p11"/>
          <p:cNvSpPr txBox="1"/>
          <p:nvPr/>
        </p:nvSpPr>
        <p:spPr>
          <a:xfrm>
            <a:off x="2661290" y="4961644"/>
            <a:ext cx="5821599" cy="403941"/>
          </a:xfrm>
          <a:prstGeom prst="rect">
            <a:avLst/>
          </a:prstGeom>
          <a:noFill/>
          <a:ln>
            <a:noFill/>
          </a:ln>
        </p:spPr>
        <p:txBody>
          <a:bodyPr anchorCtr="0" anchor="t" bIns="0" lIns="0" spcFirstLastPara="1" rIns="0" wrap="square" tIns="0">
            <a:spAutoFit/>
          </a:bodyPr>
          <a:lstStyle/>
          <a:p>
            <a:pPr indent="0" lvl="0" marL="0" marR="0" rtl="0" algn="l">
              <a:lnSpc>
                <a:spcPct val="139981"/>
              </a:lnSpc>
              <a:spcBef>
                <a:spcPts val="0"/>
              </a:spcBef>
              <a:spcAft>
                <a:spcPts val="0"/>
              </a:spcAft>
              <a:buNone/>
            </a:pPr>
            <a:r>
              <a:rPr b="0" i="0" lang="en-US" sz="2141" u="none" cap="none" strike="noStrike">
                <a:solidFill>
                  <a:srgbClr val="000000"/>
                </a:solidFill>
                <a:latin typeface="Calibri"/>
                <a:ea typeface="Calibri"/>
                <a:cs typeface="Calibri"/>
                <a:sym typeface="Calibri"/>
              </a:rPr>
              <a:t>TIENES 5 MINUTOS PARA CONCLUIR ESTA ACTIVIDAD</a:t>
            </a:r>
            <a:endParaRPr/>
          </a:p>
        </p:txBody>
      </p:sp>
      <p:sp>
        <p:nvSpPr>
          <p:cNvPr id="252" name="Google Shape;252;p11"/>
          <p:cNvSpPr txBox="1"/>
          <p:nvPr/>
        </p:nvSpPr>
        <p:spPr>
          <a:xfrm>
            <a:off x="2661290" y="4002867"/>
            <a:ext cx="7380027" cy="393387"/>
          </a:xfrm>
          <a:prstGeom prst="rect">
            <a:avLst/>
          </a:prstGeom>
          <a:noFill/>
          <a:ln>
            <a:noFill/>
          </a:ln>
        </p:spPr>
        <p:txBody>
          <a:bodyPr anchorCtr="0" anchor="t" bIns="0" lIns="0" spcFirstLastPara="1" rIns="0" wrap="square" tIns="0">
            <a:spAutoFit/>
          </a:bodyPr>
          <a:lstStyle/>
          <a:p>
            <a:pPr indent="0" lvl="0" marL="0" marR="0" rtl="0" algn="l">
              <a:lnSpc>
                <a:spcPct val="139981"/>
              </a:lnSpc>
              <a:spcBef>
                <a:spcPts val="0"/>
              </a:spcBef>
              <a:spcAft>
                <a:spcPts val="0"/>
              </a:spcAft>
              <a:buNone/>
            </a:pPr>
            <a:r>
              <a:rPr b="0" i="0" lang="en-US" sz="2141" u="none" cap="none" strike="noStrike">
                <a:solidFill>
                  <a:srgbClr val="000000"/>
                </a:solidFill>
                <a:latin typeface="Calibri"/>
                <a:ea typeface="Calibri"/>
                <a:cs typeface="Calibri"/>
                <a:sym typeface="Calibri"/>
              </a:rPr>
              <a:t>Para ubicar a los participantes de manera personalizada.</a:t>
            </a:r>
            <a:endParaRPr/>
          </a:p>
        </p:txBody>
      </p:sp>
      <p:sp>
        <p:nvSpPr>
          <p:cNvPr id="253" name="Google Shape;253;p11"/>
          <p:cNvSpPr txBox="1"/>
          <p:nvPr/>
        </p:nvSpPr>
        <p:spPr>
          <a:xfrm>
            <a:off x="12211426" y="7887219"/>
            <a:ext cx="3928720" cy="589883"/>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1" lang="en-US" sz="3044" u="none" cap="none" strike="noStrike">
                <a:solidFill>
                  <a:srgbClr val="000000"/>
                </a:solidFill>
                <a:latin typeface="Calibri"/>
                <a:ea typeface="Calibri"/>
                <a:cs typeface="Calibri"/>
                <a:sym typeface="Calibri"/>
              </a:rPr>
              <a:t>CONCLUSIÓN ENCUADRE</a:t>
            </a:r>
            <a:endParaRPr/>
          </a:p>
        </p:txBody>
      </p:sp>
      <p:sp>
        <p:nvSpPr>
          <p:cNvPr id="254" name="Google Shape;254;p11"/>
          <p:cNvSpPr txBox="1"/>
          <p:nvPr/>
        </p:nvSpPr>
        <p:spPr>
          <a:xfrm rot="-884793">
            <a:off x="884358" y="3173841"/>
            <a:ext cx="1801001" cy="562388"/>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None/>
            </a:pPr>
            <a:r>
              <a:rPr b="1" i="0" lang="en-US" sz="2983" u="none" cap="none" strike="noStrike">
                <a:solidFill>
                  <a:srgbClr val="E4081C"/>
                </a:solidFill>
                <a:latin typeface="Calibri"/>
                <a:ea typeface="Calibri"/>
                <a:cs typeface="Calibri"/>
                <a:sym typeface="Calibri"/>
              </a:rPr>
              <a:t>EJEMPLO</a:t>
            </a:r>
            <a:endParaRPr/>
          </a:p>
        </p:txBody>
      </p:sp>
      <p:sp>
        <p:nvSpPr>
          <p:cNvPr id="255" name="Google Shape;255;p11"/>
          <p:cNvSpPr/>
          <p:nvPr/>
        </p:nvSpPr>
        <p:spPr>
          <a:xfrm>
            <a:off x="13893619" y="6553004"/>
            <a:ext cx="1554113" cy="1458041"/>
          </a:xfrm>
          <a:custGeom>
            <a:rect b="b" l="l" r="r" t="t"/>
            <a:pathLst>
              <a:path extrusionOk="0" h="1458041" w="1554113">
                <a:moveTo>
                  <a:pt x="0" y="0"/>
                </a:moveTo>
                <a:lnTo>
                  <a:pt x="1554113" y="0"/>
                </a:lnTo>
                <a:lnTo>
                  <a:pt x="1554113" y="1458040"/>
                </a:lnTo>
                <a:lnTo>
                  <a:pt x="0" y="1458040"/>
                </a:lnTo>
                <a:lnTo>
                  <a:pt x="0" y="0"/>
                </a:lnTo>
                <a:close/>
              </a:path>
            </a:pathLst>
          </a:custGeom>
          <a:blipFill rotWithShape="1">
            <a:blip r:embed="rId5">
              <a:alphaModFix/>
            </a:blip>
            <a:stretch>
              <a:fillRect b="0" l="0" r="0" t="0"/>
            </a:stretch>
          </a:blipFill>
          <a:ln>
            <a:noFill/>
          </a:ln>
        </p:spPr>
      </p:sp>
      <p:sp>
        <p:nvSpPr>
          <p:cNvPr id="256" name="Google Shape;256;p11"/>
          <p:cNvSpPr txBox="1"/>
          <p:nvPr/>
        </p:nvSpPr>
        <p:spPr>
          <a:xfrm>
            <a:off x="2366546" y="5918035"/>
            <a:ext cx="9383700" cy="329700"/>
          </a:xfrm>
          <a:prstGeom prst="rect">
            <a:avLst/>
          </a:prstGeom>
          <a:noFill/>
          <a:ln>
            <a:noFill/>
          </a:ln>
        </p:spPr>
        <p:txBody>
          <a:bodyPr anchorCtr="0" anchor="t" bIns="0" lIns="0" spcFirstLastPara="1" rIns="0" wrap="square" tIns="0">
            <a:spAutoFit/>
          </a:bodyPr>
          <a:lstStyle/>
          <a:p>
            <a:pPr indent="0" lvl="0" marL="0" marR="0" rtl="0" algn="l">
              <a:lnSpc>
                <a:spcPct val="139981"/>
              </a:lnSpc>
              <a:spcBef>
                <a:spcPts val="0"/>
              </a:spcBef>
              <a:spcAft>
                <a:spcPts val="0"/>
              </a:spcAft>
              <a:buNone/>
            </a:pPr>
            <a:r>
              <a:rPr b="0" i="0" lang="en-US" sz="2141" u="none" cap="none" strike="noStrike">
                <a:solidFill>
                  <a:srgbClr val="0563C1"/>
                </a:solidFill>
                <a:latin typeface="Calibri"/>
                <a:ea typeface="Calibri"/>
                <a:cs typeface="Calibri"/>
                <a:sym typeface="Calibri"/>
              </a:rPr>
              <a:t>Puedes incluir aquí el link de la evaluación </a:t>
            </a:r>
            <a:r>
              <a:rPr lang="en-US" sz="2141">
                <a:solidFill>
                  <a:srgbClr val="0563C1"/>
                </a:solidFill>
                <a:latin typeface="Calibri"/>
                <a:ea typeface="Calibri"/>
                <a:cs typeface="Calibri"/>
                <a:sym typeface="Calibri"/>
              </a:rPr>
              <a:t>diagnóstica</a:t>
            </a:r>
            <a:r>
              <a:rPr b="0" i="0" lang="en-US" sz="2141" u="none" cap="none" strike="noStrike">
                <a:solidFill>
                  <a:srgbClr val="0563C1"/>
                </a:solidFill>
                <a:latin typeface="Calibri"/>
                <a:ea typeface="Calibri"/>
                <a:cs typeface="Calibri"/>
                <a:sym typeface="Calibri"/>
              </a:rPr>
              <a:t> que hayas elaborado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2"/>
          <p:cNvSpPr/>
          <p:nvPr/>
        </p:nvSpPr>
        <p:spPr>
          <a:xfrm>
            <a:off x="571500" y="4743450"/>
            <a:ext cx="8015288" cy="814388"/>
          </a:xfrm>
          <a:custGeom>
            <a:rect b="b" l="l" r="r" t="t"/>
            <a:pathLst>
              <a:path extrusionOk="0" h="814388" w="8015288">
                <a:moveTo>
                  <a:pt x="0" y="0"/>
                </a:moveTo>
                <a:lnTo>
                  <a:pt x="8015288" y="0"/>
                </a:lnTo>
                <a:lnTo>
                  <a:pt x="8015288" y="814388"/>
                </a:lnTo>
                <a:lnTo>
                  <a:pt x="0" y="814388"/>
                </a:lnTo>
                <a:lnTo>
                  <a:pt x="0" y="0"/>
                </a:lnTo>
                <a:close/>
              </a:path>
            </a:pathLst>
          </a:custGeom>
          <a:blipFill rotWithShape="1">
            <a:blip r:embed="rId3">
              <a:alphaModFix/>
            </a:blip>
            <a:stretch>
              <a:fillRect b="0" l="0" r="0" t="0"/>
            </a:stretch>
          </a:blipFill>
          <a:ln>
            <a:noFill/>
          </a:ln>
        </p:spPr>
      </p:sp>
      <p:sp>
        <p:nvSpPr>
          <p:cNvPr id="262" name="Google Shape;262;p12"/>
          <p:cNvSpPr/>
          <p:nvPr/>
        </p:nvSpPr>
        <p:spPr>
          <a:xfrm>
            <a:off x="461100" y="4164411"/>
            <a:ext cx="5473613" cy="347929"/>
          </a:xfrm>
          <a:custGeom>
            <a:rect b="b" l="l" r="r" t="t"/>
            <a:pathLst>
              <a:path extrusionOk="0" h="347929" w="5473613">
                <a:moveTo>
                  <a:pt x="0" y="0"/>
                </a:moveTo>
                <a:lnTo>
                  <a:pt x="5473613" y="0"/>
                </a:lnTo>
                <a:lnTo>
                  <a:pt x="5473613" y="347929"/>
                </a:lnTo>
                <a:lnTo>
                  <a:pt x="0" y="347929"/>
                </a:lnTo>
                <a:lnTo>
                  <a:pt x="0" y="0"/>
                </a:lnTo>
                <a:close/>
              </a:path>
            </a:pathLst>
          </a:custGeom>
          <a:blipFill rotWithShape="1">
            <a:blip r:embed="rId4">
              <a:alphaModFix/>
            </a:blip>
            <a:stretch>
              <a:fillRect b="0" l="0" r="0" t="0"/>
            </a:stretch>
          </a:blipFill>
          <a:ln>
            <a:noFill/>
          </a:ln>
        </p:spPr>
      </p:sp>
      <p:sp>
        <p:nvSpPr>
          <p:cNvPr id="263" name="Google Shape;263;p12"/>
          <p:cNvSpPr/>
          <p:nvPr/>
        </p:nvSpPr>
        <p:spPr>
          <a:xfrm>
            <a:off x="9772650" y="1800225"/>
            <a:ext cx="8515350" cy="8486775"/>
          </a:xfrm>
          <a:custGeom>
            <a:rect b="b" l="l" r="r" t="t"/>
            <a:pathLst>
              <a:path extrusionOk="0" h="7543800" w="7569200">
                <a:moveTo>
                  <a:pt x="1213612" y="0"/>
                </a:moveTo>
                <a:lnTo>
                  <a:pt x="1095629" y="216281"/>
                </a:lnTo>
                <a:cubicBezTo>
                  <a:pt x="880745" y="630555"/>
                  <a:pt x="700151" y="1062736"/>
                  <a:pt x="545973" y="1508252"/>
                </a:cubicBezTo>
                <a:cubicBezTo>
                  <a:pt x="305689" y="2207895"/>
                  <a:pt x="140081" y="2930652"/>
                  <a:pt x="51308" y="3664712"/>
                </a:cubicBezTo>
                <a:cubicBezTo>
                  <a:pt x="20320" y="3915664"/>
                  <a:pt x="762" y="4166489"/>
                  <a:pt x="0" y="4418076"/>
                </a:cubicBezTo>
                <a:lnTo>
                  <a:pt x="0" y="4449699"/>
                </a:lnTo>
                <a:cubicBezTo>
                  <a:pt x="381" y="4563999"/>
                  <a:pt x="4699" y="4678553"/>
                  <a:pt x="13589" y="4793234"/>
                </a:cubicBezTo>
                <a:cubicBezTo>
                  <a:pt x="48133" y="5234813"/>
                  <a:pt x="100330" y="5673979"/>
                  <a:pt x="188849" y="6108319"/>
                </a:cubicBezTo>
                <a:cubicBezTo>
                  <a:pt x="286385" y="6587871"/>
                  <a:pt x="418846" y="7056120"/>
                  <a:pt x="593725" y="7511288"/>
                </a:cubicBezTo>
                <a:lnTo>
                  <a:pt x="607441" y="7543800"/>
                </a:lnTo>
                <a:lnTo>
                  <a:pt x="665480" y="7543800"/>
                </a:lnTo>
                <a:lnTo>
                  <a:pt x="657987" y="7525766"/>
                </a:lnTo>
                <a:cubicBezTo>
                  <a:pt x="561340" y="7275449"/>
                  <a:pt x="476631" y="7018909"/>
                  <a:pt x="402463" y="6757035"/>
                </a:cubicBezTo>
                <a:cubicBezTo>
                  <a:pt x="338074" y="6528943"/>
                  <a:pt x="290576" y="6296152"/>
                  <a:pt x="235458" y="6065393"/>
                </a:cubicBezTo>
                <a:cubicBezTo>
                  <a:pt x="234061" y="6053074"/>
                  <a:pt x="233426" y="6040882"/>
                  <a:pt x="233426" y="6028563"/>
                </a:cubicBezTo>
                <a:cubicBezTo>
                  <a:pt x="273685" y="6168517"/>
                  <a:pt x="305943" y="6291834"/>
                  <a:pt x="344170" y="6413500"/>
                </a:cubicBezTo>
                <a:cubicBezTo>
                  <a:pt x="443357" y="6730365"/>
                  <a:pt x="558038" y="7038467"/>
                  <a:pt x="688467" y="7337679"/>
                </a:cubicBezTo>
                <a:lnTo>
                  <a:pt x="785241" y="7543800"/>
                </a:lnTo>
                <a:lnTo>
                  <a:pt x="7569200" y="7543800"/>
                </a:lnTo>
                <a:lnTo>
                  <a:pt x="7569200" y="0"/>
                </a:lnTo>
                <a:lnTo>
                  <a:pt x="1350772" y="0"/>
                </a:lnTo>
                <a:lnTo>
                  <a:pt x="1244981" y="163576"/>
                </a:lnTo>
                <a:cubicBezTo>
                  <a:pt x="1099947" y="401955"/>
                  <a:pt x="968248" y="648589"/>
                  <a:pt x="848233" y="902081"/>
                </a:cubicBezTo>
                <a:cubicBezTo>
                  <a:pt x="842264" y="916813"/>
                  <a:pt x="832612" y="930021"/>
                  <a:pt x="820166" y="940054"/>
                </a:cubicBezTo>
                <a:cubicBezTo>
                  <a:pt x="836422" y="901954"/>
                  <a:pt x="852170" y="863473"/>
                  <a:pt x="868553" y="825373"/>
                </a:cubicBezTo>
                <a:cubicBezTo>
                  <a:pt x="935736" y="669544"/>
                  <a:pt x="1006729" y="516128"/>
                  <a:pt x="1081913" y="364998"/>
                </a:cubicBezTo>
                <a:lnTo>
                  <a:pt x="1277112" y="0"/>
                </a:lnTo>
                <a:close/>
              </a:path>
            </a:pathLst>
          </a:custGeom>
          <a:blipFill rotWithShape="1">
            <a:blip r:embed="rId5">
              <a:alphaModFix/>
            </a:blip>
            <a:stretch>
              <a:fillRect b="0" l="-39812" r="-39814"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
          <p:cNvSpPr txBox="1"/>
          <p:nvPr/>
        </p:nvSpPr>
        <p:spPr>
          <a:xfrm>
            <a:off x="461100" y="4407565"/>
            <a:ext cx="5713371" cy="1867559"/>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0" i="0" lang="en-US" sz="2591" u="none" cap="none" strike="noStrike">
                <a:solidFill>
                  <a:srgbClr val="843C0C"/>
                </a:solidFill>
                <a:latin typeface="Calibri"/>
                <a:ea typeface="Calibri"/>
                <a:cs typeface="Calibri"/>
                <a:sym typeface="Calibri"/>
              </a:rPr>
              <a:t>ALIENACIÓN AL EC 0217.01 </a:t>
            </a:r>
            <a:endParaRPr/>
          </a:p>
          <a:p>
            <a:pPr indent="0" lvl="0" marL="0" marR="0" rtl="0" algn="l">
              <a:lnSpc>
                <a:spcPct val="139984"/>
              </a:lnSpc>
              <a:spcBef>
                <a:spcPts val="0"/>
              </a:spcBef>
              <a:spcAft>
                <a:spcPts val="0"/>
              </a:spcAft>
              <a:buNone/>
            </a:pPr>
            <a:r>
              <a:rPr b="0" i="0" lang="en-US" sz="2591" u="none" cap="none" strike="noStrike">
                <a:solidFill>
                  <a:srgbClr val="843C0C"/>
                </a:solidFill>
                <a:latin typeface="Calibri"/>
                <a:ea typeface="Calibri"/>
                <a:cs typeface="Calibri"/>
                <a:sym typeface="Calibri"/>
              </a:rPr>
              <a:t>“Impartición de cursos de formación de capital humano de manera presencial grupal</a:t>
            </a:r>
            <a:endParaRPr/>
          </a:p>
        </p:txBody>
      </p:sp>
      <p:sp>
        <p:nvSpPr>
          <p:cNvPr id="265" name="Google Shape;265;p12"/>
          <p:cNvSpPr txBox="1"/>
          <p:nvPr/>
        </p:nvSpPr>
        <p:spPr>
          <a:xfrm>
            <a:off x="333385" y="793831"/>
            <a:ext cx="9439265" cy="1410504"/>
          </a:xfrm>
          <a:prstGeom prst="rect">
            <a:avLst/>
          </a:prstGeom>
          <a:noFill/>
          <a:ln>
            <a:noFill/>
          </a:ln>
        </p:spPr>
        <p:txBody>
          <a:bodyPr anchorCtr="0" anchor="t" bIns="0" lIns="0" spcFirstLastPara="1" rIns="0" wrap="square" tIns="0">
            <a:spAutoFit/>
          </a:bodyPr>
          <a:lstStyle/>
          <a:p>
            <a:pPr indent="0" lvl="0" marL="0" marR="0" rtl="0" algn="just">
              <a:lnSpc>
                <a:spcPct val="140007"/>
              </a:lnSpc>
              <a:spcBef>
                <a:spcPts val="0"/>
              </a:spcBef>
              <a:spcAft>
                <a:spcPts val="0"/>
              </a:spcAft>
              <a:buNone/>
            </a:pPr>
            <a:r>
              <a:rPr b="1" i="0" lang="en-US" sz="2587" u="none" cap="none" strike="noStrike">
                <a:solidFill>
                  <a:srgbClr val="000000"/>
                </a:solidFill>
                <a:latin typeface="Calibri"/>
                <a:ea typeface="Calibri"/>
                <a:cs typeface="Calibri"/>
                <a:sym typeface="Calibri"/>
              </a:rPr>
              <a:t>El participante al finalizar la alineación, comprenderá el estándar EC0217.01 reconociendo sus requerimientos, con la finalidad de preparar su proceso de evaluación con fines de certificación</a:t>
            </a:r>
            <a:endParaRPr/>
          </a:p>
        </p:txBody>
      </p:sp>
      <p:sp>
        <p:nvSpPr>
          <p:cNvPr id="266" name="Google Shape;266;p12"/>
          <p:cNvSpPr txBox="1"/>
          <p:nvPr/>
        </p:nvSpPr>
        <p:spPr>
          <a:xfrm>
            <a:off x="182323" y="2554700"/>
            <a:ext cx="9741389" cy="1038211"/>
          </a:xfrm>
          <a:prstGeom prst="rect">
            <a:avLst/>
          </a:prstGeom>
          <a:noFill/>
          <a:ln>
            <a:noFill/>
          </a:ln>
        </p:spPr>
        <p:txBody>
          <a:bodyPr anchorCtr="0" anchor="t" bIns="0" lIns="0" spcFirstLastPara="1" rIns="0" wrap="square" tIns="0">
            <a:spAutoFit/>
          </a:bodyPr>
          <a:lstStyle/>
          <a:p>
            <a:pPr indent="0" lvl="0" marL="0" marR="0" rtl="0" algn="l">
              <a:lnSpc>
                <a:spcPct val="117290"/>
              </a:lnSpc>
              <a:spcBef>
                <a:spcPts val="0"/>
              </a:spcBef>
              <a:spcAft>
                <a:spcPts val="0"/>
              </a:spcAft>
              <a:buNone/>
            </a:pPr>
            <a:r>
              <a:rPr b="1" i="0" lang="en-US" sz="2591" u="none" cap="none" strike="noStrike">
                <a:solidFill>
                  <a:srgbClr val="000000"/>
                </a:solidFill>
                <a:latin typeface="Calibri"/>
                <a:ea typeface="Calibri"/>
                <a:cs typeface="Calibri"/>
                <a:sym typeface="Calibri"/>
              </a:rPr>
              <a:t>1.¿Qué tiempo has ejercido la práctica docente?</a:t>
            </a:r>
            <a:endParaRPr/>
          </a:p>
          <a:p>
            <a:pPr indent="0" lvl="0" marL="0" marR="0" rtl="0" algn="l">
              <a:lnSpc>
                <a:spcPct val="250019"/>
              </a:lnSpc>
              <a:spcBef>
                <a:spcPts val="0"/>
              </a:spcBef>
              <a:spcAft>
                <a:spcPts val="0"/>
              </a:spcAft>
              <a:buNone/>
            </a:pPr>
            <a:r>
              <a:rPr b="1" i="0" lang="en-US" sz="2591" u="none" cap="none" strike="noStrike">
                <a:solidFill>
                  <a:srgbClr val="000000"/>
                </a:solidFill>
                <a:latin typeface="Calibri"/>
                <a:ea typeface="Calibri"/>
                <a:cs typeface="Calibri"/>
                <a:sym typeface="Calibri"/>
              </a:rPr>
              <a:t>2.¿Consideras tener la voluntad para lograr una certificación?</a:t>
            </a:r>
            <a:endParaRPr/>
          </a:p>
        </p:txBody>
      </p:sp>
      <p:sp>
        <p:nvSpPr>
          <p:cNvPr id="267" name="Google Shape;267;p12"/>
          <p:cNvSpPr txBox="1"/>
          <p:nvPr/>
        </p:nvSpPr>
        <p:spPr>
          <a:xfrm>
            <a:off x="182323" y="6475149"/>
            <a:ext cx="9177790" cy="1374777"/>
          </a:xfrm>
          <a:prstGeom prst="rect">
            <a:avLst/>
          </a:prstGeom>
          <a:noFill/>
          <a:ln>
            <a:noFill/>
          </a:ln>
        </p:spPr>
        <p:txBody>
          <a:bodyPr anchorCtr="0" anchor="t" bIns="0" lIns="0" spcFirstLastPara="1" rIns="0" wrap="square" tIns="0">
            <a:spAutoFit/>
          </a:bodyPr>
          <a:lstStyle/>
          <a:p>
            <a:pPr indent="0" lvl="0" marL="0" marR="0" rtl="0" algn="just">
              <a:lnSpc>
                <a:spcPct val="109509"/>
              </a:lnSpc>
              <a:spcBef>
                <a:spcPts val="0"/>
              </a:spcBef>
              <a:spcAft>
                <a:spcPts val="0"/>
              </a:spcAft>
              <a:buNone/>
            </a:pPr>
            <a:r>
              <a:rPr b="0" i="0" lang="en-US" sz="2366" u="none" cap="none" strike="noStrike">
                <a:solidFill>
                  <a:srgbClr val="000000"/>
                </a:solidFill>
                <a:latin typeface="Calibri"/>
                <a:ea typeface="Calibri"/>
                <a:cs typeface="Calibri"/>
                <a:sym typeface="Calibri"/>
              </a:rPr>
              <a:t>•</a:t>
            </a:r>
            <a:r>
              <a:rPr b="1" i="0" lang="en-US" sz="2366" u="none" cap="none" strike="noStrike">
                <a:solidFill>
                  <a:srgbClr val="000000"/>
                </a:solidFill>
                <a:latin typeface="Calibri"/>
                <a:ea typeface="Calibri"/>
                <a:cs typeface="Calibri"/>
                <a:sym typeface="Calibri"/>
              </a:rPr>
              <a:t>La mejora contínua en la práctica docent e pone al alumno al centro debido al alto impacto que conlleva en el proceso de enseñanza - aprendizaje, especialmente cuando dicho docente no necesariamente cursó la carrera de maestro, pedagogía o afín.</a:t>
            </a:r>
            <a:endParaRPr/>
          </a:p>
        </p:txBody>
      </p:sp>
      <p:sp>
        <p:nvSpPr>
          <p:cNvPr id="268" name="Google Shape;268;p12"/>
          <p:cNvSpPr txBox="1"/>
          <p:nvPr/>
        </p:nvSpPr>
        <p:spPr>
          <a:xfrm>
            <a:off x="135260" y="7788535"/>
            <a:ext cx="9178476" cy="2190706"/>
          </a:xfrm>
          <a:prstGeom prst="rect">
            <a:avLst/>
          </a:prstGeom>
          <a:noFill/>
          <a:ln>
            <a:noFill/>
          </a:ln>
        </p:spPr>
        <p:txBody>
          <a:bodyPr anchorCtr="0" anchor="t" bIns="0" lIns="0" spcFirstLastPara="1" rIns="0" wrap="square" tIns="0">
            <a:spAutoFit/>
          </a:bodyPr>
          <a:lstStyle/>
          <a:p>
            <a:pPr indent="0" lvl="0" marL="0" marR="0" rtl="0" algn="l">
              <a:lnSpc>
                <a:spcPct val="250000"/>
              </a:lnSpc>
              <a:spcBef>
                <a:spcPts val="0"/>
              </a:spcBef>
              <a:spcAft>
                <a:spcPts val="0"/>
              </a:spcAft>
              <a:buNone/>
            </a:pPr>
            <a:r>
              <a:rPr b="1" i="0" lang="en-US" sz="2366" u="none" cap="none" strike="noStrike">
                <a:solidFill>
                  <a:srgbClr val="000000"/>
                </a:solidFill>
                <a:latin typeface="Calibri"/>
                <a:ea typeface="Calibri"/>
                <a:cs typeface="Calibri"/>
                <a:sym typeface="Calibri"/>
              </a:rPr>
              <a:t>•Liderar con el ejemplo será siempre la mejor manera de enseñar.</a:t>
            </a:r>
            <a:endParaRPr/>
          </a:p>
          <a:p>
            <a:pPr indent="-255436" lvl="1" marL="510872" marR="0" rtl="0" algn="l">
              <a:lnSpc>
                <a:spcPct val="250000"/>
              </a:lnSpc>
              <a:spcBef>
                <a:spcPts val="0"/>
              </a:spcBef>
              <a:spcAft>
                <a:spcPts val="0"/>
              </a:spcAft>
              <a:buClr>
                <a:srgbClr val="000000"/>
              </a:buClr>
              <a:buSzPts val="2366"/>
              <a:buFont typeface="Arial"/>
              <a:buChar char="•"/>
            </a:pPr>
            <a:r>
              <a:rPr b="1" i="0" lang="en-US" sz="2366" u="none" cap="none" strike="noStrike">
                <a:solidFill>
                  <a:srgbClr val="000000"/>
                </a:solidFill>
                <a:latin typeface="Calibri"/>
                <a:ea typeface="Calibri"/>
                <a:cs typeface="Calibri"/>
                <a:sym typeface="Calibri"/>
              </a:rPr>
              <a:t>¿Cómo impactará en un joven ver que su maestra/o se certifica?</a:t>
            </a:r>
            <a:endParaRPr/>
          </a:p>
          <a:p>
            <a:pPr indent="0" lvl="0" marL="0" marR="0" rtl="0" algn="l">
              <a:lnSpc>
                <a:spcPct val="250000"/>
              </a:lnSpc>
              <a:spcBef>
                <a:spcPts val="0"/>
              </a:spcBef>
              <a:spcAft>
                <a:spcPts val="0"/>
              </a:spcAft>
              <a:buNone/>
            </a:pPr>
            <a:r>
              <a:rPr b="0" i="0" lang="en-US" sz="2366" u="none" cap="none" strike="noStrike">
                <a:solidFill>
                  <a:srgbClr val="000000"/>
                </a:solidFill>
                <a:latin typeface="Calibri"/>
                <a:ea typeface="Calibri"/>
                <a:cs typeface="Calibri"/>
                <a:sym typeface="Calibri"/>
              </a:rPr>
              <a:t>•</a:t>
            </a:r>
            <a:r>
              <a:rPr b="1" i="0" lang="en-US" sz="2366" u="none" cap="none" strike="noStrike">
                <a:solidFill>
                  <a:srgbClr val="000000"/>
                </a:solidFill>
                <a:latin typeface="Calibri"/>
                <a:ea typeface="Calibri"/>
                <a:cs typeface="Calibri"/>
                <a:sym typeface="Calibri"/>
              </a:rPr>
              <a:t>¿Qué película relacionada con la práctica docente te ha inspirado ?</a:t>
            </a:r>
            <a:endParaRPr/>
          </a:p>
        </p:txBody>
      </p:sp>
      <p:sp>
        <p:nvSpPr>
          <p:cNvPr id="269" name="Google Shape;269;p12"/>
          <p:cNvSpPr txBox="1"/>
          <p:nvPr/>
        </p:nvSpPr>
        <p:spPr>
          <a:xfrm>
            <a:off x="11317891" y="57074"/>
            <a:ext cx="3126384" cy="1418985"/>
          </a:xfrm>
          <a:prstGeom prst="rect">
            <a:avLst/>
          </a:prstGeom>
          <a:noFill/>
          <a:ln>
            <a:noFill/>
          </a:ln>
        </p:spPr>
        <p:txBody>
          <a:bodyPr anchorCtr="0" anchor="t" bIns="0" lIns="0" spcFirstLastPara="1" rIns="0" wrap="square" tIns="0">
            <a:spAutoFit/>
          </a:bodyPr>
          <a:lstStyle/>
          <a:p>
            <a:pPr indent="0" lvl="0" marL="0" marR="0" rtl="0" algn="l">
              <a:lnSpc>
                <a:spcPct val="236788"/>
              </a:lnSpc>
              <a:spcBef>
                <a:spcPts val="0"/>
              </a:spcBef>
              <a:spcAft>
                <a:spcPts val="0"/>
              </a:spcAft>
              <a:buNone/>
            </a:pPr>
            <a:r>
              <a:rPr b="1" i="1" lang="en-US" sz="2441" u="none" cap="none" strike="noStrike">
                <a:solidFill>
                  <a:srgbClr val="000000"/>
                </a:solidFill>
                <a:latin typeface="Calibri"/>
                <a:ea typeface="Calibri"/>
                <a:cs typeface="Calibri"/>
                <a:sym typeface="Calibri"/>
              </a:rPr>
              <a:t>INICIA DESARROLLO Inicia Técnica Expositiva</a:t>
            </a:r>
            <a:endParaRPr/>
          </a:p>
        </p:txBody>
      </p:sp>
      <p:sp>
        <p:nvSpPr>
          <p:cNvPr id="270" name="Google Shape;270;p12"/>
          <p:cNvSpPr/>
          <p:nvPr/>
        </p:nvSpPr>
        <p:spPr>
          <a:xfrm>
            <a:off x="15047868" y="194709"/>
            <a:ext cx="1554113" cy="1458041"/>
          </a:xfrm>
          <a:custGeom>
            <a:rect b="b" l="l" r="r" t="t"/>
            <a:pathLst>
              <a:path extrusionOk="0" h="1458041" w="1554113">
                <a:moveTo>
                  <a:pt x="0" y="0"/>
                </a:moveTo>
                <a:lnTo>
                  <a:pt x="1554113" y="0"/>
                </a:lnTo>
                <a:lnTo>
                  <a:pt x="1554113" y="1458040"/>
                </a:lnTo>
                <a:lnTo>
                  <a:pt x="0" y="1458040"/>
                </a:lnTo>
                <a:lnTo>
                  <a:pt x="0" y="0"/>
                </a:lnTo>
                <a:close/>
              </a:path>
            </a:pathLst>
          </a:custGeom>
          <a:blipFill rotWithShape="1">
            <a:blip r:embed="rId6">
              <a:alphaModFix/>
            </a:blip>
            <a:stretch>
              <a:fillRect b="0" l="0" r="0" t="0"/>
            </a:stretch>
          </a:blipFill>
          <a:ln>
            <a:noFill/>
          </a:ln>
        </p:spPr>
      </p:sp>
      <p:sp>
        <p:nvSpPr>
          <p:cNvPr id="271" name="Google Shape;271;p12"/>
          <p:cNvSpPr txBox="1"/>
          <p:nvPr/>
        </p:nvSpPr>
        <p:spPr>
          <a:xfrm rot="-488292">
            <a:off x="10169704" y="4426920"/>
            <a:ext cx="7508413" cy="6276817"/>
          </a:xfrm>
          <a:prstGeom prst="rect">
            <a:avLst/>
          </a:prstGeom>
          <a:noFill/>
          <a:ln>
            <a:noFill/>
          </a:ln>
        </p:spPr>
        <p:txBody>
          <a:bodyPr anchorCtr="0" anchor="t" bIns="0" lIns="0" spcFirstLastPara="1" rIns="0" wrap="square" tIns="0">
            <a:spAutoFit/>
          </a:bodyPr>
          <a:lstStyle/>
          <a:p>
            <a:pPr indent="-200113" lvl="1" marL="400227" marR="0" rtl="0" algn="l">
              <a:lnSpc>
                <a:spcPct val="140043"/>
              </a:lnSpc>
              <a:spcBef>
                <a:spcPts val="0"/>
              </a:spcBef>
              <a:spcAft>
                <a:spcPts val="0"/>
              </a:spcAft>
              <a:buClr>
                <a:srgbClr val="E4081C"/>
              </a:buClr>
              <a:buSzPts val="1853"/>
              <a:buFont typeface="Arial"/>
              <a:buChar char="•"/>
            </a:pPr>
            <a:r>
              <a:rPr b="1" i="0" lang="en-US" sz="1853" u="none" cap="none" strike="noStrike">
                <a:solidFill>
                  <a:srgbClr val="E4081C"/>
                </a:solidFill>
                <a:latin typeface="Calibri"/>
                <a:ea typeface="Calibri"/>
                <a:cs typeface="Calibri"/>
                <a:sym typeface="Calibri"/>
              </a:rPr>
              <a:t>El instructor aplica técnica expositiva:</a:t>
            </a:r>
            <a:endParaRPr/>
          </a:p>
          <a:p>
            <a:pPr indent="0" lvl="0" marL="0" marR="0" rtl="0" algn="l">
              <a:lnSpc>
                <a:spcPct val="140043"/>
              </a:lnSpc>
              <a:spcBef>
                <a:spcPts val="0"/>
              </a:spcBef>
              <a:spcAft>
                <a:spcPts val="0"/>
              </a:spcAft>
              <a:buNone/>
            </a:pPr>
            <a:r>
              <a:rPr b="1" i="0" lang="en-US" sz="1853" u="none" cap="none" strike="noStrike">
                <a:solidFill>
                  <a:srgbClr val="E4081C"/>
                </a:solidFill>
                <a:latin typeface="Calibri"/>
                <a:ea typeface="Calibri"/>
                <a:cs typeface="Calibri"/>
                <a:sym typeface="Calibri"/>
              </a:rPr>
              <a:t>Presentar el objetivo del tema:  escribir el objetivo particular cognitivo</a:t>
            </a:r>
            <a:endParaRPr/>
          </a:p>
          <a:p>
            <a:pPr indent="0" lvl="0" marL="0" marR="0" rtl="0" algn="l">
              <a:lnSpc>
                <a:spcPct val="140043"/>
              </a:lnSpc>
              <a:spcBef>
                <a:spcPts val="0"/>
              </a:spcBef>
              <a:spcAft>
                <a:spcPts val="0"/>
              </a:spcAft>
              <a:buNone/>
            </a:pPr>
            <a:r>
              <a:rPr b="1" i="0" lang="en-US" sz="1853" u="none" cap="none" strike="noStrike">
                <a:solidFill>
                  <a:srgbClr val="E4081C"/>
                </a:solidFill>
                <a:latin typeface="Calibri"/>
                <a:ea typeface="Calibri"/>
                <a:cs typeface="Calibri"/>
                <a:sym typeface="Calibri"/>
              </a:rPr>
              <a:t>Recuperar la experiencia previa de los participantes (mediante preguntas, redactar)</a:t>
            </a:r>
            <a:endParaRPr/>
          </a:p>
          <a:p>
            <a:pPr indent="0" lvl="0" marL="0" marR="0" rtl="0" algn="l">
              <a:lnSpc>
                <a:spcPct val="140043"/>
              </a:lnSpc>
              <a:spcBef>
                <a:spcPts val="0"/>
              </a:spcBef>
              <a:spcAft>
                <a:spcPts val="0"/>
              </a:spcAft>
              <a:buNone/>
            </a:pPr>
            <a:r>
              <a:rPr b="1" i="0" lang="en-US" sz="1853" u="none" cap="none" strike="noStrike">
                <a:solidFill>
                  <a:srgbClr val="E4081C"/>
                </a:solidFill>
                <a:latin typeface="Calibri"/>
                <a:ea typeface="Calibri"/>
                <a:cs typeface="Calibri"/>
                <a:sym typeface="Calibri"/>
              </a:rPr>
              <a:t>Desarrollar el contenido: Desarrollar brevemente los temas que se tocan en esta técnica (mínimo sugerido 10 renglones)</a:t>
            </a:r>
            <a:endParaRPr/>
          </a:p>
          <a:p>
            <a:pPr indent="0" lvl="0" marL="0" marR="0" rtl="0" algn="l">
              <a:lnSpc>
                <a:spcPct val="140043"/>
              </a:lnSpc>
              <a:spcBef>
                <a:spcPts val="0"/>
              </a:spcBef>
              <a:spcAft>
                <a:spcPts val="0"/>
              </a:spcAft>
              <a:buNone/>
            </a:pPr>
            <a:r>
              <a:t/>
            </a:r>
            <a:endParaRPr b="1" i="0" sz="1853" u="none" cap="none" strike="noStrike">
              <a:solidFill>
                <a:srgbClr val="E4081C"/>
              </a:solidFill>
              <a:latin typeface="Calibri"/>
              <a:ea typeface="Calibri"/>
              <a:cs typeface="Calibri"/>
              <a:sym typeface="Calibri"/>
            </a:endParaRPr>
          </a:p>
          <a:p>
            <a:pPr indent="0" lvl="0" marL="0" marR="0" rtl="0" algn="l">
              <a:lnSpc>
                <a:spcPct val="140043"/>
              </a:lnSpc>
              <a:spcBef>
                <a:spcPts val="0"/>
              </a:spcBef>
              <a:spcAft>
                <a:spcPts val="0"/>
              </a:spcAft>
              <a:buNone/>
            </a:pPr>
            <a:r>
              <a:rPr b="1" i="0" lang="en-US" sz="1853" u="none" cap="none" strike="noStrike">
                <a:solidFill>
                  <a:srgbClr val="E4081C"/>
                </a:solidFill>
                <a:latin typeface="Calibri"/>
                <a:ea typeface="Calibri"/>
                <a:cs typeface="Calibri"/>
                <a:sym typeface="Calibri"/>
              </a:rPr>
              <a:t>Utilizar ejemplos relacionados con los temas y las situaciones cotidianas</a:t>
            </a:r>
            <a:endParaRPr/>
          </a:p>
          <a:p>
            <a:pPr indent="0" lvl="0" marL="0" marR="0" rtl="0" algn="l">
              <a:lnSpc>
                <a:spcPct val="140043"/>
              </a:lnSpc>
              <a:spcBef>
                <a:spcPts val="0"/>
              </a:spcBef>
              <a:spcAft>
                <a:spcPts val="0"/>
              </a:spcAft>
              <a:buNone/>
            </a:pPr>
            <a:r>
              <a:rPr b="1" i="0" lang="en-US" sz="1853" u="none" cap="none" strike="noStrike">
                <a:solidFill>
                  <a:srgbClr val="E4081C"/>
                </a:solidFill>
                <a:latin typeface="Calibri"/>
                <a:ea typeface="Calibri"/>
                <a:cs typeface="Calibri"/>
                <a:sym typeface="Calibri"/>
              </a:rPr>
              <a:t>El instructor promoverá que el participante realice una síntesis haciendo énfasis en los aspectos sobresalientes</a:t>
            </a:r>
            <a:endParaRPr/>
          </a:p>
          <a:p>
            <a:pPr indent="0" lvl="0" marL="0" marR="0" rtl="0" algn="l">
              <a:lnSpc>
                <a:spcPct val="140043"/>
              </a:lnSpc>
              <a:spcBef>
                <a:spcPts val="0"/>
              </a:spcBef>
              <a:spcAft>
                <a:spcPts val="0"/>
              </a:spcAft>
              <a:buNone/>
            </a:pPr>
            <a:r>
              <a:rPr b="1" i="0" lang="en-US" sz="1853" u="none" cap="none" strike="noStrike">
                <a:solidFill>
                  <a:srgbClr val="E4081C"/>
                </a:solidFill>
                <a:latin typeface="Calibri"/>
                <a:ea typeface="Calibri"/>
                <a:cs typeface="Calibri"/>
                <a:sym typeface="Calibri"/>
              </a:rPr>
              <a:t>Plantear preguntas dirigidas que verifiquen la comprensión del tema (redactar por lo menos 3 preguntas)</a:t>
            </a:r>
            <a:endParaRPr/>
          </a:p>
          <a:p>
            <a:pPr indent="0" lvl="0" marL="0" marR="0" rtl="0" algn="l">
              <a:lnSpc>
                <a:spcPct val="140043"/>
              </a:lnSpc>
              <a:spcBef>
                <a:spcPts val="0"/>
              </a:spcBef>
              <a:spcAft>
                <a:spcPts val="0"/>
              </a:spcAft>
              <a:buNone/>
            </a:pPr>
            <a:r>
              <a:rPr b="1" i="0" lang="en-US" sz="1853" u="none" cap="none" strike="noStrike">
                <a:solidFill>
                  <a:srgbClr val="E4081C"/>
                </a:solidFill>
                <a:latin typeface="Calibri"/>
                <a:ea typeface="Calibri"/>
                <a:cs typeface="Calibri"/>
                <a:sym typeface="Calibri"/>
              </a:rPr>
              <a:t>Promover comentarios sobre la utilidad y aplicación de los temas en su vida profesional y personal</a:t>
            </a:r>
            <a:endParaRPr/>
          </a:p>
          <a:p>
            <a:pPr indent="0" lvl="0" marL="0" marR="0" rtl="0" algn="l">
              <a:lnSpc>
                <a:spcPct val="140043"/>
              </a:lnSpc>
              <a:spcBef>
                <a:spcPts val="0"/>
              </a:spcBef>
              <a:spcAft>
                <a:spcPts val="0"/>
              </a:spcAft>
              <a:buNone/>
            </a:pPr>
            <a:r>
              <a:rPr b="1" i="0" lang="en-US" sz="1853" u="none" cap="none" strike="noStrike">
                <a:solidFill>
                  <a:srgbClr val="E4081C"/>
                </a:solidFill>
                <a:latin typeface="Calibri"/>
                <a:ea typeface="Calibri"/>
                <a:cs typeface="Calibri"/>
                <a:sym typeface="Calibri"/>
              </a:rPr>
              <a:t>Preguntar sobre los conocimientos adquiridos.</a:t>
            </a:r>
            <a:endParaRPr/>
          </a:p>
          <a:p>
            <a:pPr indent="0" lvl="0" marL="0" marR="0" rtl="0" algn="l">
              <a:lnSpc>
                <a:spcPct val="140043"/>
              </a:lnSpc>
              <a:spcBef>
                <a:spcPts val="0"/>
              </a:spcBef>
              <a:spcAft>
                <a:spcPts val="0"/>
              </a:spcAft>
              <a:buNone/>
            </a:pPr>
            <a:r>
              <a:rPr b="1" i="0" lang="en-US" sz="1853" u="none" cap="none" strike="noStrike">
                <a:solidFill>
                  <a:srgbClr val="E4081C"/>
                </a:solidFill>
                <a:latin typeface="Calibri"/>
                <a:ea typeface="Calibri"/>
                <a:cs typeface="Calibri"/>
                <a:sym typeface="Calibri"/>
              </a:rPr>
              <a:t>El instructor comparte la bibliografía de los temas desarrollados.</a:t>
            </a:r>
            <a:endParaRPr/>
          </a:p>
        </p:txBody>
      </p:sp>
      <p:sp>
        <p:nvSpPr>
          <p:cNvPr id="272" name="Google Shape;272;p12"/>
          <p:cNvSpPr txBox="1"/>
          <p:nvPr/>
        </p:nvSpPr>
        <p:spPr>
          <a:xfrm rot="-488346">
            <a:off x="18672" y="-13733"/>
            <a:ext cx="1852470" cy="68132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1" i="0" lang="en-US" sz="3553" u="none" cap="none" strike="noStrike">
                <a:solidFill>
                  <a:srgbClr val="E4081C"/>
                </a:solidFill>
                <a:latin typeface="Calibri"/>
                <a:ea typeface="Calibri"/>
                <a:cs typeface="Calibri"/>
                <a:sym typeface="Calibri"/>
              </a:rPr>
              <a:t>EJEMPLO</a:t>
            </a:r>
            <a:endParaRPr/>
          </a:p>
        </p:txBody>
      </p:sp>
      <p:sp>
        <p:nvSpPr>
          <p:cNvPr id="273" name="Google Shape;273;p12"/>
          <p:cNvSpPr txBox="1"/>
          <p:nvPr/>
        </p:nvSpPr>
        <p:spPr>
          <a:xfrm>
            <a:off x="11774678" y="447023"/>
            <a:ext cx="2212800" cy="346800"/>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i="1" lang="en-US" sz="2253">
                <a:latin typeface="Calibri"/>
                <a:ea typeface="Calibri"/>
                <a:cs typeface="Calibri"/>
                <a:sym typeface="Calibri"/>
              </a:rPr>
              <a:t>50</a:t>
            </a:r>
            <a:r>
              <a:rPr b="0" i="1" lang="en-US" sz="2253" u="none" cap="none" strike="noStrike">
                <a:solidFill>
                  <a:srgbClr val="000000"/>
                </a:solidFill>
                <a:latin typeface="Calibri"/>
                <a:ea typeface="Calibri"/>
                <a:cs typeface="Calibri"/>
                <a:sym typeface="Calibri"/>
              </a:rPr>
              <a:t>-60 mins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79" name="Google Shape;279;p13"/>
          <p:cNvSpPr txBox="1"/>
          <p:nvPr/>
        </p:nvSpPr>
        <p:spPr>
          <a:xfrm>
            <a:off x="0" y="1067030"/>
            <a:ext cx="17259300" cy="3321027"/>
          </a:xfrm>
          <a:prstGeom prst="rect">
            <a:avLst/>
          </a:prstGeom>
          <a:noFill/>
          <a:ln>
            <a:noFill/>
          </a:ln>
        </p:spPr>
        <p:txBody>
          <a:bodyPr anchorCtr="0" anchor="t" bIns="0" lIns="0" spcFirstLastPara="1" rIns="0" wrap="square" tIns="0">
            <a:spAutoFit/>
          </a:bodyPr>
          <a:lstStyle/>
          <a:p>
            <a:pPr indent="0" lvl="0" marL="0" marR="0" rtl="0" algn="l">
              <a:lnSpc>
                <a:spcPct val="136982"/>
              </a:lnSpc>
              <a:spcBef>
                <a:spcPts val="0"/>
              </a:spcBef>
              <a:spcAft>
                <a:spcPts val="0"/>
              </a:spcAft>
              <a:buNone/>
            </a:pPr>
            <a:r>
              <a:rPr b="1" i="0" lang="en-US" sz="2366" u="none" cap="none" strike="noStrike">
                <a:solidFill>
                  <a:srgbClr val="000000"/>
                </a:solidFill>
                <a:latin typeface="Calibri"/>
                <a:ea typeface="Calibri"/>
                <a:cs typeface="Calibri"/>
                <a:sym typeface="Calibri"/>
              </a:rPr>
              <a:t>•</a:t>
            </a:r>
            <a:r>
              <a:rPr b="1" i="0" lang="en-US" sz="2366" u="sng" cap="none" strike="noStrike">
                <a:solidFill>
                  <a:srgbClr val="000000"/>
                </a:solidFill>
                <a:latin typeface="Calibri"/>
                <a:ea typeface="Calibri"/>
                <a:cs typeface="Calibri"/>
                <a:sym typeface="Calibri"/>
              </a:rPr>
              <a:t>Benjamin Bloom</a:t>
            </a:r>
            <a:r>
              <a:rPr b="1" i="0" lang="en-US" sz="2366" u="none" cap="none" strike="noStrike">
                <a:solidFill>
                  <a:srgbClr val="000000"/>
                </a:solidFill>
                <a:latin typeface="Calibri"/>
                <a:ea typeface="Calibri"/>
                <a:cs typeface="Calibri"/>
                <a:sym typeface="Calibri"/>
              </a:rPr>
              <a:t> elaboró la clasificación de conductas del individuo que identifican la organización y jerarquización de los procesos para la adquisición de conocimiento, y refieren a las áreas </a:t>
            </a:r>
            <a:r>
              <a:rPr b="1" i="0" lang="en-US" sz="2366" u="sng" cap="none" strike="noStrike">
                <a:solidFill>
                  <a:srgbClr val="000000"/>
                </a:solidFill>
                <a:latin typeface="Calibri"/>
                <a:ea typeface="Calibri"/>
                <a:cs typeface="Calibri"/>
                <a:sym typeface="Calibri"/>
              </a:rPr>
              <a:t>cognitiva, psicomotriz y afectiva</a:t>
            </a:r>
            <a:r>
              <a:rPr b="1" i="0" lang="en-US" sz="2366" u="none" cap="none" strike="noStrike">
                <a:solidFill>
                  <a:srgbClr val="000000"/>
                </a:solidFill>
                <a:latin typeface="Calibri"/>
                <a:ea typeface="Calibri"/>
                <a:cs typeface="Calibri"/>
                <a:sym typeface="Calibri"/>
              </a:rPr>
              <a:t> también conocida como </a:t>
            </a:r>
            <a:r>
              <a:rPr b="1" i="0" lang="en-US" sz="2366" u="sng" cap="none" strike="noStrike">
                <a:solidFill>
                  <a:srgbClr val="000000"/>
                </a:solidFill>
                <a:latin typeface="Calibri"/>
                <a:ea typeface="Calibri"/>
                <a:cs typeface="Calibri"/>
                <a:sym typeface="Calibri"/>
              </a:rPr>
              <a:t>dominios de aprendizaje</a:t>
            </a:r>
            <a:r>
              <a:rPr b="1" i="0" lang="en-US" sz="2366" u="none" cap="none" strike="noStrike">
                <a:solidFill>
                  <a:srgbClr val="000000"/>
                </a:solidFill>
                <a:latin typeface="Calibri"/>
                <a:ea typeface="Calibri"/>
                <a:cs typeface="Calibri"/>
                <a:sym typeface="Calibri"/>
              </a:rPr>
              <a:t>.</a:t>
            </a:r>
            <a:endParaRPr/>
          </a:p>
          <a:p>
            <a:pPr indent="-255436" lvl="1" marL="510872" marR="0" rtl="0" algn="l">
              <a:lnSpc>
                <a:spcPct val="136982"/>
              </a:lnSpc>
              <a:spcBef>
                <a:spcPts val="0"/>
              </a:spcBef>
              <a:spcAft>
                <a:spcPts val="0"/>
              </a:spcAft>
              <a:buClr>
                <a:srgbClr val="000000"/>
              </a:buClr>
              <a:buSzPts val="2366"/>
              <a:buFont typeface="Arial"/>
              <a:buChar char="•"/>
            </a:pPr>
            <a:r>
              <a:rPr b="1" i="0" lang="en-US" sz="2366" u="none" cap="none" strike="noStrike">
                <a:solidFill>
                  <a:srgbClr val="000000"/>
                </a:solidFill>
                <a:latin typeface="Calibri"/>
                <a:ea typeface="Calibri"/>
                <a:cs typeface="Calibri"/>
                <a:sym typeface="Calibri"/>
              </a:rPr>
              <a:t>La UNESCO plantea los tipos de dominios de aprendizaje: </a:t>
            </a:r>
            <a:r>
              <a:rPr b="1" i="0" lang="en-US" sz="2366" u="sng" cap="none" strike="noStrike">
                <a:solidFill>
                  <a:srgbClr val="000000"/>
                </a:solidFill>
                <a:latin typeface="Calibri"/>
                <a:ea typeface="Calibri"/>
                <a:cs typeface="Calibri"/>
                <a:sym typeface="Calibri"/>
              </a:rPr>
              <a:t>cognitivo, psicomotor, afectivo y relacional/social.</a:t>
            </a:r>
            <a:endParaRPr/>
          </a:p>
          <a:p>
            <a:pPr indent="-255436" lvl="1" marL="510872" marR="0" rtl="0" algn="l">
              <a:lnSpc>
                <a:spcPct val="136982"/>
              </a:lnSpc>
              <a:spcBef>
                <a:spcPts val="0"/>
              </a:spcBef>
              <a:spcAft>
                <a:spcPts val="0"/>
              </a:spcAft>
              <a:buClr>
                <a:srgbClr val="000000"/>
              </a:buClr>
              <a:buSzPts val="2366"/>
              <a:buFont typeface="Arial"/>
              <a:buChar char="•"/>
            </a:pPr>
            <a:r>
              <a:rPr b="1" i="0" lang="en-US" sz="2366" u="none" cap="none" strike="noStrike">
                <a:solidFill>
                  <a:srgbClr val="000000"/>
                </a:solidFill>
                <a:latin typeface="Calibri"/>
                <a:ea typeface="Calibri"/>
                <a:cs typeface="Calibri"/>
                <a:sym typeface="Calibri"/>
              </a:rPr>
              <a:t>Tomando en cuenta lo anterior ¿Qué área de dominio le asignas a: “capacidad intelectual del pensamiento”?</a:t>
            </a:r>
            <a:endParaRPr/>
          </a:p>
          <a:p>
            <a:pPr indent="-255436" lvl="1" marL="510872" marR="0" rtl="0" algn="l">
              <a:lnSpc>
                <a:spcPct val="136982"/>
              </a:lnSpc>
              <a:spcBef>
                <a:spcPts val="0"/>
              </a:spcBef>
              <a:spcAft>
                <a:spcPts val="0"/>
              </a:spcAft>
              <a:buClr>
                <a:srgbClr val="000000"/>
              </a:buClr>
              <a:buSzPts val="2366"/>
              <a:buFont typeface="Arial"/>
              <a:buChar char="•"/>
            </a:pPr>
            <a:r>
              <a:rPr b="1" i="0" lang="en-US" sz="2366" u="none" cap="none" strike="noStrike">
                <a:solidFill>
                  <a:srgbClr val="000000"/>
                </a:solidFill>
                <a:latin typeface="Calibri"/>
                <a:ea typeface="Calibri"/>
                <a:cs typeface="Calibri"/>
                <a:sym typeface="Calibri"/>
              </a:rPr>
              <a:t>Entonces las “habilidades y destrezas manuales” se consideran dentro de un área de dominio __________________</a:t>
            </a:r>
            <a:endParaRPr/>
          </a:p>
          <a:p>
            <a:pPr indent="-255436" lvl="1" marL="510872" marR="0" rtl="0" algn="l">
              <a:lnSpc>
                <a:spcPct val="136982"/>
              </a:lnSpc>
              <a:spcBef>
                <a:spcPts val="0"/>
              </a:spcBef>
              <a:spcAft>
                <a:spcPts val="0"/>
              </a:spcAft>
              <a:buClr>
                <a:srgbClr val="000000"/>
              </a:buClr>
              <a:buSzPts val="2366"/>
              <a:buFont typeface="Arial"/>
              <a:buChar char="•"/>
            </a:pPr>
            <a:r>
              <a:rPr b="1" i="0" lang="en-US" sz="2366" u="none" cap="none" strike="noStrike">
                <a:solidFill>
                  <a:srgbClr val="000000"/>
                </a:solidFill>
                <a:latin typeface="Calibri"/>
                <a:ea typeface="Calibri"/>
                <a:cs typeface="Calibri"/>
                <a:sym typeface="Calibri"/>
              </a:rPr>
              <a:t>Y la “adquisición, cambio de actitudes, hábitos, valores, apreciaciones, criterios y técnicas” ¿En qué área recaería?</a:t>
            </a:r>
            <a:endParaRPr/>
          </a:p>
          <a:p>
            <a:pPr indent="-255436" lvl="1" marL="510872" marR="0" rtl="0" algn="l">
              <a:lnSpc>
                <a:spcPct val="136982"/>
              </a:lnSpc>
              <a:spcBef>
                <a:spcPts val="0"/>
              </a:spcBef>
              <a:spcAft>
                <a:spcPts val="0"/>
              </a:spcAft>
              <a:buClr>
                <a:srgbClr val="000000"/>
              </a:buClr>
              <a:buSzPts val="2366"/>
              <a:buFont typeface="Arial"/>
              <a:buChar char="•"/>
            </a:pPr>
            <a:r>
              <a:rPr b="1" i="0" lang="en-US" sz="2366" u="none" cap="none" strike="noStrike">
                <a:solidFill>
                  <a:srgbClr val="000000"/>
                </a:solidFill>
                <a:latin typeface="Calibri"/>
                <a:ea typeface="Calibri"/>
                <a:cs typeface="Calibri"/>
                <a:sym typeface="Calibri"/>
              </a:rPr>
              <a:t>Una más, la “intolerancia, ira, arrogancia respecto a las ideas de otras personas” ¿De qué tipo de dominio se carece?</a:t>
            </a:r>
            <a:endParaRPr/>
          </a:p>
        </p:txBody>
      </p:sp>
      <p:sp>
        <p:nvSpPr>
          <p:cNvPr id="280" name="Google Shape;280;p13"/>
          <p:cNvSpPr txBox="1"/>
          <p:nvPr/>
        </p:nvSpPr>
        <p:spPr>
          <a:xfrm rot="-488346">
            <a:off x="245956" y="-13733"/>
            <a:ext cx="1852470" cy="68132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1" i="0" lang="en-US" sz="3553" u="none" cap="none" strike="noStrike">
                <a:solidFill>
                  <a:srgbClr val="E4081C"/>
                </a:solidFill>
                <a:latin typeface="Calibri"/>
                <a:ea typeface="Calibri"/>
                <a:cs typeface="Calibri"/>
                <a:sym typeface="Calibri"/>
              </a:rPr>
              <a:t>EJEMPLO</a:t>
            </a:r>
            <a:endParaRPr/>
          </a:p>
        </p:txBody>
      </p:sp>
      <p:sp>
        <p:nvSpPr>
          <p:cNvPr id="281" name="Google Shape;281;p13"/>
          <p:cNvSpPr txBox="1"/>
          <p:nvPr/>
        </p:nvSpPr>
        <p:spPr>
          <a:xfrm>
            <a:off x="227284" y="5048250"/>
            <a:ext cx="17259300" cy="1682595"/>
          </a:xfrm>
          <a:prstGeom prst="rect">
            <a:avLst/>
          </a:prstGeom>
          <a:noFill/>
          <a:ln>
            <a:noFill/>
          </a:ln>
        </p:spPr>
        <p:txBody>
          <a:bodyPr anchorCtr="0" anchor="t" bIns="0" lIns="0" spcFirstLastPara="1" rIns="0" wrap="square" tIns="0">
            <a:spAutoFit/>
          </a:bodyPr>
          <a:lstStyle/>
          <a:p>
            <a:pPr indent="0" lvl="0" marL="0" marR="0" rtl="0" algn="just">
              <a:lnSpc>
                <a:spcPct val="136982"/>
              </a:lnSpc>
              <a:spcBef>
                <a:spcPts val="0"/>
              </a:spcBef>
              <a:spcAft>
                <a:spcPts val="0"/>
              </a:spcAft>
              <a:buNone/>
            </a:pPr>
            <a:r>
              <a:rPr b="1" i="0" lang="en-US" sz="2366" u="none" cap="none" strike="noStrike">
                <a:solidFill>
                  <a:srgbClr val="000000"/>
                </a:solidFill>
                <a:latin typeface="Calibri"/>
                <a:ea typeface="Calibri"/>
                <a:cs typeface="Calibri"/>
                <a:sym typeface="Calibri"/>
              </a:rPr>
              <a:t>•Una recomendación basada en experiencia muy personal, es poner atención a lo capciosas que pudieran resultar algunas aseveraciones como “la relaciones que tiene una persona con el recuerdo o información” en el contexto de asignarla incorrectamente por ejemplo al área de dominio relacional social por el solo hecho de hablar de “relaciones”cuando, con un poco de mayor consciencia caeremos en la cuenta que se trata de un dominio cognitivo.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p:nvPr/>
        </p:nvSpPr>
        <p:spPr>
          <a:xfrm>
            <a:off x="0" y="0"/>
            <a:ext cx="9172432" cy="10287000"/>
          </a:xfrm>
          <a:custGeom>
            <a:rect b="b" l="l" r="r" t="t"/>
            <a:pathLst>
              <a:path extrusionOk="0" h="9144000" w="8153273">
                <a:moveTo>
                  <a:pt x="0" y="0"/>
                </a:moveTo>
                <a:lnTo>
                  <a:pt x="0" y="9144000"/>
                </a:lnTo>
                <a:lnTo>
                  <a:pt x="4917567" y="9144000"/>
                </a:lnTo>
                <a:lnTo>
                  <a:pt x="4936490" y="9073134"/>
                </a:lnTo>
                <a:cubicBezTo>
                  <a:pt x="4933188" y="9004046"/>
                  <a:pt x="4893310" y="8955913"/>
                  <a:pt x="4848352" y="8955913"/>
                </a:cubicBezTo>
                <a:cubicBezTo>
                  <a:pt x="4841113" y="8955913"/>
                  <a:pt x="4833747" y="8957183"/>
                  <a:pt x="4826254" y="8959850"/>
                </a:cubicBezTo>
                <a:cubicBezTo>
                  <a:pt x="4788281" y="8973820"/>
                  <a:pt x="4751324" y="8979027"/>
                  <a:pt x="4715129" y="8979027"/>
                </a:cubicBezTo>
                <a:cubicBezTo>
                  <a:pt x="4610989" y="8979027"/>
                  <a:pt x="4512183" y="8936228"/>
                  <a:pt x="4406011" y="8936228"/>
                </a:cubicBezTo>
                <a:cubicBezTo>
                  <a:pt x="4386580" y="8936228"/>
                  <a:pt x="4366895" y="8937625"/>
                  <a:pt x="4346956" y="8941054"/>
                </a:cubicBezTo>
                <a:cubicBezTo>
                  <a:pt x="4495292" y="8879713"/>
                  <a:pt x="4643501" y="8822944"/>
                  <a:pt x="4791837" y="8761603"/>
                </a:cubicBezTo>
                <a:cubicBezTo>
                  <a:pt x="4762119" y="8757666"/>
                  <a:pt x="4732401" y="8756015"/>
                  <a:pt x="4702683" y="8756015"/>
                </a:cubicBezTo>
                <a:cubicBezTo>
                  <a:pt x="4515612" y="8756015"/>
                  <a:pt x="4328668" y="8825484"/>
                  <a:pt x="4141597" y="8870315"/>
                </a:cubicBezTo>
                <a:cubicBezTo>
                  <a:pt x="4099433" y="8881999"/>
                  <a:pt x="4041394" y="8925814"/>
                  <a:pt x="3999484" y="8925814"/>
                </a:cubicBezTo>
                <a:cubicBezTo>
                  <a:pt x="3973322" y="8925814"/>
                  <a:pt x="3953383" y="8908796"/>
                  <a:pt x="3947541" y="8856091"/>
                </a:cubicBezTo>
                <a:cubicBezTo>
                  <a:pt x="3939921" y="8766302"/>
                  <a:pt x="4054094" y="8752205"/>
                  <a:pt x="4118737" y="8723884"/>
                </a:cubicBezTo>
                <a:cubicBezTo>
                  <a:pt x="4411472" y="8596376"/>
                  <a:pt x="4704461" y="8516112"/>
                  <a:pt x="5001133" y="8426323"/>
                </a:cubicBezTo>
                <a:cubicBezTo>
                  <a:pt x="5027676" y="8416925"/>
                  <a:pt x="5065776" y="8421624"/>
                  <a:pt x="5084826" y="8398002"/>
                </a:cubicBezTo>
                <a:cubicBezTo>
                  <a:pt x="5240782" y="8218551"/>
                  <a:pt x="5430901" y="8152384"/>
                  <a:pt x="5640070" y="8015478"/>
                </a:cubicBezTo>
                <a:cubicBezTo>
                  <a:pt x="5617845" y="8006588"/>
                  <a:pt x="5596636" y="8002905"/>
                  <a:pt x="5576443" y="8002905"/>
                </a:cubicBezTo>
                <a:cubicBezTo>
                  <a:pt x="5489067" y="8002905"/>
                  <a:pt x="5417566" y="8070342"/>
                  <a:pt x="5340223" y="8070342"/>
                </a:cubicBezTo>
                <a:cubicBezTo>
                  <a:pt x="5331206" y="8070342"/>
                  <a:pt x="5322189" y="8069453"/>
                  <a:pt x="5312918" y="8067421"/>
                </a:cubicBezTo>
                <a:cubicBezTo>
                  <a:pt x="5427091" y="7930388"/>
                  <a:pt x="5556377" y="7902067"/>
                  <a:pt x="5670550" y="7821803"/>
                </a:cubicBezTo>
                <a:cubicBezTo>
                  <a:pt x="5750306" y="7765161"/>
                  <a:pt x="6058535" y="7595108"/>
                  <a:pt x="6104001" y="7543165"/>
                </a:cubicBezTo>
                <a:cubicBezTo>
                  <a:pt x="6244717" y="7396734"/>
                  <a:pt x="6423533" y="7321042"/>
                  <a:pt x="6537452" y="7127494"/>
                </a:cubicBezTo>
                <a:cubicBezTo>
                  <a:pt x="6621272" y="6990461"/>
                  <a:pt x="6754368" y="7009511"/>
                  <a:pt x="6849364" y="6910197"/>
                </a:cubicBezTo>
                <a:cubicBezTo>
                  <a:pt x="6883527" y="6820408"/>
                  <a:pt x="6822821" y="6801485"/>
                  <a:pt x="6799961" y="6754241"/>
                </a:cubicBezTo>
                <a:cubicBezTo>
                  <a:pt x="6773418" y="6692900"/>
                  <a:pt x="6826504" y="6655181"/>
                  <a:pt x="6841744" y="6579489"/>
                </a:cubicBezTo>
                <a:cubicBezTo>
                  <a:pt x="6663055" y="6673977"/>
                  <a:pt x="6495669" y="6735445"/>
                  <a:pt x="6294120" y="6773164"/>
                </a:cubicBezTo>
                <a:cubicBezTo>
                  <a:pt x="6362573" y="6645656"/>
                  <a:pt x="6442456" y="6697599"/>
                  <a:pt x="6495669" y="6650355"/>
                </a:cubicBezTo>
                <a:cubicBezTo>
                  <a:pt x="6530086" y="6617208"/>
                  <a:pt x="6586982" y="6603111"/>
                  <a:pt x="6579489" y="6532118"/>
                </a:cubicBezTo>
                <a:cubicBezTo>
                  <a:pt x="6574790" y="6496939"/>
                  <a:pt x="6555232" y="6487287"/>
                  <a:pt x="6533769" y="6487287"/>
                </a:cubicBezTo>
                <a:cubicBezTo>
                  <a:pt x="6520815" y="6487287"/>
                  <a:pt x="6507099" y="6490843"/>
                  <a:pt x="6495669" y="6494399"/>
                </a:cubicBezTo>
                <a:cubicBezTo>
                  <a:pt x="6448171" y="6504813"/>
                  <a:pt x="6401562" y="6513322"/>
                  <a:pt x="6355969" y="6513322"/>
                </a:cubicBezTo>
                <a:cubicBezTo>
                  <a:pt x="6277483" y="6513322"/>
                  <a:pt x="6201410" y="6488176"/>
                  <a:pt x="6126861" y="6404610"/>
                </a:cubicBezTo>
                <a:cubicBezTo>
                  <a:pt x="6442456" y="6187313"/>
                  <a:pt x="6796278" y="6253607"/>
                  <a:pt x="7081393" y="5946521"/>
                </a:cubicBezTo>
                <a:cubicBezTo>
                  <a:pt x="7064502" y="5908675"/>
                  <a:pt x="7043801" y="5896991"/>
                  <a:pt x="7022719" y="5896991"/>
                </a:cubicBezTo>
                <a:cubicBezTo>
                  <a:pt x="6996430" y="5896991"/>
                  <a:pt x="6969506" y="5915025"/>
                  <a:pt x="6948297" y="5922772"/>
                </a:cubicBezTo>
                <a:cubicBezTo>
                  <a:pt x="6678422" y="6012561"/>
                  <a:pt x="5719953" y="5936996"/>
                  <a:pt x="5579237" y="6036183"/>
                </a:cubicBezTo>
                <a:cubicBezTo>
                  <a:pt x="5514848" y="6081268"/>
                  <a:pt x="5448554" y="6108573"/>
                  <a:pt x="5381625" y="6108573"/>
                </a:cubicBezTo>
                <a:cubicBezTo>
                  <a:pt x="5357495" y="6108573"/>
                  <a:pt x="5333365" y="6105017"/>
                  <a:pt x="5309235" y="6097524"/>
                </a:cubicBezTo>
                <a:cubicBezTo>
                  <a:pt x="5198999" y="6064504"/>
                  <a:pt x="5853176" y="5932297"/>
                  <a:pt x="6009132" y="5724525"/>
                </a:cubicBezTo>
                <a:cubicBezTo>
                  <a:pt x="6085205" y="5625338"/>
                  <a:pt x="6762115" y="5110480"/>
                  <a:pt x="7066280" y="4949825"/>
                </a:cubicBezTo>
                <a:cubicBezTo>
                  <a:pt x="7028307" y="4869561"/>
                  <a:pt x="6921881" y="4926330"/>
                  <a:pt x="6940804" y="4784598"/>
                </a:cubicBezTo>
                <a:cubicBezTo>
                  <a:pt x="7104380" y="4699635"/>
                  <a:pt x="7290816" y="4690110"/>
                  <a:pt x="7480935" y="4562602"/>
                </a:cubicBezTo>
                <a:cubicBezTo>
                  <a:pt x="7443851" y="4525391"/>
                  <a:pt x="7402830" y="4517644"/>
                  <a:pt x="7361047" y="4517644"/>
                </a:cubicBezTo>
                <a:cubicBezTo>
                  <a:pt x="7330948" y="4517644"/>
                  <a:pt x="7300595" y="4521708"/>
                  <a:pt x="7271004" y="4521708"/>
                </a:cubicBezTo>
                <a:cubicBezTo>
                  <a:pt x="7253097" y="4521708"/>
                  <a:pt x="7235444" y="4520184"/>
                  <a:pt x="7218426" y="4515358"/>
                </a:cubicBezTo>
                <a:cubicBezTo>
                  <a:pt x="7267829" y="4402074"/>
                  <a:pt x="7351522" y="4416298"/>
                  <a:pt x="7419975" y="4387850"/>
                </a:cubicBezTo>
                <a:cubicBezTo>
                  <a:pt x="7479538" y="4364863"/>
                  <a:pt x="7611364" y="4174998"/>
                  <a:pt x="7592822" y="4174998"/>
                </a:cubicBezTo>
                <a:cubicBezTo>
                  <a:pt x="7592314" y="4174998"/>
                  <a:pt x="7591806" y="4175125"/>
                  <a:pt x="7591171" y="4175379"/>
                </a:cubicBezTo>
                <a:cubicBezTo>
                  <a:pt x="7332599" y="4274566"/>
                  <a:pt x="7070090" y="4265168"/>
                  <a:pt x="6811518" y="4364355"/>
                </a:cubicBezTo>
                <a:cubicBezTo>
                  <a:pt x="6769862" y="4380103"/>
                  <a:pt x="6726555" y="4401058"/>
                  <a:pt x="6688582" y="4401058"/>
                </a:cubicBezTo>
                <a:cubicBezTo>
                  <a:pt x="6646545" y="4401058"/>
                  <a:pt x="6610858" y="4375404"/>
                  <a:pt x="6590919" y="4288663"/>
                </a:cubicBezTo>
                <a:cubicBezTo>
                  <a:pt x="6585077" y="4264279"/>
                  <a:pt x="6585204" y="4247388"/>
                  <a:pt x="6569837" y="4247388"/>
                </a:cubicBezTo>
                <a:cubicBezTo>
                  <a:pt x="6555486" y="4247388"/>
                  <a:pt x="6527800" y="4261866"/>
                  <a:pt x="6469253" y="4298188"/>
                </a:cubicBezTo>
                <a:cubicBezTo>
                  <a:pt x="6440424" y="4314825"/>
                  <a:pt x="6407658" y="4332986"/>
                  <a:pt x="6376289" y="4332986"/>
                </a:cubicBezTo>
                <a:cubicBezTo>
                  <a:pt x="6353937" y="4332986"/>
                  <a:pt x="6332347" y="4323715"/>
                  <a:pt x="6313297" y="4298188"/>
                </a:cubicBezTo>
                <a:cubicBezTo>
                  <a:pt x="6343777" y="4217924"/>
                  <a:pt x="6400800" y="4236847"/>
                  <a:pt x="6446393" y="4213225"/>
                </a:cubicBezTo>
                <a:cubicBezTo>
                  <a:pt x="6560566" y="4147185"/>
                  <a:pt x="6883781" y="3910965"/>
                  <a:pt x="6994144" y="3840226"/>
                </a:cubicBezTo>
                <a:cubicBezTo>
                  <a:pt x="7222236" y="3693795"/>
                  <a:pt x="7362952" y="3721989"/>
                  <a:pt x="7598791" y="3561461"/>
                </a:cubicBezTo>
                <a:cubicBezTo>
                  <a:pt x="7592060" y="3562223"/>
                  <a:pt x="7586218" y="3562604"/>
                  <a:pt x="7580884" y="3562604"/>
                </a:cubicBezTo>
                <a:cubicBezTo>
                  <a:pt x="7522591" y="3562604"/>
                  <a:pt x="7539101" y="3518916"/>
                  <a:pt x="7469505" y="3518916"/>
                </a:cubicBezTo>
                <a:cubicBezTo>
                  <a:pt x="7435342" y="3518916"/>
                  <a:pt x="7397242" y="3509391"/>
                  <a:pt x="7401052" y="3452749"/>
                </a:cubicBezTo>
                <a:cubicBezTo>
                  <a:pt x="7401052" y="3396234"/>
                  <a:pt x="7823200" y="3070225"/>
                  <a:pt x="7766177" y="3046730"/>
                </a:cubicBezTo>
                <a:cubicBezTo>
                  <a:pt x="7747254" y="3038094"/>
                  <a:pt x="7724394" y="3034411"/>
                  <a:pt x="7699248" y="3034411"/>
                </a:cubicBezTo>
                <a:cubicBezTo>
                  <a:pt x="7555865" y="3034411"/>
                  <a:pt x="7333996" y="3153029"/>
                  <a:pt x="7289927" y="3153029"/>
                </a:cubicBezTo>
                <a:cubicBezTo>
                  <a:pt x="7277989" y="3153029"/>
                  <a:pt x="7279132" y="3144393"/>
                  <a:pt x="7298309" y="3122295"/>
                </a:cubicBezTo>
                <a:cubicBezTo>
                  <a:pt x="7450582" y="2947543"/>
                  <a:pt x="7473442" y="2909824"/>
                  <a:pt x="7587361" y="2881376"/>
                </a:cubicBezTo>
                <a:cubicBezTo>
                  <a:pt x="7686294" y="2853055"/>
                  <a:pt x="8039989" y="2366645"/>
                  <a:pt x="8138922" y="2324100"/>
                </a:cubicBezTo>
                <a:cubicBezTo>
                  <a:pt x="8147812" y="2320290"/>
                  <a:pt x="8152384" y="2315972"/>
                  <a:pt x="8153273" y="2311146"/>
                </a:cubicBezTo>
                <a:lnTo>
                  <a:pt x="8153273" y="2307463"/>
                </a:lnTo>
                <a:cubicBezTo>
                  <a:pt x="8145399" y="2264537"/>
                  <a:pt x="7873238" y="2193036"/>
                  <a:pt x="7693914" y="2168271"/>
                </a:cubicBezTo>
                <a:cubicBezTo>
                  <a:pt x="7671435" y="2164969"/>
                  <a:pt x="7647813" y="2163699"/>
                  <a:pt x="7623556" y="2163699"/>
                </a:cubicBezTo>
                <a:cubicBezTo>
                  <a:pt x="7509002" y="2163699"/>
                  <a:pt x="7377938" y="2193544"/>
                  <a:pt x="7255637" y="2193544"/>
                </a:cubicBezTo>
                <a:cubicBezTo>
                  <a:pt x="7176389" y="2193544"/>
                  <a:pt x="7100951" y="2181098"/>
                  <a:pt x="7036054" y="2139950"/>
                </a:cubicBezTo>
                <a:cubicBezTo>
                  <a:pt x="7176770" y="2092706"/>
                  <a:pt x="6366637" y="2045462"/>
                  <a:pt x="6104255" y="2040890"/>
                </a:cubicBezTo>
                <a:cubicBezTo>
                  <a:pt x="6123178" y="2031365"/>
                  <a:pt x="6138418" y="2017141"/>
                  <a:pt x="6142355" y="1974723"/>
                </a:cubicBezTo>
                <a:cubicBezTo>
                  <a:pt x="6146038" y="1903984"/>
                  <a:pt x="6066155" y="1955927"/>
                  <a:pt x="6051042" y="1889760"/>
                </a:cubicBezTo>
                <a:cubicBezTo>
                  <a:pt x="6146038" y="1790573"/>
                  <a:pt x="6256274" y="1870837"/>
                  <a:pt x="6355207" y="1790573"/>
                </a:cubicBezTo>
                <a:cubicBezTo>
                  <a:pt x="6408547" y="1696085"/>
                  <a:pt x="6298311" y="1686814"/>
                  <a:pt x="6324854" y="1592326"/>
                </a:cubicBezTo>
                <a:cubicBezTo>
                  <a:pt x="6632829" y="1493139"/>
                  <a:pt x="6693662" y="1337310"/>
                  <a:pt x="6997954" y="1190879"/>
                </a:cubicBezTo>
                <a:cubicBezTo>
                  <a:pt x="7016877" y="1181354"/>
                  <a:pt x="7032117" y="1153160"/>
                  <a:pt x="7016877" y="1091692"/>
                </a:cubicBezTo>
                <a:cubicBezTo>
                  <a:pt x="6997954" y="1088898"/>
                  <a:pt x="6978523" y="1087755"/>
                  <a:pt x="6958838" y="1087755"/>
                </a:cubicBezTo>
                <a:cubicBezTo>
                  <a:pt x="6844157" y="1087755"/>
                  <a:pt x="6718046" y="1129665"/>
                  <a:pt x="6594729" y="1157986"/>
                </a:cubicBezTo>
                <a:cubicBezTo>
                  <a:pt x="6509004" y="1177798"/>
                  <a:pt x="6456680" y="1190752"/>
                  <a:pt x="6413627" y="1190752"/>
                </a:cubicBezTo>
                <a:cubicBezTo>
                  <a:pt x="6343904" y="1190752"/>
                  <a:pt x="6298819" y="1156970"/>
                  <a:pt x="6176518" y="1063498"/>
                </a:cubicBezTo>
                <a:cubicBezTo>
                  <a:pt x="6159246" y="1050544"/>
                  <a:pt x="6136386" y="1042543"/>
                  <a:pt x="6113018" y="1042543"/>
                </a:cubicBezTo>
                <a:cubicBezTo>
                  <a:pt x="6085078" y="1042543"/>
                  <a:pt x="6056503" y="1053973"/>
                  <a:pt x="6035802" y="1082294"/>
                </a:cubicBezTo>
                <a:cubicBezTo>
                  <a:pt x="5993892" y="1139571"/>
                  <a:pt x="5957824" y="1163828"/>
                  <a:pt x="5922264" y="1163828"/>
                </a:cubicBezTo>
                <a:cubicBezTo>
                  <a:pt x="5893308" y="1163828"/>
                  <a:pt x="5864860" y="1147699"/>
                  <a:pt x="5834126" y="1120140"/>
                </a:cubicBezTo>
                <a:cubicBezTo>
                  <a:pt x="5810504" y="1100074"/>
                  <a:pt x="5782818" y="1095629"/>
                  <a:pt x="5752973" y="1095629"/>
                </a:cubicBezTo>
                <a:cubicBezTo>
                  <a:pt x="5729478" y="1095629"/>
                  <a:pt x="5704840" y="1098423"/>
                  <a:pt x="5679821" y="1098423"/>
                </a:cubicBezTo>
                <a:cubicBezTo>
                  <a:pt x="5639435" y="1098423"/>
                  <a:pt x="5598160" y="1091311"/>
                  <a:pt x="5560314" y="1053973"/>
                </a:cubicBezTo>
                <a:cubicBezTo>
                  <a:pt x="5739130" y="973709"/>
                  <a:pt x="5898769" y="964184"/>
                  <a:pt x="6089015" y="959485"/>
                </a:cubicBezTo>
                <a:cubicBezTo>
                  <a:pt x="6031992" y="831977"/>
                  <a:pt x="5952236" y="836676"/>
                  <a:pt x="5883656" y="831977"/>
                </a:cubicBezTo>
                <a:cubicBezTo>
                  <a:pt x="5613781" y="822452"/>
                  <a:pt x="5343652" y="831977"/>
                  <a:pt x="5077460" y="784733"/>
                </a:cubicBezTo>
                <a:cubicBezTo>
                  <a:pt x="5009007" y="770509"/>
                  <a:pt x="4940427" y="765937"/>
                  <a:pt x="4879721" y="732790"/>
                </a:cubicBezTo>
                <a:cubicBezTo>
                  <a:pt x="4168521" y="369189"/>
                  <a:pt x="5088890" y="142494"/>
                  <a:pt x="4316857" y="43307"/>
                </a:cubicBezTo>
                <a:cubicBezTo>
                  <a:pt x="4183507" y="23495"/>
                  <a:pt x="4046601" y="14224"/>
                  <a:pt x="3913505" y="0"/>
                </a:cubicBezTo>
                <a:close/>
              </a:path>
            </a:pathLst>
          </a:custGeom>
          <a:solidFill>
            <a:srgbClr val="000000">
              <a:alpha val="0"/>
            </a:srgbClr>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4"/>
          <p:cNvSpPr txBox="1"/>
          <p:nvPr/>
        </p:nvSpPr>
        <p:spPr>
          <a:xfrm>
            <a:off x="9584250" y="1662851"/>
            <a:ext cx="7042506" cy="5986560"/>
          </a:xfrm>
          <a:prstGeom prst="rect">
            <a:avLst/>
          </a:prstGeom>
          <a:noFill/>
          <a:ln>
            <a:noFill/>
          </a:ln>
        </p:spPr>
        <p:txBody>
          <a:bodyPr anchorCtr="0" anchor="t" bIns="0" lIns="0" spcFirstLastPara="1" rIns="0" wrap="square" tIns="0">
            <a:spAutoFit/>
          </a:bodyPr>
          <a:lstStyle/>
          <a:p>
            <a:pPr indent="0" lvl="0" marL="0" marR="0" rtl="0" algn="l">
              <a:lnSpc>
                <a:spcPct val="250046"/>
              </a:lnSpc>
              <a:spcBef>
                <a:spcPts val="0"/>
              </a:spcBef>
              <a:spcAft>
                <a:spcPts val="0"/>
              </a:spcAft>
              <a:buNone/>
            </a:pPr>
            <a:r>
              <a:rPr b="1" i="0" lang="en-US" sz="3203" u="none" cap="none" strike="noStrike">
                <a:solidFill>
                  <a:srgbClr val="E40D0D"/>
                </a:solidFill>
                <a:latin typeface="Calibri"/>
                <a:ea typeface="Calibri"/>
                <a:cs typeface="Calibri"/>
                <a:sym typeface="Calibri"/>
              </a:rPr>
              <a:t>Espacio para más contenido de tu curso de acuerdo a tu temario y a la secuencia de tu carta descriptiva.</a:t>
            </a:r>
            <a:endParaRPr/>
          </a:p>
          <a:p>
            <a:pPr indent="0" lvl="0" marL="0" marR="0" rtl="0" algn="l">
              <a:lnSpc>
                <a:spcPct val="250046"/>
              </a:lnSpc>
              <a:spcBef>
                <a:spcPts val="0"/>
              </a:spcBef>
              <a:spcAft>
                <a:spcPts val="0"/>
              </a:spcAft>
              <a:buNone/>
            </a:pPr>
            <a:r>
              <a:t/>
            </a:r>
            <a:endParaRPr b="1" i="0" sz="3203" u="none" cap="none" strike="noStrike">
              <a:solidFill>
                <a:srgbClr val="E40D0D"/>
              </a:solidFill>
              <a:latin typeface="Calibri"/>
              <a:ea typeface="Calibri"/>
              <a:cs typeface="Calibri"/>
              <a:sym typeface="Calibri"/>
            </a:endParaRPr>
          </a:p>
          <a:p>
            <a:pPr indent="0" lvl="0" marL="0" marR="0" rtl="0" algn="l">
              <a:lnSpc>
                <a:spcPct val="250046"/>
              </a:lnSpc>
              <a:spcBef>
                <a:spcPts val="0"/>
              </a:spcBef>
              <a:spcAft>
                <a:spcPts val="0"/>
              </a:spcAft>
              <a:buNone/>
            </a:pPr>
            <a:r>
              <a:rPr b="1" i="0" lang="en-US" sz="3203" u="none" cap="none" strike="noStrike">
                <a:solidFill>
                  <a:srgbClr val="E40D0D"/>
                </a:solidFill>
                <a:latin typeface="Calibri"/>
                <a:ea typeface="Calibri"/>
                <a:cs typeface="Calibri"/>
                <a:sym typeface="Calibri"/>
              </a:rPr>
              <a:t>Incluye las diapositivas necesarias para cumplir los OBJETIVOS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5"/>
          <p:cNvSpPr/>
          <p:nvPr/>
        </p:nvSpPr>
        <p:spPr>
          <a:xfrm>
            <a:off x="500062" y="0"/>
            <a:ext cx="3657600" cy="8301038"/>
          </a:xfrm>
          <a:custGeom>
            <a:rect b="b" l="l" r="r" t="t"/>
            <a:pathLst>
              <a:path extrusionOk="0" h="8301038" w="3657600">
                <a:moveTo>
                  <a:pt x="0" y="0"/>
                </a:moveTo>
                <a:lnTo>
                  <a:pt x="3657600" y="0"/>
                </a:lnTo>
                <a:lnTo>
                  <a:pt x="3657600" y="8301038"/>
                </a:lnTo>
                <a:lnTo>
                  <a:pt x="0" y="8301038"/>
                </a:lnTo>
                <a:lnTo>
                  <a:pt x="0" y="0"/>
                </a:lnTo>
                <a:close/>
              </a:path>
            </a:pathLst>
          </a:custGeom>
          <a:blipFill rotWithShape="1">
            <a:blip r:embed="rId3">
              <a:alphaModFix/>
            </a:blip>
            <a:stretch>
              <a:fillRect b="0" l="0" r="0" t="0"/>
            </a:stretch>
          </a:blipFill>
          <a:ln>
            <a:noFill/>
          </a:ln>
        </p:spPr>
      </p:sp>
      <p:sp>
        <p:nvSpPr>
          <p:cNvPr id="293" name="Google Shape;293;p15"/>
          <p:cNvSpPr/>
          <p:nvPr/>
        </p:nvSpPr>
        <p:spPr>
          <a:xfrm>
            <a:off x="500062" y="8558212"/>
            <a:ext cx="3648270" cy="228600"/>
          </a:xfrm>
          <a:custGeom>
            <a:rect b="b" l="l" r="r" t="t"/>
            <a:pathLst>
              <a:path extrusionOk="0" h="228600" w="3648270">
                <a:moveTo>
                  <a:pt x="0" y="0"/>
                </a:moveTo>
                <a:lnTo>
                  <a:pt x="3648271" y="0"/>
                </a:lnTo>
                <a:lnTo>
                  <a:pt x="3648271" y="228600"/>
                </a:lnTo>
                <a:lnTo>
                  <a:pt x="0" y="228600"/>
                </a:lnTo>
                <a:lnTo>
                  <a:pt x="0" y="0"/>
                </a:lnTo>
                <a:close/>
              </a:path>
            </a:pathLst>
          </a:custGeom>
          <a:blipFill rotWithShape="1">
            <a:blip r:embed="rId4">
              <a:alphaModFix/>
            </a:blip>
            <a:stretch>
              <a:fillRect b="0" l="0" r="0" t="0"/>
            </a:stretch>
          </a:blipFill>
          <a:ln>
            <a:noFill/>
          </a:ln>
        </p:spPr>
      </p:sp>
      <p:sp>
        <p:nvSpPr>
          <p:cNvPr id="294" name="Google Shape;294;p15"/>
          <p:cNvSpPr/>
          <p:nvPr/>
        </p:nvSpPr>
        <p:spPr>
          <a:xfrm>
            <a:off x="800100" y="971450"/>
            <a:ext cx="11980169" cy="8951219"/>
          </a:xfrm>
          <a:custGeom>
            <a:rect b="b" l="l" r="r" t="t"/>
            <a:pathLst>
              <a:path extrusionOk="0" h="8951219" w="11980169">
                <a:moveTo>
                  <a:pt x="0" y="0"/>
                </a:moveTo>
                <a:lnTo>
                  <a:pt x="11980169" y="0"/>
                </a:lnTo>
                <a:lnTo>
                  <a:pt x="11980169" y="8951219"/>
                </a:lnTo>
                <a:lnTo>
                  <a:pt x="0" y="8951219"/>
                </a:lnTo>
                <a:lnTo>
                  <a:pt x="0" y="0"/>
                </a:lnTo>
                <a:close/>
              </a:path>
            </a:pathLst>
          </a:custGeom>
          <a:blipFill rotWithShape="1">
            <a:blip r:embed="rId5">
              <a:alphaModFix/>
            </a:blip>
            <a:stretch>
              <a:fillRect b="0" l="0" r="0" t="0"/>
            </a:stretch>
          </a:blipFill>
          <a:ln>
            <a:noFill/>
          </a:ln>
        </p:spPr>
      </p:sp>
      <p:sp>
        <p:nvSpPr>
          <p:cNvPr id="295" name="Google Shape;295;p15"/>
          <p:cNvSpPr/>
          <p:nvPr/>
        </p:nvSpPr>
        <p:spPr>
          <a:xfrm>
            <a:off x="1260756" y="1014412"/>
            <a:ext cx="11530012" cy="8501062"/>
          </a:xfrm>
          <a:custGeom>
            <a:rect b="b" l="l" r="r" t="t"/>
            <a:pathLst>
              <a:path extrusionOk="0" h="8501062" w="11530012">
                <a:moveTo>
                  <a:pt x="0" y="0"/>
                </a:moveTo>
                <a:lnTo>
                  <a:pt x="11530013" y="0"/>
                </a:lnTo>
                <a:lnTo>
                  <a:pt x="11530013" y="8501063"/>
                </a:lnTo>
                <a:lnTo>
                  <a:pt x="0" y="8501063"/>
                </a:lnTo>
                <a:lnTo>
                  <a:pt x="0" y="0"/>
                </a:lnTo>
                <a:close/>
              </a:path>
            </a:pathLst>
          </a:custGeom>
          <a:blipFill rotWithShape="1">
            <a:blip r:embed="rId6">
              <a:alphaModFix/>
            </a:blip>
            <a:stretch>
              <a:fillRect b="0" l="0" r="0" t="0"/>
            </a:stretch>
          </a:blipFill>
          <a:ln>
            <a:noFill/>
          </a:ln>
        </p:spPr>
      </p:sp>
      <p:sp>
        <p:nvSpPr>
          <p:cNvPr id="296" name="Google Shape;296;p15"/>
          <p:cNvSpPr txBox="1"/>
          <p:nvPr/>
        </p:nvSpPr>
        <p:spPr>
          <a:xfrm>
            <a:off x="1507331" y="1700079"/>
            <a:ext cx="8148504" cy="507637"/>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0" i="0" lang="en-US" sz="2703" u="none" cap="none" strike="noStrike">
                <a:solidFill>
                  <a:srgbClr val="000000"/>
                </a:solidFill>
                <a:latin typeface="Calibri"/>
                <a:ea typeface="Calibri"/>
                <a:cs typeface="Calibri"/>
                <a:sym typeface="Calibri"/>
              </a:rPr>
              <a:t>Muy bien; </a:t>
            </a:r>
            <a:r>
              <a:rPr b="1" i="0" lang="en-US" sz="2703" u="none" cap="none" strike="noStrike">
                <a:solidFill>
                  <a:srgbClr val="000000"/>
                </a:solidFill>
                <a:latin typeface="Calibri"/>
                <a:ea typeface="Calibri"/>
                <a:cs typeface="Calibri"/>
                <a:sym typeface="Calibri"/>
              </a:rPr>
              <a:t>hagamos una Síntesis </a:t>
            </a:r>
            <a:r>
              <a:rPr b="0" i="0" lang="en-US" sz="2703" u="none" cap="none" strike="noStrike">
                <a:solidFill>
                  <a:srgbClr val="000000"/>
                </a:solidFill>
                <a:latin typeface="Calibri"/>
                <a:ea typeface="Calibri"/>
                <a:cs typeface="Calibri"/>
                <a:sym typeface="Calibri"/>
              </a:rPr>
              <a:t>de lo más sobresaliente:</a:t>
            </a:r>
            <a:endParaRPr/>
          </a:p>
        </p:txBody>
      </p:sp>
      <p:sp>
        <p:nvSpPr>
          <p:cNvPr id="297" name="Google Shape;297;p15"/>
          <p:cNvSpPr txBox="1"/>
          <p:nvPr/>
        </p:nvSpPr>
        <p:spPr>
          <a:xfrm>
            <a:off x="1464940" y="2382880"/>
            <a:ext cx="14388072" cy="801386"/>
          </a:xfrm>
          <a:prstGeom prst="rect">
            <a:avLst/>
          </a:prstGeom>
          <a:noFill/>
          <a:ln>
            <a:noFill/>
          </a:ln>
        </p:spPr>
        <p:txBody>
          <a:bodyPr anchorCtr="0" anchor="t" bIns="0" lIns="0" spcFirstLastPara="1" rIns="0" wrap="square" tIns="0">
            <a:spAutoFit/>
          </a:bodyPr>
          <a:lstStyle/>
          <a:p>
            <a:pPr indent="0" lvl="0" marL="0" marR="0" rtl="0" algn="l">
              <a:lnSpc>
                <a:spcPct val="250055"/>
              </a:lnSpc>
              <a:spcBef>
                <a:spcPts val="0"/>
              </a:spcBef>
              <a:spcAft>
                <a:spcPts val="0"/>
              </a:spcAft>
              <a:buNone/>
            </a:pPr>
            <a:r>
              <a:rPr b="0" i="0" lang="en-US" sz="2703" u="none" cap="none" strike="noStrike">
                <a:solidFill>
                  <a:srgbClr val="000000"/>
                </a:solidFill>
                <a:latin typeface="Calibri"/>
                <a:ea typeface="Calibri"/>
                <a:cs typeface="Calibri"/>
                <a:sym typeface="Calibri"/>
              </a:rPr>
              <a:t>¿Cuáles son las áreas de dominio necesarias para aseverar que se cuenta con una competencia?</a:t>
            </a:r>
            <a:endParaRPr/>
          </a:p>
        </p:txBody>
      </p:sp>
      <p:sp>
        <p:nvSpPr>
          <p:cNvPr id="298" name="Google Shape;298;p15"/>
          <p:cNvSpPr txBox="1"/>
          <p:nvPr/>
        </p:nvSpPr>
        <p:spPr>
          <a:xfrm>
            <a:off x="1464940" y="3207003"/>
            <a:ext cx="12092624" cy="801386"/>
          </a:xfrm>
          <a:prstGeom prst="rect">
            <a:avLst/>
          </a:prstGeom>
          <a:noFill/>
          <a:ln>
            <a:noFill/>
          </a:ln>
        </p:spPr>
        <p:txBody>
          <a:bodyPr anchorCtr="0" anchor="t" bIns="0" lIns="0" spcFirstLastPara="1" rIns="0" wrap="square" tIns="0">
            <a:spAutoFit/>
          </a:bodyPr>
          <a:lstStyle/>
          <a:p>
            <a:pPr indent="0" lvl="0" marL="0" marR="0" rtl="0" algn="l">
              <a:lnSpc>
                <a:spcPct val="250055"/>
              </a:lnSpc>
              <a:spcBef>
                <a:spcPts val="0"/>
              </a:spcBef>
              <a:spcAft>
                <a:spcPts val="0"/>
              </a:spcAft>
              <a:buNone/>
            </a:pPr>
            <a:r>
              <a:rPr b="0" i="0" lang="en-US" sz="2703" u="none" cap="none" strike="noStrike">
                <a:solidFill>
                  <a:srgbClr val="000000"/>
                </a:solidFill>
                <a:latin typeface="Calibri"/>
                <a:ea typeface="Calibri"/>
                <a:cs typeface="Calibri"/>
                <a:sym typeface="Calibri"/>
              </a:rPr>
              <a:t>¿Quién elaboró la taxonomía o clasificación de lás áreas de dominio del aprendizaje?</a:t>
            </a:r>
            <a:endParaRPr/>
          </a:p>
        </p:txBody>
      </p:sp>
      <p:sp>
        <p:nvSpPr>
          <p:cNvPr id="299" name="Google Shape;299;p15"/>
          <p:cNvSpPr txBox="1"/>
          <p:nvPr/>
        </p:nvSpPr>
        <p:spPr>
          <a:xfrm>
            <a:off x="10590439" y="7705082"/>
            <a:ext cx="6019032" cy="801386"/>
          </a:xfrm>
          <a:prstGeom prst="rect">
            <a:avLst/>
          </a:prstGeom>
          <a:noFill/>
          <a:ln>
            <a:noFill/>
          </a:ln>
        </p:spPr>
        <p:txBody>
          <a:bodyPr anchorCtr="0" anchor="t" bIns="0" lIns="0" spcFirstLastPara="1" rIns="0" wrap="square" tIns="0">
            <a:spAutoFit/>
          </a:bodyPr>
          <a:lstStyle/>
          <a:p>
            <a:pPr indent="0" lvl="0" marL="0" marR="0" rtl="0" algn="l">
              <a:lnSpc>
                <a:spcPct val="250055"/>
              </a:lnSpc>
              <a:spcBef>
                <a:spcPts val="0"/>
              </a:spcBef>
              <a:spcAft>
                <a:spcPts val="0"/>
              </a:spcAft>
              <a:buNone/>
            </a:pPr>
            <a:r>
              <a:rPr b="0" i="0" lang="en-US" sz="2703" u="none" cap="none" strike="noStrike">
                <a:solidFill>
                  <a:srgbClr val="000000"/>
                </a:solidFill>
                <a:latin typeface="Calibri"/>
                <a:ea typeface="Calibri"/>
                <a:cs typeface="Calibri"/>
                <a:sym typeface="Calibri"/>
              </a:rPr>
              <a:t>¿Hasta aquí en qué tenemos alguna duda?</a:t>
            </a:r>
            <a:endParaRPr/>
          </a:p>
        </p:txBody>
      </p:sp>
      <p:sp>
        <p:nvSpPr>
          <p:cNvPr id="300" name="Google Shape;300;p15"/>
          <p:cNvSpPr txBox="1"/>
          <p:nvPr/>
        </p:nvSpPr>
        <p:spPr>
          <a:xfrm>
            <a:off x="10590439" y="8396287"/>
            <a:ext cx="5045759" cy="801386"/>
          </a:xfrm>
          <a:prstGeom prst="rect">
            <a:avLst/>
          </a:prstGeom>
          <a:noFill/>
          <a:ln>
            <a:noFill/>
          </a:ln>
        </p:spPr>
        <p:txBody>
          <a:bodyPr anchorCtr="0" anchor="t" bIns="0" lIns="0" spcFirstLastPara="1" rIns="0" wrap="square" tIns="0">
            <a:spAutoFit/>
          </a:bodyPr>
          <a:lstStyle/>
          <a:p>
            <a:pPr indent="0" lvl="0" marL="0" marR="0" rtl="0" algn="l">
              <a:lnSpc>
                <a:spcPct val="250055"/>
              </a:lnSpc>
              <a:spcBef>
                <a:spcPts val="0"/>
              </a:spcBef>
              <a:spcAft>
                <a:spcPts val="0"/>
              </a:spcAft>
              <a:buNone/>
            </a:pPr>
            <a:r>
              <a:rPr b="0" i="0" lang="en-US" sz="2703" u="none" cap="none" strike="noStrike">
                <a:solidFill>
                  <a:srgbClr val="000000"/>
                </a:solidFill>
                <a:latin typeface="Calibri"/>
                <a:ea typeface="Calibri"/>
                <a:cs typeface="Calibri"/>
                <a:sym typeface="Calibri"/>
              </a:rPr>
              <a:t>¿Listos para practicar lo aprendido?</a:t>
            </a:r>
            <a:endParaRPr/>
          </a:p>
        </p:txBody>
      </p:sp>
      <p:sp>
        <p:nvSpPr>
          <p:cNvPr id="301" name="Google Shape;301;p15"/>
          <p:cNvSpPr txBox="1"/>
          <p:nvPr/>
        </p:nvSpPr>
        <p:spPr>
          <a:xfrm>
            <a:off x="12553383" y="356668"/>
            <a:ext cx="4581558" cy="518598"/>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0" i="1" lang="en-US" sz="2703" u="none" cap="none" strike="noStrike">
                <a:solidFill>
                  <a:srgbClr val="000000"/>
                </a:solidFill>
                <a:latin typeface="Calibri"/>
                <a:ea typeface="Calibri"/>
                <a:cs typeface="Calibri"/>
                <a:sym typeface="Calibri"/>
              </a:rPr>
              <a:t>Conclusión de Técnica Expositiva</a:t>
            </a:r>
            <a:endParaRPr/>
          </a:p>
        </p:txBody>
      </p:sp>
      <p:sp>
        <p:nvSpPr>
          <p:cNvPr id="302" name="Google Shape;302;p15"/>
          <p:cNvSpPr/>
          <p:nvPr/>
        </p:nvSpPr>
        <p:spPr>
          <a:xfrm>
            <a:off x="15331315" y="1277265"/>
            <a:ext cx="1554113" cy="1458041"/>
          </a:xfrm>
          <a:custGeom>
            <a:rect b="b" l="l" r="r" t="t"/>
            <a:pathLst>
              <a:path extrusionOk="0" h="1458041" w="1554113">
                <a:moveTo>
                  <a:pt x="0" y="0"/>
                </a:moveTo>
                <a:lnTo>
                  <a:pt x="1554113" y="0"/>
                </a:lnTo>
                <a:lnTo>
                  <a:pt x="1554113" y="1458040"/>
                </a:lnTo>
                <a:lnTo>
                  <a:pt x="0" y="1458040"/>
                </a:lnTo>
                <a:lnTo>
                  <a:pt x="0" y="0"/>
                </a:lnTo>
                <a:close/>
              </a:path>
            </a:pathLst>
          </a:custGeom>
          <a:blipFill rotWithShape="1">
            <a:blip r:embed="rId7">
              <a:alphaModFix/>
            </a:blip>
            <a:stretch>
              <a:fillRect b="0" l="0" r="0" t="0"/>
            </a:stretch>
          </a:blipFill>
          <a:ln>
            <a:noFill/>
          </a:ln>
        </p:spPr>
      </p:sp>
      <p:sp>
        <p:nvSpPr>
          <p:cNvPr id="303" name="Google Shape;303;p15"/>
          <p:cNvSpPr txBox="1"/>
          <p:nvPr/>
        </p:nvSpPr>
        <p:spPr>
          <a:xfrm rot="-884793">
            <a:off x="697973" y="1022511"/>
            <a:ext cx="1801001" cy="562388"/>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None/>
            </a:pPr>
            <a:r>
              <a:rPr b="1" i="0" lang="en-US" sz="2983" u="none" cap="none" strike="noStrike">
                <a:solidFill>
                  <a:srgbClr val="E4081C"/>
                </a:solidFill>
                <a:latin typeface="Calibri"/>
                <a:ea typeface="Calibri"/>
                <a:cs typeface="Calibri"/>
                <a:sym typeface="Calibri"/>
              </a:rPr>
              <a:t>EJEMPLO</a:t>
            </a:r>
            <a:endParaRPr/>
          </a:p>
        </p:txBody>
      </p:sp>
      <p:sp>
        <p:nvSpPr>
          <p:cNvPr id="304" name="Google Shape;304;p15"/>
          <p:cNvSpPr txBox="1"/>
          <p:nvPr/>
        </p:nvSpPr>
        <p:spPr>
          <a:xfrm>
            <a:off x="1464940" y="4179839"/>
            <a:ext cx="12878902" cy="801386"/>
          </a:xfrm>
          <a:prstGeom prst="rect">
            <a:avLst/>
          </a:prstGeom>
          <a:noFill/>
          <a:ln>
            <a:noFill/>
          </a:ln>
        </p:spPr>
        <p:txBody>
          <a:bodyPr anchorCtr="0" anchor="t" bIns="0" lIns="0" spcFirstLastPara="1" rIns="0" wrap="square" tIns="0">
            <a:spAutoFit/>
          </a:bodyPr>
          <a:lstStyle/>
          <a:p>
            <a:pPr indent="0" lvl="0" marL="0" marR="0" rtl="0" algn="l">
              <a:lnSpc>
                <a:spcPct val="250055"/>
              </a:lnSpc>
              <a:spcBef>
                <a:spcPts val="0"/>
              </a:spcBef>
              <a:spcAft>
                <a:spcPts val="0"/>
              </a:spcAft>
              <a:buNone/>
            </a:pPr>
            <a:r>
              <a:rPr b="0" i="0" lang="en-US" sz="2703" u="none" cap="none" strike="noStrike">
                <a:solidFill>
                  <a:srgbClr val="000000"/>
                </a:solidFill>
                <a:latin typeface="Calibri"/>
                <a:ea typeface="Calibri"/>
                <a:cs typeface="Calibri"/>
                <a:sym typeface="Calibri"/>
              </a:rPr>
              <a:t>Por favor sintetice los estilos de aprendizaje en la planeación didáctica de acuerdo con :</a:t>
            </a:r>
            <a:endParaRPr/>
          </a:p>
        </p:txBody>
      </p:sp>
      <p:sp>
        <p:nvSpPr>
          <p:cNvPr id="305" name="Google Shape;305;p15"/>
          <p:cNvSpPr txBox="1"/>
          <p:nvPr/>
        </p:nvSpPr>
        <p:spPr>
          <a:xfrm>
            <a:off x="2324198" y="5029200"/>
            <a:ext cx="7512636" cy="1950308"/>
          </a:xfrm>
          <a:prstGeom prst="rect">
            <a:avLst/>
          </a:prstGeom>
          <a:noFill/>
          <a:ln>
            <a:noFill/>
          </a:ln>
        </p:spPr>
        <p:txBody>
          <a:bodyPr anchorCtr="0" anchor="t" bIns="0" lIns="0" spcFirstLastPara="1" rIns="0" wrap="square" tIns="0">
            <a:spAutoFit/>
          </a:bodyPr>
          <a:lstStyle/>
          <a:p>
            <a:pPr indent="0" lvl="0" marL="0" marR="0" rtl="0" algn="ctr">
              <a:lnSpc>
                <a:spcPct val="139985"/>
              </a:lnSpc>
              <a:spcBef>
                <a:spcPts val="0"/>
              </a:spcBef>
              <a:spcAft>
                <a:spcPts val="0"/>
              </a:spcAft>
              <a:buNone/>
            </a:pPr>
            <a:r>
              <a:rPr b="0" i="0" lang="en-US" sz="2716" u="none" cap="none" strike="noStrike">
                <a:solidFill>
                  <a:srgbClr val="000000"/>
                </a:solidFill>
                <a:latin typeface="Calibri"/>
                <a:ea typeface="Calibri"/>
                <a:cs typeface="Calibri"/>
                <a:sym typeface="Calibri"/>
              </a:rPr>
              <a:t> Ned Herrmann,</a:t>
            </a:r>
            <a:endParaRPr/>
          </a:p>
          <a:p>
            <a:pPr indent="0" lvl="0" marL="0" marR="0" rtl="0" algn="ctr">
              <a:lnSpc>
                <a:spcPct val="139985"/>
              </a:lnSpc>
              <a:spcBef>
                <a:spcPts val="0"/>
              </a:spcBef>
              <a:spcAft>
                <a:spcPts val="0"/>
              </a:spcAft>
              <a:buNone/>
            </a:pPr>
            <a:r>
              <a:rPr b="0" i="0" lang="en-US" sz="2716" u="none" cap="none" strike="noStrike">
                <a:solidFill>
                  <a:srgbClr val="000000"/>
                </a:solidFill>
                <a:latin typeface="Calibri"/>
                <a:ea typeface="Calibri"/>
                <a:cs typeface="Calibri"/>
                <a:sym typeface="Calibri"/>
              </a:rPr>
              <a:t>David Kolb, Paul MacLean, Roger Sperry y</a:t>
            </a:r>
            <a:endParaRPr/>
          </a:p>
          <a:p>
            <a:pPr indent="0" lvl="0" marL="0" marR="0" rtl="0" algn="ctr">
              <a:lnSpc>
                <a:spcPct val="139985"/>
              </a:lnSpc>
              <a:spcBef>
                <a:spcPts val="0"/>
              </a:spcBef>
              <a:spcAft>
                <a:spcPts val="0"/>
              </a:spcAft>
              <a:buNone/>
            </a:pPr>
            <a:r>
              <a:rPr b="0" i="0" lang="en-US" sz="2716" u="none" cap="none" strike="noStrike">
                <a:solidFill>
                  <a:srgbClr val="000000"/>
                </a:solidFill>
                <a:latin typeface="Calibri"/>
                <a:ea typeface="Calibri"/>
                <a:cs typeface="Calibri"/>
                <a:sym typeface="Calibri"/>
              </a:rPr>
              <a:t>Howard Gardner y VAK de Richard Bandler</a:t>
            </a:r>
            <a:endParaRPr/>
          </a:p>
          <a:p>
            <a:pPr indent="0" lvl="0" marL="0" marR="0" rtl="0" algn="ctr">
              <a:lnSpc>
                <a:spcPct val="139985"/>
              </a:lnSpc>
              <a:spcBef>
                <a:spcPts val="0"/>
              </a:spcBef>
              <a:spcAft>
                <a:spcPts val="0"/>
              </a:spcAft>
              <a:buNone/>
            </a:pPr>
            <a:r>
              <a:rPr b="0" i="0" lang="en-US" sz="2716" u="none" cap="none" strike="noStrike">
                <a:solidFill>
                  <a:srgbClr val="000000"/>
                </a:solidFill>
                <a:latin typeface="Calibri"/>
                <a:ea typeface="Calibri"/>
                <a:cs typeface="Calibri"/>
                <a:sym typeface="Calibri"/>
              </a:rPr>
              <a:t>y John Grinder.</a:t>
            </a:r>
            <a:endParaRPr/>
          </a:p>
        </p:txBody>
      </p:sp>
      <p:sp>
        <p:nvSpPr>
          <p:cNvPr id="306" name="Google Shape;306;p15"/>
          <p:cNvSpPr txBox="1"/>
          <p:nvPr/>
        </p:nvSpPr>
        <p:spPr>
          <a:xfrm>
            <a:off x="1260756" y="6750908"/>
            <a:ext cx="16206615" cy="801386"/>
          </a:xfrm>
          <a:prstGeom prst="rect">
            <a:avLst/>
          </a:prstGeom>
          <a:noFill/>
          <a:ln>
            <a:noFill/>
          </a:ln>
        </p:spPr>
        <p:txBody>
          <a:bodyPr anchorCtr="0" anchor="t" bIns="0" lIns="0" spcFirstLastPara="1" rIns="0" wrap="square" tIns="0">
            <a:spAutoFit/>
          </a:bodyPr>
          <a:lstStyle/>
          <a:p>
            <a:pPr indent="0" lvl="0" marL="0" marR="0" rtl="0" algn="l">
              <a:lnSpc>
                <a:spcPct val="250055"/>
              </a:lnSpc>
              <a:spcBef>
                <a:spcPts val="0"/>
              </a:spcBef>
              <a:spcAft>
                <a:spcPts val="0"/>
              </a:spcAft>
              <a:buNone/>
            </a:pPr>
            <a:r>
              <a:rPr b="0" i="0" lang="en-US" sz="2703" u="none" cap="none" strike="noStrike">
                <a:solidFill>
                  <a:srgbClr val="000000"/>
                </a:solidFill>
                <a:latin typeface="Calibri"/>
                <a:ea typeface="Calibri"/>
                <a:cs typeface="Calibri"/>
                <a:sym typeface="Calibri"/>
              </a:rPr>
              <a:t>¿Quién nos explica brevemente las teorías: conductista, constructivista, constructivista, humanista y conectivista?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6"/>
          <p:cNvSpPr/>
          <p:nvPr/>
        </p:nvSpPr>
        <p:spPr>
          <a:xfrm>
            <a:off x="0" y="3914775"/>
            <a:ext cx="12873038" cy="2571750"/>
          </a:xfrm>
          <a:custGeom>
            <a:rect b="b" l="l" r="r" t="t"/>
            <a:pathLst>
              <a:path extrusionOk="0" h="2571750" w="12873038">
                <a:moveTo>
                  <a:pt x="0" y="0"/>
                </a:moveTo>
                <a:lnTo>
                  <a:pt x="12873038" y="0"/>
                </a:lnTo>
                <a:lnTo>
                  <a:pt x="12873038" y="2571750"/>
                </a:lnTo>
                <a:lnTo>
                  <a:pt x="0" y="2571750"/>
                </a:lnTo>
                <a:lnTo>
                  <a:pt x="0" y="0"/>
                </a:lnTo>
                <a:close/>
              </a:path>
            </a:pathLst>
          </a:custGeom>
          <a:blipFill rotWithShape="1">
            <a:blip r:embed="rId3">
              <a:alphaModFix/>
            </a:blip>
            <a:stretch>
              <a:fillRect b="0" l="0" r="0" t="0"/>
            </a:stretch>
          </a:blipFill>
          <a:ln>
            <a:noFill/>
          </a:ln>
        </p:spPr>
      </p:sp>
      <p:sp>
        <p:nvSpPr>
          <p:cNvPr id="312" name="Google Shape;312;p16"/>
          <p:cNvSpPr/>
          <p:nvPr/>
        </p:nvSpPr>
        <p:spPr>
          <a:xfrm>
            <a:off x="228600" y="957162"/>
            <a:ext cx="12565956" cy="8851206"/>
          </a:xfrm>
          <a:custGeom>
            <a:rect b="b" l="l" r="r" t="t"/>
            <a:pathLst>
              <a:path extrusionOk="0" h="8851206" w="12565956">
                <a:moveTo>
                  <a:pt x="0" y="0"/>
                </a:moveTo>
                <a:lnTo>
                  <a:pt x="12565956" y="0"/>
                </a:lnTo>
                <a:lnTo>
                  <a:pt x="12565956" y="8851207"/>
                </a:lnTo>
                <a:lnTo>
                  <a:pt x="0" y="8851207"/>
                </a:lnTo>
                <a:lnTo>
                  <a:pt x="0" y="0"/>
                </a:lnTo>
                <a:close/>
              </a:path>
            </a:pathLst>
          </a:custGeom>
          <a:blipFill rotWithShape="1">
            <a:blip r:embed="rId4">
              <a:alphaModFix/>
            </a:blip>
            <a:stretch>
              <a:fillRect b="0" l="0" r="0" t="0"/>
            </a:stretch>
          </a:blipFill>
          <a:ln>
            <a:noFill/>
          </a:ln>
        </p:spPr>
      </p:sp>
      <p:sp>
        <p:nvSpPr>
          <p:cNvPr id="313" name="Google Shape;313;p16"/>
          <p:cNvSpPr/>
          <p:nvPr/>
        </p:nvSpPr>
        <p:spPr>
          <a:xfrm>
            <a:off x="361945" y="904870"/>
            <a:ext cx="15766928" cy="8591545"/>
          </a:xfrm>
          <a:custGeom>
            <a:rect b="b" l="l" r="r" t="t"/>
            <a:pathLst>
              <a:path extrusionOk="0" h="8591545" w="15766928">
                <a:moveTo>
                  <a:pt x="0" y="0"/>
                </a:moveTo>
                <a:lnTo>
                  <a:pt x="15766928" y="0"/>
                </a:lnTo>
                <a:lnTo>
                  <a:pt x="15766928" y="8591545"/>
                </a:lnTo>
                <a:lnTo>
                  <a:pt x="0" y="8591545"/>
                </a:lnTo>
                <a:lnTo>
                  <a:pt x="0" y="0"/>
                </a:lnTo>
                <a:close/>
              </a:path>
            </a:pathLst>
          </a:custGeom>
          <a:blipFill rotWithShape="1">
            <a:blip r:embed="rId5">
              <a:alphaModFix/>
            </a:blip>
            <a:stretch>
              <a:fillRect b="0" l="0" r="0" t="0"/>
            </a:stretch>
          </a:blipFill>
          <a:ln>
            <a:noFill/>
          </a:ln>
        </p:spPr>
      </p:sp>
      <p:sp>
        <p:nvSpPr>
          <p:cNvPr id="314" name="Google Shape;314;p16"/>
          <p:cNvSpPr txBox="1"/>
          <p:nvPr/>
        </p:nvSpPr>
        <p:spPr>
          <a:xfrm>
            <a:off x="1439223" y="309815"/>
            <a:ext cx="16043271" cy="3421837"/>
          </a:xfrm>
          <a:prstGeom prst="rect">
            <a:avLst/>
          </a:prstGeom>
          <a:noFill/>
          <a:ln>
            <a:noFill/>
          </a:ln>
        </p:spPr>
        <p:txBody>
          <a:bodyPr anchorCtr="0" anchor="t" bIns="0" lIns="0" spcFirstLastPara="1" rIns="0" wrap="square" tIns="0">
            <a:spAutoFit/>
          </a:bodyPr>
          <a:lstStyle/>
          <a:p>
            <a:pPr indent="0" lvl="0" marL="0" marR="0" rtl="0" algn="just">
              <a:lnSpc>
                <a:spcPct val="139989"/>
              </a:lnSpc>
              <a:spcBef>
                <a:spcPts val="0"/>
              </a:spcBef>
              <a:spcAft>
                <a:spcPts val="0"/>
              </a:spcAft>
              <a:buNone/>
            </a:pPr>
            <a:r>
              <a:rPr b="1" i="0" lang="en-US" sz="3716" u="none" cap="none" strike="noStrike">
                <a:solidFill>
                  <a:srgbClr val="000000"/>
                </a:solidFill>
                <a:latin typeface="Calibri"/>
                <a:ea typeface="Calibri"/>
                <a:cs typeface="Calibri"/>
                <a:sym typeface="Calibri"/>
              </a:rPr>
              <a:t>TÉCNICA DEMOSTRATIVA</a:t>
            </a:r>
            <a:endParaRPr/>
          </a:p>
          <a:p>
            <a:pPr indent="0" lvl="0" marL="0" marR="0" rtl="0" algn="just">
              <a:lnSpc>
                <a:spcPct val="118480"/>
              </a:lnSpc>
              <a:spcBef>
                <a:spcPts val="0"/>
              </a:spcBef>
              <a:spcAft>
                <a:spcPts val="0"/>
              </a:spcAft>
              <a:buNone/>
            </a:pPr>
            <a:r>
              <a:rPr b="1" i="0" lang="en-US" sz="3041" u="none" cap="none" strike="noStrike">
                <a:solidFill>
                  <a:srgbClr val="000000"/>
                </a:solidFill>
                <a:latin typeface="Calibri"/>
                <a:ea typeface="Calibri"/>
                <a:cs typeface="Calibri"/>
                <a:sym typeface="Calibri"/>
              </a:rPr>
              <a:t>El Participante, al finalizar la alineación, ejecutará conscientemente cada uno de los desempeños indicados por el EC0217.01, observando la técnica demostrativa del instructor para su posterior práctica.</a:t>
            </a:r>
            <a:endParaRPr/>
          </a:p>
          <a:p>
            <a:pPr indent="0" lvl="0" marL="0" marR="0" rtl="0" algn="just">
              <a:lnSpc>
                <a:spcPct val="250016"/>
              </a:lnSpc>
              <a:spcBef>
                <a:spcPts val="0"/>
              </a:spcBef>
              <a:spcAft>
                <a:spcPts val="0"/>
              </a:spcAft>
              <a:buNone/>
            </a:pPr>
            <a:r>
              <a:rPr b="0" i="0" lang="en-US" sz="3041" u="none" cap="none" strike="noStrike">
                <a:solidFill>
                  <a:srgbClr val="000000"/>
                </a:solidFill>
                <a:latin typeface="Calibri"/>
                <a:ea typeface="Calibri"/>
                <a:cs typeface="Calibri"/>
                <a:sym typeface="Calibri"/>
              </a:rPr>
              <a:t>•¿Has identificado los requerimientos del estándar versus tu práctica diaria?</a:t>
            </a:r>
            <a:endParaRPr/>
          </a:p>
          <a:p>
            <a:pPr indent="0" lvl="0" marL="0" marR="0" rtl="0" algn="just">
              <a:lnSpc>
                <a:spcPct val="49983"/>
              </a:lnSpc>
              <a:spcBef>
                <a:spcPts val="0"/>
              </a:spcBef>
              <a:spcAft>
                <a:spcPts val="0"/>
              </a:spcAft>
              <a:buNone/>
            </a:pPr>
            <a:r>
              <a:rPr b="0" i="0" lang="en-US" sz="3041" u="none" cap="none" strike="noStrike">
                <a:solidFill>
                  <a:srgbClr val="000000"/>
                </a:solidFill>
                <a:latin typeface="Calibri"/>
                <a:ea typeface="Calibri"/>
                <a:cs typeface="Calibri"/>
                <a:sym typeface="Calibri"/>
              </a:rPr>
              <a:t>•¿Qué “mejores prácticas” llevas a cabo que no están incluidas en el estándar ?</a:t>
            </a:r>
            <a:endParaRPr/>
          </a:p>
        </p:txBody>
      </p:sp>
      <p:sp>
        <p:nvSpPr>
          <p:cNvPr id="315" name="Google Shape;315;p16"/>
          <p:cNvSpPr txBox="1"/>
          <p:nvPr/>
        </p:nvSpPr>
        <p:spPr>
          <a:xfrm rot="-884793">
            <a:off x="12821" y="109419"/>
            <a:ext cx="1801001" cy="562388"/>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None/>
            </a:pPr>
            <a:r>
              <a:rPr b="1" i="0" lang="en-US" sz="2983" u="none" cap="none" strike="noStrike">
                <a:solidFill>
                  <a:srgbClr val="E4081C"/>
                </a:solidFill>
                <a:latin typeface="Calibri"/>
                <a:ea typeface="Calibri"/>
                <a:cs typeface="Calibri"/>
                <a:sym typeface="Calibri"/>
              </a:rPr>
              <a:t>EJEMPLO</a:t>
            </a:r>
            <a:endParaRPr/>
          </a:p>
        </p:txBody>
      </p:sp>
      <p:sp>
        <p:nvSpPr>
          <p:cNvPr id="316" name="Google Shape;316;p16"/>
          <p:cNvSpPr/>
          <p:nvPr/>
        </p:nvSpPr>
        <p:spPr>
          <a:xfrm>
            <a:off x="16344877" y="7238900"/>
            <a:ext cx="1554113" cy="1458041"/>
          </a:xfrm>
          <a:custGeom>
            <a:rect b="b" l="l" r="r" t="t"/>
            <a:pathLst>
              <a:path extrusionOk="0" h="1458041" w="1554113">
                <a:moveTo>
                  <a:pt x="0" y="0"/>
                </a:moveTo>
                <a:lnTo>
                  <a:pt x="1554113" y="0"/>
                </a:lnTo>
                <a:lnTo>
                  <a:pt x="1554113" y="1458040"/>
                </a:lnTo>
                <a:lnTo>
                  <a:pt x="0" y="1458040"/>
                </a:lnTo>
                <a:lnTo>
                  <a:pt x="0" y="0"/>
                </a:lnTo>
                <a:close/>
              </a:path>
            </a:pathLst>
          </a:custGeom>
          <a:blipFill rotWithShape="1">
            <a:blip r:embed="rId6">
              <a:alphaModFix/>
            </a:blip>
            <a:stretch>
              <a:fillRect b="0" l="0" r="0" t="0"/>
            </a:stretch>
          </a:blipFill>
          <a:ln>
            <a:noFill/>
          </a:ln>
        </p:spPr>
      </p:sp>
      <p:sp>
        <p:nvSpPr>
          <p:cNvPr id="317" name="Google Shape;317;p16"/>
          <p:cNvSpPr txBox="1"/>
          <p:nvPr/>
        </p:nvSpPr>
        <p:spPr>
          <a:xfrm>
            <a:off x="1078663" y="4034322"/>
            <a:ext cx="16820327" cy="6822057"/>
          </a:xfrm>
          <a:prstGeom prst="rect">
            <a:avLst/>
          </a:prstGeom>
          <a:noFill/>
          <a:ln>
            <a:noFill/>
          </a:ln>
        </p:spPr>
        <p:txBody>
          <a:bodyPr anchorCtr="0" anchor="t" bIns="0" lIns="0" spcFirstLastPara="1" rIns="0" wrap="square" tIns="0">
            <a:spAutoFit/>
          </a:bodyPr>
          <a:lstStyle/>
          <a:p>
            <a:pPr indent="0" lvl="0" marL="0" marR="0" rtl="0" algn="just">
              <a:lnSpc>
                <a:spcPct val="139986"/>
              </a:lnSpc>
              <a:spcBef>
                <a:spcPts val="0"/>
              </a:spcBef>
              <a:spcAft>
                <a:spcPts val="0"/>
              </a:spcAft>
              <a:buNone/>
            </a:pPr>
            <a:r>
              <a:rPr b="1" i="0" lang="en-US" sz="3016" u="none" cap="none" strike="noStrike">
                <a:solidFill>
                  <a:srgbClr val="000000"/>
                </a:solidFill>
                <a:latin typeface="Calibri"/>
                <a:ea typeface="Calibri"/>
                <a:cs typeface="Calibri"/>
                <a:sym typeface="Calibri"/>
              </a:rPr>
              <a:t>TEMA 1</a:t>
            </a:r>
            <a:endParaRPr/>
          </a:p>
          <a:p>
            <a:pPr indent="0" lvl="0" marL="0" marR="0" rtl="0" algn="just">
              <a:lnSpc>
                <a:spcPct val="139986"/>
              </a:lnSpc>
              <a:spcBef>
                <a:spcPts val="0"/>
              </a:spcBef>
              <a:spcAft>
                <a:spcPts val="0"/>
              </a:spcAft>
              <a:buNone/>
            </a:pPr>
            <a:r>
              <a:rPr b="1" i="0" lang="en-US" sz="3016" u="none" cap="none" strike="noStrike">
                <a:solidFill>
                  <a:srgbClr val="0563C1"/>
                </a:solidFill>
                <a:latin typeface="Calibri"/>
                <a:ea typeface="Calibri"/>
                <a:cs typeface="Calibri"/>
                <a:sym typeface="Calibri"/>
              </a:rPr>
              <a:t>El instructor demuestra la manera de ejecutar los desempeños de acuerdo al EC0217.01</a:t>
            </a:r>
            <a:endParaRPr/>
          </a:p>
          <a:p>
            <a:pPr indent="0" lvl="0" marL="0" marR="0" rtl="0" algn="just">
              <a:lnSpc>
                <a:spcPct val="139986"/>
              </a:lnSpc>
              <a:spcBef>
                <a:spcPts val="0"/>
              </a:spcBef>
              <a:spcAft>
                <a:spcPts val="0"/>
              </a:spcAft>
              <a:buNone/>
            </a:pPr>
            <a:r>
              <a:t/>
            </a:r>
            <a:endParaRPr b="1" i="0" sz="3016" u="none" cap="none" strike="noStrike">
              <a:solidFill>
                <a:srgbClr val="0563C1"/>
              </a:solidFill>
              <a:latin typeface="Calibri"/>
              <a:ea typeface="Calibri"/>
              <a:cs typeface="Calibri"/>
              <a:sym typeface="Calibri"/>
            </a:endParaRPr>
          </a:p>
          <a:p>
            <a:pPr indent="-328303" lvl="1" marL="656606" marR="0" rtl="0" algn="just">
              <a:lnSpc>
                <a:spcPct val="250016"/>
              </a:lnSpc>
              <a:spcBef>
                <a:spcPts val="0"/>
              </a:spcBef>
              <a:spcAft>
                <a:spcPts val="0"/>
              </a:spcAft>
              <a:buClr>
                <a:srgbClr val="000000"/>
              </a:buClr>
              <a:buSzPts val="3041"/>
              <a:buFont typeface="Arial"/>
              <a:buChar char="•"/>
            </a:pPr>
            <a:r>
              <a:rPr b="0" i="0" lang="en-US" sz="3041" u="none" cap="none" strike="noStrike">
                <a:solidFill>
                  <a:srgbClr val="000000"/>
                </a:solidFill>
                <a:latin typeface="Calibri"/>
                <a:ea typeface="Calibri"/>
                <a:cs typeface="Calibri"/>
                <a:sym typeface="Calibri"/>
              </a:rPr>
              <a:t>•¿ALGUNA DUDA?</a:t>
            </a:r>
            <a:endParaRPr/>
          </a:p>
          <a:p>
            <a:pPr indent="-328303" lvl="1" marL="656606" marR="0" rtl="0" algn="just">
              <a:lnSpc>
                <a:spcPct val="250016"/>
              </a:lnSpc>
              <a:spcBef>
                <a:spcPts val="0"/>
              </a:spcBef>
              <a:spcAft>
                <a:spcPts val="0"/>
              </a:spcAft>
              <a:buClr>
                <a:srgbClr val="000000"/>
              </a:buClr>
              <a:buSzPts val="3041"/>
              <a:buFont typeface="Arial"/>
              <a:buChar char="•"/>
            </a:pPr>
            <a:r>
              <a:rPr b="0" i="0" lang="en-US" sz="3041" u="none" cap="none" strike="noStrike">
                <a:solidFill>
                  <a:srgbClr val="000000"/>
                </a:solidFill>
                <a:latin typeface="Calibri"/>
                <a:ea typeface="Calibri"/>
                <a:cs typeface="Calibri"/>
                <a:sym typeface="Calibri"/>
              </a:rPr>
              <a:t>PARTICIPANTES: ¡Realizar ejercicio!</a:t>
            </a:r>
            <a:endParaRPr/>
          </a:p>
          <a:p>
            <a:pPr indent="-328303" lvl="1" marL="656606" marR="0" rtl="0" algn="just">
              <a:lnSpc>
                <a:spcPct val="250016"/>
              </a:lnSpc>
              <a:spcBef>
                <a:spcPts val="0"/>
              </a:spcBef>
              <a:spcAft>
                <a:spcPts val="0"/>
              </a:spcAft>
              <a:buClr>
                <a:srgbClr val="000000"/>
              </a:buClr>
              <a:buSzPts val="3041"/>
              <a:buFont typeface="Arial"/>
              <a:buChar char="•"/>
            </a:pPr>
            <a:r>
              <a:rPr b="0" i="0" lang="en-US" sz="3041" u="none" cap="none" strike="noStrike">
                <a:solidFill>
                  <a:srgbClr val="000000"/>
                </a:solidFill>
                <a:latin typeface="Calibri"/>
                <a:ea typeface="Calibri"/>
                <a:cs typeface="Calibri"/>
                <a:sym typeface="Calibri"/>
              </a:rPr>
              <a:t>RETROALIMENTACIÓN DEL INSTRUCTOR O AUTO REFLEXIÓN</a:t>
            </a:r>
            <a:endParaRPr/>
          </a:p>
          <a:p>
            <a:pPr indent="-328303" lvl="1" marL="656606" marR="0" rtl="0" algn="just">
              <a:lnSpc>
                <a:spcPct val="250016"/>
              </a:lnSpc>
              <a:spcBef>
                <a:spcPts val="0"/>
              </a:spcBef>
              <a:spcAft>
                <a:spcPts val="0"/>
              </a:spcAft>
              <a:buClr>
                <a:srgbClr val="000000"/>
              </a:buClr>
              <a:buSzPts val="3041"/>
              <a:buFont typeface="Arial"/>
              <a:buChar char="•"/>
            </a:pPr>
            <a:r>
              <a:rPr b="0" i="0" lang="en-US" sz="3041" u="none" cap="none" strike="noStrike">
                <a:solidFill>
                  <a:srgbClr val="000000"/>
                </a:solidFill>
                <a:latin typeface="Calibri"/>
                <a:ea typeface="Calibri"/>
                <a:cs typeface="Calibri"/>
                <a:sym typeface="Calibri"/>
              </a:rPr>
              <a:t>P.ej. “APLICARÉ (O NO) EL EC0217.01 EN MIS CLASES”</a:t>
            </a:r>
            <a:endParaRPr/>
          </a:p>
          <a:p>
            <a:pPr indent="-328303" lvl="1" marL="656606" marR="0" rtl="0" algn="just">
              <a:lnSpc>
                <a:spcPct val="250016"/>
              </a:lnSpc>
              <a:spcBef>
                <a:spcPts val="0"/>
              </a:spcBef>
              <a:spcAft>
                <a:spcPts val="0"/>
              </a:spcAft>
              <a:buClr>
                <a:srgbClr val="000000"/>
              </a:buClr>
              <a:buSzPts val="3041"/>
              <a:buFont typeface="Arial"/>
              <a:buChar char="•"/>
            </a:pPr>
            <a:r>
              <a:rPr b="0" i="0" lang="en-US" sz="3041" u="none" cap="none" strike="noStrike">
                <a:solidFill>
                  <a:srgbClr val="000000"/>
                </a:solidFill>
                <a:latin typeface="Calibri"/>
                <a:ea typeface="Calibri"/>
                <a:cs typeface="Calibri"/>
                <a:sym typeface="Calibri"/>
              </a:rPr>
              <a:t>¿Se encuentra valor agregado en el estándar?</a:t>
            </a:r>
            <a:endParaRPr/>
          </a:p>
          <a:p>
            <a:pPr indent="0" lvl="0" marL="0" marR="0" rtl="0" algn="just">
              <a:lnSpc>
                <a:spcPct val="49983"/>
              </a:lnSpc>
              <a:spcBef>
                <a:spcPts val="0"/>
              </a:spcBef>
              <a:spcAft>
                <a:spcPts val="0"/>
              </a:spcAft>
              <a:buNone/>
            </a:pPr>
            <a:r>
              <a:t/>
            </a:r>
            <a:endParaRPr b="0" i="0" sz="3041"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7"/>
          <p:cNvSpPr/>
          <p:nvPr/>
        </p:nvSpPr>
        <p:spPr>
          <a:xfrm>
            <a:off x="0" y="-1"/>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23" name="Google Shape;323;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sp>
      <p:sp>
        <p:nvSpPr>
          <p:cNvPr id="324" name="Google Shape;324;p17"/>
          <p:cNvSpPr/>
          <p:nvPr/>
        </p:nvSpPr>
        <p:spPr>
          <a:xfrm>
            <a:off x="-95255" y="-95255"/>
            <a:ext cx="18478495" cy="10477495"/>
          </a:xfrm>
          <a:custGeom>
            <a:rect b="b" l="l" r="r" t="t"/>
            <a:pathLst>
              <a:path extrusionOk="0" h="10477495" w="18478495">
                <a:moveTo>
                  <a:pt x="0" y="0"/>
                </a:moveTo>
                <a:lnTo>
                  <a:pt x="18478495" y="0"/>
                </a:lnTo>
                <a:lnTo>
                  <a:pt x="18478495" y="10477495"/>
                </a:lnTo>
                <a:lnTo>
                  <a:pt x="0" y="10477495"/>
                </a:lnTo>
                <a:lnTo>
                  <a:pt x="0" y="0"/>
                </a:lnTo>
                <a:close/>
              </a:path>
            </a:pathLst>
          </a:custGeom>
          <a:blipFill rotWithShape="1">
            <a:blip r:embed="rId5">
              <a:alphaModFix/>
            </a:blip>
            <a:stretch>
              <a:fillRect b="0" l="0" r="0" t="0"/>
            </a:stretch>
          </a:blipFill>
          <a:ln>
            <a:noFill/>
          </a:ln>
        </p:spPr>
      </p:sp>
      <p:sp>
        <p:nvSpPr>
          <p:cNvPr id="325" name="Google Shape;325;p17"/>
          <p:cNvSpPr txBox="1"/>
          <p:nvPr/>
        </p:nvSpPr>
        <p:spPr>
          <a:xfrm>
            <a:off x="7906702" y="5201283"/>
            <a:ext cx="8853671" cy="3674758"/>
          </a:xfrm>
          <a:prstGeom prst="rect">
            <a:avLst/>
          </a:prstGeom>
          <a:noFill/>
          <a:ln>
            <a:noFill/>
          </a:ln>
        </p:spPr>
        <p:txBody>
          <a:bodyPr anchorCtr="0" anchor="t" bIns="0" lIns="0" spcFirstLastPara="1" rIns="0" wrap="square" tIns="0">
            <a:spAutoFit/>
          </a:bodyPr>
          <a:lstStyle/>
          <a:p>
            <a:pPr indent="0" lvl="0" marL="0" marR="0" rtl="0" algn="just">
              <a:lnSpc>
                <a:spcPct val="422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just">
              <a:lnSpc>
                <a:spcPct val="49983"/>
              </a:lnSpc>
              <a:spcBef>
                <a:spcPts val="0"/>
              </a:spcBef>
              <a:spcAft>
                <a:spcPts val="0"/>
              </a:spcAft>
              <a:buNone/>
            </a:pPr>
            <a:r>
              <a:rPr b="0" i="0" lang="en-US" sz="3041" u="none" cap="none" strike="noStrike">
                <a:solidFill>
                  <a:srgbClr val="E40D0D"/>
                </a:solidFill>
                <a:latin typeface="Calibri"/>
                <a:ea typeface="Calibri"/>
                <a:cs typeface="Calibri"/>
                <a:sym typeface="Calibri"/>
              </a:rPr>
              <a:t>•PARTICIPANTES REALIZAN LA ACTIVIDAD</a:t>
            </a:r>
            <a:endParaRPr/>
          </a:p>
          <a:p>
            <a:pPr indent="0" lvl="0" marL="0" marR="0" rtl="0" algn="just">
              <a:lnSpc>
                <a:spcPct val="224005"/>
              </a:lnSpc>
              <a:spcBef>
                <a:spcPts val="0"/>
              </a:spcBef>
              <a:spcAft>
                <a:spcPts val="0"/>
              </a:spcAft>
              <a:buNone/>
            </a:pPr>
            <a:r>
              <a:rPr b="0" i="0" lang="en-US" sz="3041" u="none" cap="none" strike="noStrike">
                <a:solidFill>
                  <a:srgbClr val="E40D0D"/>
                </a:solidFill>
                <a:latin typeface="Calibri"/>
                <a:ea typeface="Calibri"/>
                <a:cs typeface="Calibri"/>
                <a:sym typeface="Calibri"/>
              </a:rPr>
              <a:t>•RETROALIMENTACIÓN DEL INSTRUCTOR</a:t>
            </a:r>
            <a:endParaRPr/>
          </a:p>
          <a:p>
            <a:pPr indent="0" lvl="0" marL="0" marR="0" rtl="0" algn="just">
              <a:lnSpc>
                <a:spcPct val="50180"/>
              </a:lnSpc>
              <a:spcBef>
                <a:spcPts val="0"/>
              </a:spcBef>
              <a:spcAft>
                <a:spcPts val="0"/>
              </a:spcAft>
              <a:buNone/>
            </a:pPr>
            <a:r>
              <a:rPr b="0" i="0" lang="en-US" sz="3041" u="none" cap="none" strike="noStrike">
                <a:solidFill>
                  <a:srgbClr val="E40D0D"/>
                </a:solidFill>
                <a:latin typeface="Calibri"/>
                <a:ea typeface="Calibri"/>
                <a:cs typeface="Calibri"/>
                <a:sym typeface="Calibri"/>
              </a:rPr>
              <a:t>•IDENTIFICAR LA IMPORTANCIA DE LA ACTIVIDAD U </a:t>
            </a:r>
            <a:endParaRPr/>
          </a:p>
          <a:p>
            <a:pPr indent="0" lvl="0" marL="0" marR="0" rtl="0" algn="just">
              <a:lnSpc>
                <a:spcPct val="50180"/>
              </a:lnSpc>
              <a:spcBef>
                <a:spcPts val="0"/>
              </a:spcBef>
              <a:spcAft>
                <a:spcPts val="0"/>
              </a:spcAft>
              <a:buNone/>
            </a:pPr>
            <a:r>
              <a:t/>
            </a:r>
            <a:endParaRPr b="0" i="0" sz="3041" u="none" cap="none" strike="noStrike">
              <a:solidFill>
                <a:srgbClr val="E40D0D"/>
              </a:solidFill>
              <a:latin typeface="Calibri"/>
              <a:ea typeface="Calibri"/>
              <a:cs typeface="Calibri"/>
              <a:sym typeface="Calibri"/>
            </a:endParaRPr>
          </a:p>
          <a:p>
            <a:pPr indent="0" lvl="0" marL="0" marR="0" rtl="0" algn="just">
              <a:lnSpc>
                <a:spcPct val="50180"/>
              </a:lnSpc>
              <a:spcBef>
                <a:spcPts val="0"/>
              </a:spcBef>
              <a:spcAft>
                <a:spcPts val="0"/>
              </a:spcAft>
              <a:buNone/>
            </a:pPr>
            <a:r>
              <a:t/>
            </a:r>
            <a:endParaRPr b="0" i="0" sz="3041" u="none" cap="none" strike="noStrike">
              <a:solidFill>
                <a:srgbClr val="E40D0D"/>
              </a:solidFill>
              <a:latin typeface="Calibri"/>
              <a:ea typeface="Calibri"/>
              <a:cs typeface="Calibri"/>
              <a:sym typeface="Calibri"/>
            </a:endParaRPr>
          </a:p>
          <a:p>
            <a:pPr indent="0" lvl="0" marL="0" marR="0" rtl="0" algn="just">
              <a:lnSpc>
                <a:spcPct val="50180"/>
              </a:lnSpc>
              <a:spcBef>
                <a:spcPts val="0"/>
              </a:spcBef>
              <a:spcAft>
                <a:spcPts val="0"/>
              </a:spcAft>
              <a:buNone/>
            </a:pPr>
            <a:r>
              <a:rPr b="0" i="0" lang="en-US" sz="3041" u="none" cap="none" strike="noStrike">
                <a:solidFill>
                  <a:srgbClr val="E40D0D"/>
                </a:solidFill>
                <a:latin typeface="Calibri"/>
                <a:ea typeface="Calibri"/>
                <a:cs typeface="Calibri"/>
                <a:sym typeface="Calibri"/>
              </a:rPr>
              <a:t>OPERACIÓN DESEMPEÑADA.</a:t>
            </a:r>
            <a:endParaRPr/>
          </a:p>
          <a:p>
            <a:pPr indent="0" lvl="0" marL="0" marR="0" rtl="0" algn="just">
              <a:lnSpc>
                <a:spcPct val="50180"/>
              </a:lnSpc>
              <a:spcBef>
                <a:spcPts val="0"/>
              </a:spcBef>
              <a:spcAft>
                <a:spcPts val="0"/>
              </a:spcAft>
              <a:buNone/>
            </a:pPr>
            <a:r>
              <a:t/>
            </a:r>
            <a:endParaRPr b="0" i="0" sz="3041" u="none" cap="none" strike="noStrike">
              <a:solidFill>
                <a:srgbClr val="E40D0D"/>
              </a:solidFill>
              <a:latin typeface="Calibri"/>
              <a:ea typeface="Calibri"/>
              <a:cs typeface="Calibri"/>
              <a:sym typeface="Calibri"/>
            </a:endParaRPr>
          </a:p>
          <a:p>
            <a:pPr indent="0" lvl="0" marL="0" marR="0" rtl="0" algn="just">
              <a:lnSpc>
                <a:spcPct val="50180"/>
              </a:lnSpc>
              <a:spcBef>
                <a:spcPts val="0"/>
              </a:spcBef>
              <a:spcAft>
                <a:spcPts val="0"/>
              </a:spcAft>
              <a:buNone/>
            </a:pPr>
            <a:r>
              <a:t/>
            </a:r>
            <a:endParaRPr b="0" i="0" sz="3041" u="none" cap="none" strike="noStrike">
              <a:solidFill>
                <a:srgbClr val="E40D0D"/>
              </a:solidFill>
              <a:latin typeface="Calibri"/>
              <a:ea typeface="Calibri"/>
              <a:cs typeface="Calibri"/>
              <a:sym typeface="Calibri"/>
            </a:endParaRPr>
          </a:p>
          <a:p>
            <a:pPr indent="0" lvl="0" marL="0" marR="0" rtl="0" algn="just">
              <a:lnSpc>
                <a:spcPct val="50180"/>
              </a:lnSpc>
              <a:spcBef>
                <a:spcPts val="0"/>
              </a:spcBef>
              <a:spcAft>
                <a:spcPts val="0"/>
              </a:spcAft>
              <a:buNone/>
            </a:pPr>
            <a:r>
              <a:rPr b="0" i="0" lang="en-US" sz="3041" u="none" cap="none" strike="noStrike">
                <a:solidFill>
                  <a:srgbClr val="E40D0D"/>
                </a:solidFill>
                <a:latin typeface="Calibri"/>
                <a:ea typeface="Calibri"/>
                <a:cs typeface="Calibri"/>
                <a:sym typeface="Calibri"/>
              </a:rPr>
              <a:t>¿QUÉ OTRA UTILIDAD PROPORCIONA ESTA ACTIVIDAD?</a:t>
            </a:r>
            <a:endParaRPr/>
          </a:p>
        </p:txBody>
      </p:sp>
      <p:sp>
        <p:nvSpPr>
          <p:cNvPr id="326" name="Google Shape;326;p17"/>
          <p:cNvSpPr txBox="1"/>
          <p:nvPr/>
        </p:nvSpPr>
        <p:spPr>
          <a:xfrm>
            <a:off x="7727355" y="-390530"/>
            <a:ext cx="8292044" cy="2301058"/>
          </a:xfrm>
          <a:prstGeom prst="rect">
            <a:avLst/>
          </a:prstGeom>
          <a:noFill/>
          <a:ln>
            <a:noFill/>
          </a:ln>
        </p:spPr>
        <p:txBody>
          <a:bodyPr anchorCtr="0" anchor="t" bIns="0" lIns="0" spcFirstLastPara="1" rIns="0" wrap="square" tIns="0">
            <a:spAutoFit/>
          </a:bodyPr>
          <a:lstStyle/>
          <a:p>
            <a:pPr indent="0" lvl="0" marL="0" marR="0" rtl="0" algn="just">
              <a:lnSpc>
                <a:spcPct val="200000"/>
              </a:lnSpc>
              <a:spcBef>
                <a:spcPts val="0"/>
              </a:spcBef>
              <a:spcAft>
                <a:spcPts val="0"/>
              </a:spcAft>
              <a:buNone/>
            </a:pPr>
            <a:r>
              <a:rPr b="0" i="0" lang="en-US" sz="3041" u="none" cap="none" strike="noStrike">
                <a:solidFill>
                  <a:srgbClr val="E4081C"/>
                </a:solidFill>
                <a:latin typeface="Calibri"/>
                <a:ea typeface="Calibri"/>
                <a:cs typeface="Calibri"/>
                <a:sym typeface="Calibri"/>
              </a:rPr>
              <a:t>TEMA 2</a:t>
            </a:r>
            <a:endParaRPr/>
          </a:p>
          <a:p>
            <a:pPr indent="0" lvl="0" marL="0" marR="0" rtl="0" algn="just">
              <a:lnSpc>
                <a:spcPct val="200000"/>
              </a:lnSpc>
              <a:spcBef>
                <a:spcPts val="0"/>
              </a:spcBef>
              <a:spcAft>
                <a:spcPts val="0"/>
              </a:spcAft>
              <a:buNone/>
            </a:pPr>
            <a:r>
              <a:rPr b="0" i="0" lang="en-US" sz="3041" u="none" cap="none" strike="noStrike">
                <a:solidFill>
                  <a:srgbClr val="E4081C"/>
                </a:solidFill>
                <a:latin typeface="Calibri"/>
                <a:ea typeface="Calibri"/>
                <a:cs typeface="Calibri"/>
                <a:sym typeface="Calibri"/>
              </a:rPr>
              <a:t>TEMA 3</a:t>
            </a:r>
            <a:endParaRPr/>
          </a:p>
          <a:p>
            <a:pPr indent="0" lvl="0" marL="0" marR="0" rtl="0" algn="just">
              <a:lnSpc>
                <a:spcPct val="200000"/>
              </a:lnSpc>
              <a:spcBef>
                <a:spcPts val="0"/>
              </a:spcBef>
              <a:spcAft>
                <a:spcPts val="0"/>
              </a:spcAft>
              <a:buNone/>
            </a:pPr>
            <a:r>
              <a:rPr b="0" i="0" lang="en-US" sz="3041" u="none" cap="none" strike="noStrike">
                <a:solidFill>
                  <a:srgbClr val="E4081C"/>
                </a:solidFill>
                <a:latin typeface="Calibri"/>
                <a:ea typeface="Calibri"/>
                <a:cs typeface="Calibri"/>
                <a:sym typeface="Calibri"/>
              </a:rPr>
              <a:t>TEMA N</a:t>
            </a:r>
            <a:endParaRPr/>
          </a:p>
        </p:txBody>
      </p:sp>
      <p:sp>
        <p:nvSpPr>
          <p:cNvPr id="327" name="Google Shape;327;p17"/>
          <p:cNvSpPr txBox="1"/>
          <p:nvPr/>
        </p:nvSpPr>
        <p:spPr>
          <a:xfrm>
            <a:off x="8026890" y="3500312"/>
            <a:ext cx="8292044" cy="1859991"/>
          </a:xfrm>
          <a:prstGeom prst="rect">
            <a:avLst/>
          </a:prstGeom>
          <a:noFill/>
          <a:ln>
            <a:noFill/>
          </a:ln>
        </p:spPr>
        <p:txBody>
          <a:bodyPr anchorCtr="0" anchor="t" bIns="0" lIns="0" spcFirstLastPara="1" rIns="0" wrap="square" tIns="0">
            <a:spAutoFit/>
          </a:bodyPr>
          <a:lstStyle/>
          <a:p>
            <a:pPr indent="0" lvl="0" marL="0" marR="0" rtl="0" algn="just">
              <a:lnSpc>
                <a:spcPct val="250016"/>
              </a:lnSpc>
              <a:spcBef>
                <a:spcPts val="0"/>
              </a:spcBef>
              <a:spcAft>
                <a:spcPts val="0"/>
              </a:spcAft>
              <a:buNone/>
            </a:pPr>
            <a:r>
              <a:rPr b="0" i="0" lang="en-US" sz="3041" u="none" cap="none" strike="noStrike">
                <a:solidFill>
                  <a:srgbClr val="E40D0D"/>
                </a:solidFill>
                <a:latin typeface="Calibri"/>
                <a:ea typeface="Calibri"/>
                <a:cs typeface="Calibri"/>
                <a:sym typeface="Calibri"/>
              </a:rPr>
              <a:t>EN CADA TEMA CUESTIONAR SI:</a:t>
            </a:r>
            <a:endParaRPr/>
          </a:p>
          <a:p>
            <a:pPr indent="0" lvl="0" marL="0" marR="0" rtl="0" algn="just">
              <a:lnSpc>
                <a:spcPct val="250016"/>
              </a:lnSpc>
              <a:spcBef>
                <a:spcPts val="0"/>
              </a:spcBef>
              <a:spcAft>
                <a:spcPts val="0"/>
              </a:spcAft>
              <a:buNone/>
            </a:pPr>
            <a:r>
              <a:rPr b="0" i="0" lang="en-US" sz="3041" u="none" cap="none" strike="noStrike">
                <a:solidFill>
                  <a:srgbClr val="E40D0D"/>
                </a:solidFill>
                <a:latin typeface="Calibri"/>
                <a:ea typeface="Calibri"/>
                <a:cs typeface="Calibri"/>
                <a:sym typeface="Calibri"/>
              </a:rPr>
              <a:t> ¿TIENEN DUDAS?</a:t>
            </a:r>
            <a:endParaRPr/>
          </a:p>
        </p:txBody>
      </p:sp>
      <p:sp>
        <p:nvSpPr>
          <p:cNvPr id="328" name="Google Shape;328;p17"/>
          <p:cNvSpPr txBox="1"/>
          <p:nvPr/>
        </p:nvSpPr>
        <p:spPr>
          <a:xfrm>
            <a:off x="7678550" y="2303955"/>
            <a:ext cx="8988723" cy="397384"/>
          </a:xfrm>
          <a:prstGeom prst="rect">
            <a:avLst/>
          </a:prstGeom>
          <a:noFill/>
          <a:ln>
            <a:noFill/>
          </a:ln>
        </p:spPr>
        <p:txBody>
          <a:bodyPr anchorCtr="0" anchor="t" bIns="0" lIns="0" spcFirstLastPara="1" rIns="0" wrap="square" tIns="0">
            <a:spAutoFit/>
          </a:bodyPr>
          <a:lstStyle/>
          <a:p>
            <a:pPr indent="0" lvl="0" marL="0" marR="0" rtl="0" algn="ctr">
              <a:lnSpc>
                <a:spcPct val="120929"/>
              </a:lnSpc>
              <a:spcBef>
                <a:spcPts val="0"/>
              </a:spcBef>
              <a:spcAft>
                <a:spcPts val="0"/>
              </a:spcAft>
              <a:buNone/>
            </a:pPr>
            <a:r>
              <a:rPr b="1" i="0" lang="en-US" sz="2303" u="none" cap="none" strike="noStrike">
                <a:solidFill>
                  <a:srgbClr val="0563C1"/>
                </a:solidFill>
                <a:latin typeface="Calibri"/>
                <a:ea typeface="Calibri"/>
                <a:cs typeface="Calibri"/>
                <a:sym typeface="Calibri"/>
              </a:rPr>
              <a:t>El instructor demuestra la manera de ejecutar los desempeños del tema 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04040"/>
        </a:solidFill>
      </p:bgPr>
    </p:bg>
    <p:spTree>
      <p:nvGrpSpPr>
        <p:cNvPr id="332" name="Shape 332"/>
        <p:cNvGrpSpPr/>
        <p:nvPr/>
      </p:nvGrpSpPr>
      <p:grpSpPr>
        <a:xfrm>
          <a:off x="0" y="0"/>
          <a:ext cx="0" cy="0"/>
          <a:chOff x="0" y="0"/>
          <a:chExt cx="0" cy="0"/>
        </a:xfrm>
      </p:grpSpPr>
      <p:sp>
        <p:nvSpPr>
          <p:cNvPr id="333" name="Google Shape;333;p18"/>
          <p:cNvSpPr/>
          <p:nvPr/>
        </p:nvSpPr>
        <p:spPr>
          <a:xfrm>
            <a:off x="704845" y="604833"/>
            <a:ext cx="16878295" cy="8648695"/>
          </a:xfrm>
          <a:custGeom>
            <a:rect b="b" l="l" r="r" t="t"/>
            <a:pathLst>
              <a:path extrusionOk="0" h="8648695" w="16878295">
                <a:moveTo>
                  <a:pt x="0" y="0"/>
                </a:moveTo>
                <a:lnTo>
                  <a:pt x="16878295" y="0"/>
                </a:lnTo>
                <a:lnTo>
                  <a:pt x="16878295" y="8648695"/>
                </a:lnTo>
                <a:lnTo>
                  <a:pt x="0" y="8648695"/>
                </a:lnTo>
                <a:lnTo>
                  <a:pt x="0" y="0"/>
                </a:lnTo>
                <a:close/>
              </a:path>
            </a:pathLst>
          </a:custGeom>
          <a:blipFill rotWithShape="1">
            <a:blip r:embed="rId3">
              <a:alphaModFix/>
            </a:blip>
            <a:stretch>
              <a:fillRect b="0" l="0" r="0" t="0"/>
            </a:stretch>
          </a:blipFill>
          <a:ln>
            <a:noFill/>
          </a:ln>
        </p:spPr>
      </p:sp>
      <p:sp>
        <p:nvSpPr>
          <p:cNvPr id="334" name="Google Shape;334;p18"/>
          <p:cNvSpPr txBox="1"/>
          <p:nvPr/>
        </p:nvSpPr>
        <p:spPr>
          <a:xfrm>
            <a:off x="2711382" y="923863"/>
            <a:ext cx="266319" cy="4652862"/>
          </a:xfrm>
          <a:prstGeom prst="rect">
            <a:avLst/>
          </a:prstGeom>
          <a:noFill/>
          <a:ln>
            <a:noFill/>
          </a:ln>
        </p:spPr>
        <p:txBody>
          <a:bodyPr anchorCtr="0" anchor="t" bIns="0" lIns="0" spcFirstLastPara="1" rIns="0" wrap="square" tIns="0">
            <a:spAutoFit/>
          </a:bodyPr>
          <a:lstStyle/>
          <a:p>
            <a:pPr indent="0" lvl="0" marL="0" marR="0" rtl="0" algn="l">
              <a:lnSpc>
                <a:spcPct val="118480"/>
              </a:lnSpc>
              <a:spcBef>
                <a:spcPts val="0"/>
              </a:spcBef>
              <a:spcAft>
                <a:spcPts val="0"/>
              </a:spcAft>
              <a:buNone/>
            </a:pPr>
            <a:r>
              <a:rPr b="1" i="0" lang="en-US" sz="3041" u="none" cap="none" strike="noStrike">
                <a:solidFill>
                  <a:srgbClr val="000000"/>
                </a:solidFill>
                <a:latin typeface="Calibri"/>
                <a:ea typeface="Calibri"/>
                <a:cs typeface="Calibri"/>
                <a:sym typeface="Calibri"/>
              </a:rPr>
              <a:t>E V A L U A C I Ó N</a:t>
            </a:r>
            <a:endParaRPr/>
          </a:p>
        </p:txBody>
      </p:sp>
      <p:sp>
        <p:nvSpPr>
          <p:cNvPr id="335" name="Google Shape;335;p18"/>
          <p:cNvSpPr txBox="1"/>
          <p:nvPr/>
        </p:nvSpPr>
        <p:spPr>
          <a:xfrm>
            <a:off x="4028118" y="4249150"/>
            <a:ext cx="344743" cy="4195548"/>
          </a:xfrm>
          <a:prstGeom prst="rect">
            <a:avLst/>
          </a:prstGeom>
          <a:noFill/>
          <a:ln>
            <a:noFill/>
          </a:ln>
        </p:spPr>
        <p:txBody>
          <a:bodyPr anchorCtr="0" anchor="t" bIns="0" lIns="0" spcFirstLastPara="1" rIns="0" wrap="square" tIns="0">
            <a:spAutoFit/>
          </a:bodyPr>
          <a:lstStyle/>
          <a:p>
            <a:pPr indent="0" lvl="0" marL="0" marR="0" rtl="0" algn="l">
              <a:lnSpc>
                <a:spcPct val="118528"/>
              </a:lnSpc>
              <a:spcBef>
                <a:spcPts val="0"/>
              </a:spcBef>
              <a:spcAft>
                <a:spcPts val="0"/>
              </a:spcAft>
              <a:buNone/>
            </a:pPr>
            <a:r>
              <a:rPr b="1" i="0" lang="en-US" sz="3044" u="none" cap="none" strike="noStrike">
                <a:solidFill>
                  <a:srgbClr val="000000"/>
                </a:solidFill>
                <a:latin typeface="Calibri"/>
                <a:ea typeface="Calibri"/>
                <a:cs typeface="Calibri"/>
                <a:sym typeface="Calibri"/>
              </a:rPr>
              <a:t>F O R M A T I V A</a:t>
            </a:r>
            <a:endParaRPr/>
          </a:p>
        </p:txBody>
      </p:sp>
      <p:sp>
        <p:nvSpPr>
          <p:cNvPr id="336" name="Google Shape;336;p18"/>
          <p:cNvSpPr txBox="1"/>
          <p:nvPr/>
        </p:nvSpPr>
        <p:spPr>
          <a:xfrm>
            <a:off x="7483793" y="1078761"/>
            <a:ext cx="9376858" cy="1306065"/>
          </a:xfrm>
          <a:prstGeom prst="rect">
            <a:avLst/>
          </a:prstGeom>
          <a:noFill/>
          <a:ln>
            <a:noFill/>
          </a:ln>
        </p:spPr>
        <p:txBody>
          <a:bodyPr anchorCtr="0" anchor="t" bIns="0" lIns="0" spcFirstLastPara="1" rIns="0" wrap="square" tIns="0">
            <a:spAutoFit/>
          </a:bodyPr>
          <a:lstStyle/>
          <a:p>
            <a:pPr indent="0" lvl="0" marL="0" marR="0" rtl="0" algn="just">
              <a:lnSpc>
                <a:spcPct val="107398"/>
              </a:lnSpc>
              <a:spcBef>
                <a:spcPts val="0"/>
              </a:spcBef>
              <a:spcAft>
                <a:spcPts val="0"/>
              </a:spcAft>
              <a:buNone/>
            </a:pPr>
            <a:r>
              <a:rPr b="0" i="0" lang="en-US" sz="3041" u="none" cap="none" strike="noStrike">
                <a:solidFill>
                  <a:srgbClr val="000000"/>
                </a:solidFill>
                <a:latin typeface="Calibri"/>
                <a:ea typeface="Calibri"/>
                <a:cs typeface="Calibri"/>
                <a:sym typeface="Calibri"/>
              </a:rPr>
              <a:t>•</a:t>
            </a:r>
            <a:r>
              <a:rPr b="1" i="0" lang="en-US" sz="3041" u="none" cap="none" strike="noStrike">
                <a:solidFill>
                  <a:srgbClr val="000000"/>
                </a:solidFill>
                <a:latin typeface="Calibri"/>
                <a:ea typeface="Calibri"/>
                <a:cs typeface="Calibri"/>
                <a:sym typeface="Calibri"/>
              </a:rPr>
              <a:t> Les comento que esta es la evaluación medular del Curso para que demuestren la ejecución consciente de los desempeños psicomotores requeridos por el estándar.</a:t>
            </a:r>
            <a:endParaRPr/>
          </a:p>
        </p:txBody>
      </p:sp>
      <p:sp>
        <p:nvSpPr>
          <p:cNvPr id="337" name="Google Shape;337;p18"/>
          <p:cNvSpPr txBox="1"/>
          <p:nvPr/>
        </p:nvSpPr>
        <p:spPr>
          <a:xfrm>
            <a:off x="7330936" y="2605966"/>
            <a:ext cx="9028471" cy="907656"/>
          </a:xfrm>
          <a:prstGeom prst="rect">
            <a:avLst/>
          </a:prstGeom>
          <a:noFill/>
          <a:ln>
            <a:noFill/>
          </a:ln>
        </p:spPr>
        <p:txBody>
          <a:bodyPr anchorCtr="0" anchor="t" bIns="0" lIns="0" spcFirstLastPara="1" rIns="0" wrap="square" tIns="0">
            <a:spAutoFit/>
          </a:bodyPr>
          <a:lstStyle/>
          <a:p>
            <a:pPr indent="-328303" lvl="1" marL="656606" marR="0" rtl="0" algn="just">
              <a:lnSpc>
                <a:spcPct val="250016"/>
              </a:lnSpc>
              <a:spcBef>
                <a:spcPts val="0"/>
              </a:spcBef>
              <a:spcAft>
                <a:spcPts val="0"/>
              </a:spcAft>
              <a:buClr>
                <a:srgbClr val="000000"/>
              </a:buClr>
              <a:buSzPts val="3041"/>
              <a:buFont typeface="Arial"/>
              <a:buChar char="•"/>
            </a:pPr>
            <a:r>
              <a:rPr b="1" i="0" lang="en-US" sz="3041" u="none" cap="none" strike="noStrike">
                <a:solidFill>
                  <a:srgbClr val="000000"/>
                </a:solidFill>
                <a:latin typeface="Calibri"/>
                <a:ea typeface="Calibri"/>
                <a:cs typeface="Calibri"/>
                <a:sym typeface="Calibri"/>
              </a:rPr>
              <a:t>Daremos X tiempo para realizarla.</a:t>
            </a:r>
            <a:endParaRPr/>
          </a:p>
        </p:txBody>
      </p:sp>
      <p:sp>
        <p:nvSpPr>
          <p:cNvPr id="338" name="Google Shape;338;p18"/>
          <p:cNvSpPr txBox="1"/>
          <p:nvPr/>
        </p:nvSpPr>
        <p:spPr>
          <a:xfrm>
            <a:off x="7483793" y="4376554"/>
            <a:ext cx="9378929" cy="967883"/>
          </a:xfrm>
          <a:prstGeom prst="rect">
            <a:avLst/>
          </a:prstGeom>
          <a:noFill/>
          <a:ln>
            <a:noFill/>
          </a:ln>
        </p:spPr>
        <p:txBody>
          <a:bodyPr anchorCtr="0" anchor="t" bIns="0" lIns="0" spcFirstLastPara="1" rIns="0" wrap="square" tIns="0">
            <a:spAutoFit/>
          </a:bodyPr>
          <a:lstStyle/>
          <a:p>
            <a:pPr indent="0" lvl="0" marL="0" marR="0" rtl="0" algn="l">
              <a:lnSpc>
                <a:spcPct val="115981"/>
              </a:lnSpc>
              <a:spcBef>
                <a:spcPts val="0"/>
              </a:spcBef>
              <a:spcAft>
                <a:spcPts val="0"/>
              </a:spcAft>
              <a:buNone/>
            </a:pPr>
            <a:r>
              <a:rPr b="0" i="0" lang="en-US" sz="3041" u="none" cap="none" strike="noStrike">
                <a:solidFill>
                  <a:srgbClr val="000000"/>
                </a:solidFill>
                <a:latin typeface="Calibri"/>
                <a:ea typeface="Calibri"/>
                <a:cs typeface="Calibri"/>
                <a:sym typeface="Calibri"/>
              </a:rPr>
              <a:t>•</a:t>
            </a:r>
            <a:r>
              <a:rPr b="1" i="0" lang="en-US" sz="3041" u="none" cap="none" strike="noStrike">
                <a:solidFill>
                  <a:srgbClr val="000000"/>
                </a:solidFill>
                <a:latin typeface="Calibri"/>
                <a:ea typeface="Calibri"/>
                <a:cs typeface="Calibri"/>
                <a:sym typeface="Calibri"/>
              </a:rPr>
              <a:t> ¿Alguna duda? Pues una vez iniciada la evaluación deberán enfocarse a su evaluación.</a:t>
            </a:r>
            <a:endParaRPr/>
          </a:p>
        </p:txBody>
      </p:sp>
      <p:sp>
        <p:nvSpPr>
          <p:cNvPr id="339" name="Google Shape;339;p18"/>
          <p:cNvSpPr txBox="1"/>
          <p:nvPr/>
        </p:nvSpPr>
        <p:spPr>
          <a:xfrm rot="-884793">
            <a:off x="717666" y="1243510"/>
            <a:ext cx="1801001" cy="562388"/>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None/>
            </a:pPr>
            <a:r>
              <a:rPr b="1" i="0" lang="en-US" sz="2983" u="none" cap="none" strike="noStrike">
                <a:solidFill>
                  <a:srgbClr val="E4081C"/>
                </a:solidFill>
                <a:latin typeface="Calibri"/>
                <a:ea typeface="Calibri"/>
                <a:cs typeface="Calibri"/>
                <a:sym typeface="Calibri"/>
              </a:rPr>
              <a:t>EJEMPLO</a:t>
            </a:r>
            <a:endParaRPr/>
          </a:p>
        </p:txBody>
      </p:sp>
      <p:sp>
        <p:nvSpPr>
          <p:cNvPr id="340" name="Google Shape;340;p18"/>
          <p:cNvSpPr txBox="1"/>
          <p:nvPr/>
        </p:nvSpPr>
        <p:spPr>
          <a:xfrm>
            <a:off x="7330936" y="6573988"/>
            <a:ext cx="8743436" cy="327517"/>
          </a:xfrm>
          <a:prstGeom prst="rect">
            <a:avLst/>
          </a:prstGeom>
          <a:noFill/>
          <a:ln>
            <a:noFill/>
          </a:ln>
        </p:spPr>
        <p:txBody>
          <a:bodyPr anchorCtr="0" anchor="t" bIns="0" lIns="0" spcFirstLastPara="1" rIns="0" wrap="square" tIns="0">
            <a:spAutoFit/>
          </a:bodyPr>
          <a:lstStyle/>
          <a:p>
            <a:pPr indent="-328303" lvl="1" marL="656606" marR="0" rtl="0" algn="l">
              <a:lnSpc>
                <a:spcPct val="49983"/>
              </a:lnSpc>
              <a:spcBef>
                <a:spcPts val="0"/>
              </a:spcBef>
              <a:spcAft>
                <a:spcPts val="0"/>
              </a:spcAft>
              <a:buClr>
                <a:srgbClr val="0563C1"/>
              </a:buClr>
              <a:buSzPts val="3041"/>
              <a:buFont typeface="Arial"/>
              <a:buChar char="•"/>
            </a:pPr>
            <a:r>
              <a:rPr b="1" i="0" lang="en-US" sz="3041" u="none" cap="none" strike="noStrike">
                <a:solidFill>
                  <a:srgbClr val="0563C1"/>
                </a:solidFill>
                <a:latin typeface="Calibri"/>
                <a:ea typeface="Calibri"/>
                <a:cs typeface="Calibri"/>
                <a:sym typeface="Calibri"/>
              </a:rPr>
              <a:t>Anexa aquí el enlace de tu evaluación formativa</a:t>
            </a:r>
            <a:endParaRPr/>
          </a:p>
        </p:txBody>
      </p:sp>
      <p:sp>
        <p:nvSpPr>
          <p:cNvPr id="341" name="Google Shape;341;p18"/>
          <p:cNvSpPr/>
          <p:nvPr/>
        </p:nvSpPr>
        <p:spPr>
          <a:xfrm>
            <a:off x="14520259" y="2857785"/>
            <a:ext cx="1554113" cy="1458041"/>
          </a:xfrm>
          <a:custGeom>
            <a:rect b="b" l="l" r="r" t="t"/>
            <a:pathLst>
              <a:path extrusionOk="0" h="1458041" w="1554113">
                <a:moveTo>
                  <a:pt x="0" y="0"/>
                </a:moveTo>
                <a:lnTo>
                  <a:pt x="1554113" y="0"/>
                </a:lnTo>
                <a:lnTo>
                  <a:pt x="1554113" y="1458040"/>
                </a:lnTo>
                <a:lnTo>
                  <a:pt x="0" y="145804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9"/>
          <p:cNvSpPr/>
          <p:nvPr/>
        </p:nvSpPr>
        <p:spPr>
          <a:xfrm>
            <a:off x="-95255" y="-95255"/>
            <a:ext cx="2696523" cy="2542218"/>
          </a:xfrm>
          <a:custGeom>
            <a:rect b="b" l="l" r="r" t="t"/>
            <a:pathLst>
              <a:path extrusionOk="0" h="2542218" w="2696523">
                <a:moveTo>
                  <a:pt x="0" y="0"/>
                </a:moveTo>
                <a:lnTo>
                  <a:pt x="2696523" y="0"/>
                </a:lnTo>
                <a:lnTo>
                  <a:pt x="2696523" y="2542218"/>
                </a:lnTo>
                <a:lnTo>
                  <a:pt x="0" y="2542218"/>
                </a:lnTo>
                <a:lnTo>
                  <a:pt x="0" y="0"/>
                </a:lnTo>
                <a:close/>
              </a:path>
            </a:pathLst>
          </a:custGeom>
          <a:blipFill rotWithShape="1">
            <a:blip r:embed="rId3">
              <a:alphaModFix/>
            </a:blip>
            <a:stretch>
              <a:fillRect b="0" l="0" r="0" t="0"/>
            </a:stretch>
          </a:blipFill>
          <a:ln>
            <a:noFill/>
          </a:ln>
        </p:spPr>
      </p:sp>
      <p:sp>
        <p:nvSpPr>
          <p:cNvPr id="347" name="Google Shape;347;p19"/>
          <p:cNvSpPr/>
          <p:nvPr/>
        </p:nvSpPr>
        <p:spPr>
          <a:xfrm>
            <a:off x="11306170" y="9077320"/>
            <a:ext cx="2990845" cy="1304920"/>
          </a:xfrm>
          <a:custGeom>
            <a:rect b="b" l="l" r="r" t="t"/>
            <a:pathLst>
              <a:path extrusionOk="0" h="1304920" w="2990845">
                <a:moveTo>
                  <a:pt x="0" y="0"/>
                </a:moveTo>
                <a:lnTo>
                  <a:pt x="2990845" y="0"/>
                </a:lnTo>
                <a:lnTo>
                  <a:pt x="2990845" y="1304920"/>
                </a:lnTo>
                <a:lnTo>
                  <a:pt x="0" y="1304920"/>
                </a:lnTo>
                <a:lnTo>
                  <a:pt x="0" y="0"/>
                </a:lnTo>
                <a:close/>
              </a:path>
            </a:pathLst>
          </a:custGeom>
          <a:blipFill rotWithShape="1">
            <a:blip r:embed="rId4">
              <a:alphaModFix/>
            </a:blip>
            <a:stretch>
              <a:fillRect b="0" l="0" r="0" t="0"/>
            </a:stretch>
          </a:blipFill>
          <a:ln>
            <a:noFill/>
          </a:ln>
        </p:spPr>
      </p:sp>
      <p:sp>
        <p:nvSpPr>
          <p:cNvPr id="348" name="Google Shape;348;p19"/>
          <p:cNvSpPr/>
          <p:nvPr/>
        </p:nvSpPr>
        <p:spPr>
          <a:xfrm>
            <a:off x="13935070" y="-95255"/>
            <a:ext cx="4448170" cy="2418016"/>
          </a:xfrm>
          <a:custGeom>
            <a:rect b="b" l="l" r="r" t="t"/>
            <a:pathLst>
              <a:path extrusionOk="0" h="2418016" w="4448170">
                <a:moveTo>
                  <a:pt x="0" y="0"/>
                </a:moveTo>
                <a:lnTo>
                  <a:pt x="4448170" y="0"/>
                </a:lnTo>
                <a:lnTo>
                  <a:pt x="4448170" y="2418017"/>
                </a:lnTo>
                <a:lnTo>
                  <a:pt x="0" y="2418017"/>
                </a:lnTo>
                <a:lnTo>
                  <a:pt x="0" y="0"/>
                </a:lnTo>
                <a:close/>
              </a:path>
            </a:pathLst>
          </a:custGeom>
          <a:blipFill rotWithShape="1">
            <a:blip r:embed="rId5">
              <a:alphaModFix/>
            </a:blip>
            <a:stretch>
              <a:fillRect b="0" l="0" r="0" t="0"/>
            </a:stretch>
          </a:blipFill>
          <a:ln>
            <a:noFill/>
          </a:ln>
        </p:spPr>
      </p:sp>
      <p:sp>
        <p:nvSpPr>
          <p:cNvPr id="349" name="Google Shape;349;p19"/>
          <p:cNvSpPr txBox="1"/>
          <p:nvPr/>
        </p:nvSpPr>
        <p:spPr>
          <a:xfrm>
            <a:off x="427668" y="-95845"/>
            <a:ext cx="6601211" cy="765158"/>
          </a:xfrm>
          <a:prstGeom prst="rect">
            <a:avLst/>
          </a:prstGeom>
          <a:noFill/>
          <a:ln>
            <a:noFill/>
          </a:ln>
        </p:spPr>
        <p:txBody>
          <a:bodyPr anchorCtr="0" anchor="t" bIns="0" lIns="0" spcFirstLastPara="1" rIns="0" wrap="square" tIns="0">
            <a:spAutoFit/>
          </a:bodyPr>
          <a:lstStyle/>
          <a:p>
            <a:pPr indent="0" lvl="0" marL="0" marR="0" rtl="0" algn="l">
              <a:lnSpc>
                <a:spcPct val="139989"/>
              </a:lnSpc>
              <a:spcBef>
                <a:spcPts val="0"/>
              </a:spcBef>
              <a:spcAft>
                <a:spcPts val="0"/>
              </a:spcAft>
              <a:buNone/>
            </a:pPr>
            <a:r>
              <a:rPr b="1" i="0" lang="en-US" sz="3941" u="none" cap="none" strike="noStrike">
                <a:solidFill>
                  <a:srgbClr val="000000"/>
                </a:solidFill>
                <a:latin typeface="Calibri"/>
                <a:ea typeface="Calibri"/>
                <a:cs typeface="Calibri"/>
                <a:sym typeface="Calibri"/>
              </a:rPr>
              <a:t>TÉCNICA DIÁLOGO -DISCUSIÓN</a:t>
            </a:r>
            <a:endParaRPr/>
          </a:p>
        </p:txBody>
      </p:sp>
      <p:sp>
        <p:nvSpPr>
          <p:cNvPr id="350" name="Google Shape;350;p19"/>
          <p:cNvSpPr txBox="1"/>
          <p:nvPr/>
        </p:nvSpPr>
        <p:spPr>
          <a:xfrm>
            <a:off x="427668" y="9082902"/>
            <a:ext cx="5300034" cy="507637"/>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0" i="0" lang="en-US" sz="2703" u="none" cap="none" strike="noStrike">
                <a:solidFill>
                  <a:srgbClr val="000000"/>
                </a:solidFill>
                <a:latin typeface="Calibri"/>
                <a:ea typeface="Calibri"/>
                <a:cs typeface="Calibri"/>
                <a:sym typeface="Calibri"/>
              </a:rPr>
              <a:t>5.3.(Propiciar y Moderar la discusión)</a:t>
            </a:r>
            <a:endParaRPr/>
          </a:p>
        </p:txBody>
      </p:sp>
      <p:sp>
        <p:nvSpPr>
          <p:cNvPr id="351" name="Google Shape;351;p19"/>
          <p:cNvSpPr txBox="1"/>
          <p:nvPr/>
        </p:nvSpPr>
        <p:spPr>
          <a:xfrm>
            <a:off x="427668" y="7852848"/>
            <a:ext cx="15284025" cy="507637"/>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0" i="0" lang="en-US" sz="2703" u="none" cap="none" strike="noStrike">
                <a:solidFill>
                  <a:srgbClr val="000000"/>
                </a:solidFill>
                <a:latin typeface="Calibri"/>
                <a:ea typeface="Calibri"/>
                <a:cs typeface="Calibri"/>
                <a:sym typeface="Calibri"/>
              </a:rPr>
              <a:t>4.¿Listos? Bien ahora abriremos la discusión sobre </a:t>
            </a:r>
            <a:r>
              <a:rPr b="1" i="1" lang="en-US" sz="2703" u="none" cap="none" strike="noStrike">
                <a:solidFill>
                  <a:srgbClr val="000000"/>
                </a:solidFill>
                <a:latin typeface="Calibri"/>
                <a:ea typeface="Calibri"/>
                <a:cs typeface="Calibri"/>
                <a:sym typeface="Calibri"/>
              </a:rPr>
              <a:t>El estándar EC0217.01 en su labor diaria</a:t>
            </a:r>
            <a:endParaRPr/>
          </a:p>
        </p:txBody>
      </p:sp>
      <p:sp>
        <p:nvSpPr>
          <p:cNvPr id="352" name="Google Shape;352;p19"/>
          <p:cNvSpPr txBox="1"/>
          <p:nvPr/>
        </p:nvSpPr>
        <p:spPr>
          <a:xfrm>
            <a:off x="550254" y="2146452"/>
            <a:ext cx="16799585" cy="1918691"/>
          </a:xfrm>
          <a:prstGeom prst="rect">
            <a:avLst/>
          </a:prstGeom>
          <a:noFill/>
          <a:ln>
            <a:noFill/>
          </a:ln>
        </p:spPr>
        <p:txBody>
          <a:bodyPr anchorCtr="0" anchor="t" bIns="0" lIns="0" spcFirstLastPara="1" rIns="0" wrap="square" tIns="0">
            <a:spAutoFit/>
          </a:bodyPr>
          <a:lstStyle/>
          <a:p>
            <a:pPr indent="0" lvl="0" marL="0" marR="0" rtl="0" algn="l">
              <a:lnSpc>
                <a:spcPct val="120828"/>
              </a:lnSpc>
              <a:spcBef>
                <a:spcPts val="0"/>
              </a:spcBef>
              <a:spcAft>
                <a:spcPts val="0"/>
              </a:spcAft>
              <a:buNone/>
            </a:pPr>
            <a:r>
              <a:rPr b="0" i="0" lang="en-US" sz="2703" u="none" cap="none" strike="noStrike">
                <a:solidFill>
                  <a:srgbClr val="000000"/>
                </a:solidFill>
                <a:latin typeface="Calibri"/>
                <a:ea typeface="Calibri"/>
                <a:cs typeface="Calibri"/>
                <a:sym typeface="Calibri"/>
              </a:rPr>
              <a:t>1.Muy bien, ahora DIALOGARÁN sobre: </a:t>
            </a:r>
            <a:r>
              <a:rPr b="1" i="1" lang="en-US" sz="2703" u="none" cap="none" strike="noStrike">
                <a:solidFill>
                  <a:srgbClr val="000000"/>
                </a:solidFill>
                <a:latin typeface="Calibri"/>
                <a:ea typeface="Calibri"/>
                <a:cs typeface="Calibri"/>
                <a:sym typeface="Calibri"/>
              </a:rPr>
              <a:t>El estándar EC0217.01 en su labor diaria.</a:t>
            </a:r>
            <a:endParaRPr/>
          </a:p>
          <a:p>
            <a:pPr indent="0" lvl="0" marL="0" marR="0" rtl="0" algn="l">
              <a:lnSpc>
                <a:spcPct val="241657"/>
              </a:lnSpc>
              <a:spcBef>
                <a:spcPts val="0"/>
              </a:spcBef>
              <a:spcAft>
                <a:spcPts val="0"/>
              </a:spcAft>
              <a:buNone/>
            </a:pPr>
            <a:r>
              <a:rPr b="0" i="1" lang="en-US" sz="2703" u="none" cap="none" strike="noStrike">
                <a:solidFill>
                  <a:srgbClr val="000000"/>
                </a:solidFill>
                <a:latin typeface="Calibri"/>
                <a:ea typeface="Calibri"/>
                <a:cs typeface="Calibri"/>
                <a:sym typeface="Calibri"/>
              </a:rPr>
              <a:t>2. Enúmerense del 1 al 4. Los 1´s acá, Los 2´s ....</a:t>
            </a:r>
            <a:endParaRPr/>
          </a:p>
          <a:p>
            <a:pPr indent="0" lvl="0" marL="0" marR="0" rtl="0" algn="l">
              <a:lnSpc>
                <a:spcPct val="241657"/>
              </a:lnSpc>
              <a:spcBef>
                <a:spcPts val="0"/>
              </a:spcBef>
              <a:spcAft>
                <a:spcPts val="0"/>
              </a:spcAft>
              <a:buNone/>
            </a:pPr>
            <a:r>
              <a:rPr b="0" i="0" lang="en-US" sz="2703" u="none" cap="none" strike="noStrike">
                <a:solidFill>
                  <a:srgbClr val="000000"/>
                </a:solidFill>
                <a:latin typeface="Calibri"/>
                <a:ea typeface="Calibri"/>
                <a:cs typeface="Calibri"/>
                <a:sym typeface="Calibri"/>
              </a:rPr>
              <a:t>3. Y vamos a estipular unas sencillas reglas:</a:t>
            </a:r>
            <a:endParaRPr/>
          </a:p>
        </p:txBody>
      </p:sp>
      <p:sp>
        <p:nvSpPr>
          <p:cNvPr id="353" name="Google Shape;353;p19"/>
          <p:cNvSpPr txBox="1"/>
          <p:nvPr/>
        </p:nvSpPr>
        <p:spPr>
          <a:xfrm>
            <a:off x="427668" y="4346600"/>
            <a:ext cx="122587" cy="2378897"/>
          </a:xfrm>
          <a:prstGeom prst="rect">
            <a:avLst/>
          </a:prstGeom>
          <a:noFill/>
          <a:ln>
            <a:noFill/>
          </a:ln>
        </p:spPr>
        <p:txBody>
          <a:bodyPr anchorCtr="0" anchor="t" bIns="0" lIns="0" spcFirstLastPara="1" rIns="0" wrap="square" tIns="0">
            <a:spAutoFit/>
          </a:bodyPr>
          <a:lstStyle/>
          <a:p>
            <a:pPr indent="0" lvl="0" marL="0" marR="0" rtl="0" algn="just">
              <a:lnSpc>
                <a:spcPct val="241657"/>
              </a:lnSpc>
              <a:spcBef>
                <a:spcPts val="0"/>
              </a:spcBef>
              <a:spcAft>
                <a:spcPts val="0"/>
              </a:spcAft>
              <a:buNone/>
            </a:pPr>
            <a:r>
              <a:rPr b="0" i="0" lang="en-US" sz="2703" u="none" cap="none" strike="noStrike">
                <a:solidFill>
                  <a:srgbClr val="000000"/>
                </a:solidFill>
                <a:latin typeface="IBM Plex Sans Condensed"/>
                <a:ea typeface="IBM Plex Sans Condensed"/>
                <a:cs typeface="IBM Plex Sans Condensed"/>
                <a:sym typeface="IBM Plex Sans Condensed"/>
              </a:rPr>
              <a:t>• • •</a:t>
            </a:r>
            <a:endParaRPr/>
          </a:p>
        </p:txBody>
      </p:sp>
      <p:sp>
        <p:nvSpPr>
          <p:cNvPr id="354" name="Google Shape;354;p19"/>
          <p:cNvSpPr txBox="1"/>
          <p:nvPr/>
        </p:nvSpPr>
        <p:spPr>
          <a:xfrm>
            <a:off x="856779" y="4280978"/>
            <a:ext cx="16195310" cy="2440104"/>
          </a:xfrm>
          <a:prstGeom prst="rect">
            <a:avLst/>
          </a:prstGeom>
          <a:noFill/>
          <a:ln>
            <a:noFill/>
          </a:ln>
        </p:spPr>
        <p:txBody>
          <a:bodyPr anchorCtr="0" anchor="t" bIns="0" lIns="0" spcFirstLastPara="1" rIns="0" wrap="square" tIns="0">
            <a:spAutoFit/>
          </a:bodyPr>
          <a:lstStyle/>
          <a:p>
            <a:pPr indent="0" lvl="0" marL="0" marR="0" rtl="0" algn="l">
              <a:lnSpc>
                <a:spcPct val="241657"/>
              </a:lnSpc>
              <a:spcBef>
                <a:spcPts val="0"/>
              </a:spcBef>
              <a:spcAft>
                <a:spcPts val="0"/>
              </a:spcAft>
              <a:buNone/>
            </a:pPr>
            <a:r>
              <a:rPr b="0" i="0" lang="en-US" sz="2703" u="none" cap="none" strike="noStrike">
                <a:solidFill>
                  <a:srgbClr val="000000"/>
                </a:solidFill>
                <a:latin typeface="Calibri"/>
                <a:ea typeface="Calibri"/>
                <a:cs typeface="Calibri"/>
                <a:sym typeface="Calibri"/>
              </a:rPr>
              <a:t>Cada grupo compartirá 1 reflexión</a:t>
            </a:r>
            <a:endParaRPr/>
          </a:p>
          <a:p>
            <a:pPr indent="0" lvl="0" marL="0" marR="0" rtl="0" algn="l">
              <a:lnSpc>
                <a:spcPct val="241657"/>
              </a:lnSpc>
              <a:spcBef>
                <a:spcPts val="0"/>
              </a:spcBef>
              <a:spcAft>
                <a:spcPts val="0"/>
              </a:spcAft>
              <a:buNone/>
            </a:pPr>
            <a:r>
              <a:rPr b="0" i="0" lang="en-US" sz="2703" u="none" cap="none" strike="noStrike">
                <a:solidFill>
                  <a:srgbClr val="000000"/>
                </a:solidFill>
                <a:latin typeface="Calibri"/>
                <a:ea typeface="Calibri"/>
                <a:cs typeface="Calibri"/>
                <a:sym typeface="Calibri"/>
              </a:rPr>
              <a:t>Las reflexiones no deberán repetirse ni ser redundantes</a:t>
            </a:r>
            <a:endParaRPr/>
          </a:p>
          <a:p>
            <a:pPr indent="0" lvl="0" marL="0" marR="0" rtl="0" algn="l">
              <a:lnSpc>
                <a:spcPct val="241657"/>
              </a:lnSpc>
              <a:spcBef>
                <a:spcPts val="0"/>
              </a:spcBef>
              <a:spcAft>
                <a:spcPts val="0"/>
              </a:spcAft>
              <a:buNone/>
            </a:pPr>
            <a:r>
              <a:rPr b="0" i="0" lang="en-US" sz="2703" u="none" cap="none" strike="noStrike">
                <a:solidFill>
                  <a:srgbClr val="000000"/>
                </a:solidFill>
                <a:latin typeface="Calibri"/>
                <a:ea typeface="Calibri"/>
                <a:cs typeface="Calibri"/>
                <a:sym typeface="Calibri"/>
              </a:rPr>
              <a:t>El tono debe ser positivo y respetuoso</a:t>
            </a:r>
            <a:endParaRPr/>
          </a:p>
        </p:txBody>
      </p:sp>
      <p:sp>
        <p:nvSpPr>
          <p:cNvPr id="355" name="Google Shape;355;p19"/>
          <p:cNvSpPr txBox="1"/>
          <p:nvPr/>
        </p:nvSpPr>
        <p:spPr>
          <a:xfrm>
            <a:off x="14363324" y="180318"/>
            <a:ext cx="2664619" cy="501382"/>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0" i="1" lang="en-US" sz="2591" u="none" cap="none" strike="noStrike">
                <a:solidFill>
                  <a:srgbClr val="000000"/>
                </a:solidFill>
                <a:latin typeface="Calibri"/>
                <a:ea typeface="Calibri"/>
                <a:cs typeface="Calibri"/>
                <a:sym typeface="Calibri"/>
              </a:rPr>
              <a:t>Máximo 10-15 mins</a:t>
            </a:r>
            <a:endParaRPr/>
          </a:p>
        </p:txBody>
      </p:sp>
      <p:sp>
        <p:nvSpPr>
          <p:cNvPr id="356" name="Google Shape;356;p19"/>
          <p:cNvSpPr txBox="1"/>
          <p:nvPr/>
        </p:nvSpPr>
        <p:spPr>
          <a:xfrm rot="-884793">
            <a:off x="440488" y="692238"/>
            <a:ext cx="1801001" cy="562388"/>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None/>
            </a:pPr>
            <a:r>
              <a:rPr b="1" i="0" lang="en-US" sz="2983" u="none" cap="none" strike="noStrike">
                <a:solidFill>
                  <a:srgbClr val="E4081C"/>
                </a:solidFill>
                <a:latin typeface="Calibri"/>
                <a:ea typeface="Calibri"/>
                <a:cs typeface="Calibri"/>
                <a:sym typeface="Calibri"/>
              </a:rPr>
              <a:t>EJEMPLO</a:t>
            </a:r>
            <a:endParaRPr/>
          </a:p>
        </p:txBody>
      </p:sp>
      <p:sp>
        <p:nvSpPr>
          <p:cNvPr id="357" name="Google Shape;357;p19"/>
          <p:cNvSpPr/>
          <p:nvPr/>
        </p:nvSpPr>
        <p:spPr>
          <a:xfrm>
            <a:off x="16039286" y="745561"/>
            <a:ext cx="1554113" cy="1458041"/>
          </a:xfrm>
          <a:custGeom>
            <a:rect b="b" l="l" r="r" t="t"/>
            <a:pathLst>
              <a:path extrusionOk="0" h="1458041" w="1554113">
                <a:moveTo>
                  <a:pt x="0" y="0"/>
                </a:moveTo>
                <a:lnTo>
                  <a:pt x="1554113" y="0"/>
                </a:lnTo>
                <a:lnTo>
                  <a:pt x="1554113" y="1458041"/>
                </a:lnTo>
                <a:lnTo>
                  <a:pt x="0" y="1458041"/>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A6A6"/>
        </a:solidFill>
      </p:bgPr>
    </p:bg>
    <p:spTree>
      <p:nvGrpSpPr>
        <p:cNvPr id="361" name="Shape 361"/>
        <p:cNvGrpSpPr/>
        <p:nvPr/>
      </p:nvGrpSpPr>
      <p:grpSpPr>
        <a:xfrm>
          <a:off x="0" y="0"/>
          <a:ext cx="0" cy="0"/>
          <a:chOff x="0" y="0"/>
          <a:chExt cx="0" cy="0"/>
        </a:xfrm>
      </p:grpSpPr>
      <p:sp>
        <p:nvSpPr>
          <p:cNvPr id="362" name="Google Shape;362;p20"/>
          <p:cNvSpPr/>
          <p:nvPr/>
        </p:nvSpPr>
        <p:spPr>
          <a:xfrm>
            <a:off x="616749" y="616749"/>
            <a:ext cx="17068805" cy="9067805"/>
          </a:xfrm>
          <a:custGeom>
            <a:rect b="b" l="l" r="r" t="t"/>
            <a:pathLst>
              <a:path extrusionOk="0" h="9067805" w="17068805">
                <a:moveTo>
                  <a:pt x="0" y="0"/>
                </a:moveTo>
                <a:lnTo>
                  <a:pt x="17068804" y="0"/>
                </a:lnTo>
                <a:lnTo>
                  <a:pt x="17068804" y="9067804"/>
                </a:lnTo>
                <a:lnTo>
                  <a:pt x="0" y="9067804"/>
                </a:lnTo>
                <a:lnTo>
                  <a:pt x="0" y="0"/>
                </a:lnTo>
                <a:close/>
              </a:path>
            </a:pathLst>
          </a:custGeom>
          <a:blipFill rotWithShape="1">
            <a:blip r:embed="rId3">
              <a:alphaModFix/>
            </a:blip>
            <a:stretch>
              <a:fillRect b="0" l="0" r="0" t="0"/>
            </a:stretch>
          </a:blipFill>
          <a:ln>
            <a:noFill/>
          </a:ln>
        </p:spPr>
      </p:sp>
      <p:sp>
        <p:nvSpPr>
          <p:cNvPr id="363" name="Google Shape;363;p20"/>
          <p:cNvSpPr txBox="1"/>
          <p:nvPr/>
        </p:nvSpPr>
        <p:spPr>
          <a:xfrm>
            <a:off x="1242541" y="1029981"/>
            <a:ext cx="9040716" cy="667717"/>
          </a:xfrm>
          <a:prstGeom prst="rect">
            <a:avLst/>
          </a:prstGeom>
          <a:noFill/>
          <a:ln>
            <a:noFill/>
          </a:ln>
        </p:spPr>
        <p:txBody>
          <a:bodyPr anchorCtr="0" anchor="t" bIns="0" lIns="0" spcFirstLastPara="1" rIns="0" wrap="square" tIns="0">
            <a:spAutoFit/>
          </a:bodyPr>
          <a:lstStyle/>
          <a:p>
            <a:pPr indent="0" lvl="0" marL="0" marR="0" rtl="0" algn="l">
              <a:lnSpc>
                <a:spcPct val="139988"/>
              </a:lnSpc>
              <a:spcBef>
                <a:spcPts val="0"/>
              </a:spcBef>
              <a:spcAft>
                <a:spcPts val="0"/>
              </a:spcAft>
              <a:buNone/>
            </a:pPr>
            <a:r>
              <a:rPr b="1" i="0" lang="en-US" sz="3491" u="none" cap="none" strike="noStrike">
                <a:solidFill>
                  <a:srgbClr val="000000"/>
                </a:solidFill>
                <a:latin typeface="Calibri"/>
                <a:ea typeface="Calibri"/>
                <a:cs typeface="Calibri"/>
                <a:sym typeface="Calibri"/>
              </a:rPr>
              <a:t>TÉCNICA DIÁLOGO -DISCUSIÓN (Continuación...)</a:t>
            </a:r>
            <a:endParaRPr/>
          </a:p>
        </p:txBody>
      </p:sp>
      <p:sp>
        <p:nvSpPr>
          <p:cNvPr id="364" name="Google Shape;364;p20"/>
          <p:cNvSpPr txBox="1"/>
          <p:nvPr/>
        </p:nvSpPr>
        <p:spPr>
          <a:xfrm>
            <a:off x="1242541" y="8093735"/>
            <a:ext cx="8456331" cy="507637"/>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0" i="0" lang="en-US" sz="2703" u="none" cap="none" strike="noStrike">
                <a:solidFill>
                  <a:srgbClr val="000000"/>
                </a:solidFill>
                <a:latin typeface="Calibri"/>
                <a:ea typeface="Calibri"/>
                <a:cs typeface="Calibri"/>
                <a:sym typeface="Calibri"/>
              </a:rPr>
              <a:t>10.¿Qué les han parecido los conocimientos adquiridos?</a:t>
            </a:r>
            <a:endParaRPr/>
          </a:p>
        </p:txBody>
      </p:sp>
      <p:sp>
        <p:nvSpPr>
          <p:cNvPr id="365" name="Google Shape;365;p20"/>
          <p:cNvSpPr txBox="1"/>
          <p:nvPr/>
        </p:nvSpPr>
        <p:spPr>
          <a:xfrm>
            <a:off x="1312064" y="2003350"/>
            <a:ext cx="9532577" cy="468298"/>
          </a:xfrm>
          <a:prstGeom prst="rect">
            <a:avLst/>
          </a:prstGeom>
          <a:noFill/>
          <a:ln>
            <a:noFill/>
          </a:ln>
        </p:spPr>
        <p:txBody>
          <a:bodyPr anchorCtr="0" anchor="t" bIns="0" lIns="0" spcFirstLastPara="1" rIns="0" wrap="square" tIns="0">
            <a:spAutoFit/>
          </a:bodyPr>
          <a:lstStyle/>
          <a:p>
            <a:pPr indent="0" lvl="0" marL="0" marR="0" rtl="0" algn="l">
              <a:lnSpc>
                <a:spcPct val="120902"/>
              </a:lnSpc>
              <a:spcBef>
                <a:spcPts val="0"/>
              </a:spcBef>
              <a:spcAft>
                <a:spcPts val="0"/>
              </a:spcAft>
              <a:buNone/>
            </a:pPr>
            <a:r>
              <a:rPr b="1" i="0" lang="en-US" sz="2703" u="none" cap="none" strike="noStrike">
                <a:solidFill>
                  <a:srgbClr val="000000"/>
                </a:solidFill>
                <a:latin typeface="Calibri"/>
                <a:ea typeface="Calibri"/>
                <a:cs typeface="Calibri"/>
                <a:sym typeface="Calibri"/>
              </a:rPr>
              <a:t>4.</a:t>
            </a:r>
            <a:r>
              <a:rPr b="0" i="0" lang="en-US" sz="2703" u="none" cap="none" strike="noStrike">
                <a:solidFill>
                  <a:srgbClr val="000000"/>
                </a:solidFill>
                <a:latin typeface="Calibri"/>
                <a:ea typeface="Calibri"/>
                <a:cs typeface="Calibri"/>
                <a:sym typeface="Calibri"/>
              </a:rPr>
              <a:t>Ejemplos relacionados con los temas y las situaciones cotidianas:</a:t>
            </a:r>
            <a:endParaRPr/>
          </a:p>
        </p:txBody>
      </p:sp>
      <p:sp>
        <p:nvSpPr>
          <p:cNvPr id="366" name="Google Shape;366;p20"/>
          <p:cNvSpPr txBox="1"/>
          <p:nvPr/>
        </p:nvSpPr>
        <p:spPr>
          <a:xfrm>
            <a:off x="1303834" y="2918590"/>
            <a:ext cx="15853410" cy="873276"/>
          </a:xfrm>
          <a:prstGeom prst="rect">
            <a:avLst/>
          </a:prstGeom>
          <a:noFill/>
          <a:ln>
            <a:noFill/>
          </a:ln>
        </p:spPr>
        <p:txBody>
          <a:bodyPr anchorCtr="0" anchor="t" bIns="0" lIns="0" spcFirstLastPara="1" rIns="0" wrap="square" tIns="0">
            <a:spAutoFit/>
          </a:bodyPr>
          <a:lstStyle/>
          <a:p>
            <a:pPr indent="0" lvl="0" marL="0" marR="0" rtl="0" algn="just">
              <a:lnSpc>
                <a:spcPct val="120902"/>
              </a:lnSpc>
              <a:spcBef>
                <a:spcPts val="0"/>
              </a:spcBef>
              <a:spcAft>
                <a:spcPts val="0"/>
              </a:spcAft>
              <a:buNone/>
            </a:pPr>
            <a:r>
              <a:rPr b="0" i="0" lang="en-US" sz="2703" u="none" cap="none" strike="noStrike">
                <a:solidFill>
                  <a:srgbClr val="E4081C"/>
                </a:solidFill>
                <a:latin typeface="Calibri"/>
                <a:ea typeface="Calibri"/>
                <a:cs typeface="Calibri"/>
                <a:sym typeface="Calibri"/>
              </a:rPr>
              <a:t>Lorem ipsum dolor sit amet, consectetuer adipiscing elit, sed diam nonummy nibh euismod tincidunt ut laoreet dolore magna aliqu</a:t>
            </a:r>
            <a:r>
              <a:rPr b="0" i="0" lang="en-US" sz="2703" u="none" cap="none" strike="noStrike">
                <a:solidFill>
                  <a:srgbClr val="FFFFFF"/>
                </a:solidFill>
                <a:latin typeface="Calibri"/>
                <a:ea typeface="Calibri"/>
                <a:cs typeface="Calibri"/>
                <a:sym typeface="Calibri"/>
              </a:rPr>
              <a:t>am erat volutpat.</a:t>
            </a:r>
            <a:endParaRPr/>
          </a:p>
        </p:txBody>
      </p:sp>
      <p:sp>
        <p:nvSpPr>
          <p:cNvPr id="367" name="Google Shape;367;p20"/>
          <p:cNvSpPr txBox="1"/>
          <p:nvPr/>
        </p:nvSpPr>
        <p:spPr>
          <a:xfrm>
            <a:off x="1242541" y="4522337"/>
            <a:ext cx="6193360" cy="782654"/>
          </a:xfrm>
          <a:prstGeom prst="rect">
            <a:avLst/>
          </a:prstGeom>
          <a:noFill/>
          <a:ln>
            <a:noFill/>
          </a:ln>
        </p:spPr>
        <p:txBody>
          <a:bodyPr anchorCtr="0" anchor="t" bIns="0" lIns="0" spcFirstLastPara="1" rIns="0" wrap="square" tIns="0">
            <a:spAutoFit/>
          </a:bodyPr>
          <a:lstStyle/>
          <a:p>
            <a:pPr indent="0" lvl="0" marL="0" marR="0" rtl="0" algn="l">
              <a:lnSpc>
                <a:spcPct val="241657"/>
              </a:lnSpc>
              <a:spcBef>
                <a:spcPts val="0"/>
              </a:spcBef>
              <a:spcAft>
                <a:spcPts val="0"/>
              </a:spcAft>
              <a:buNone/>
            </a:pPr>
            <a:r>
              <a:rPr b="0" i="0" lang="en-US" sz="2703" u="none" cap="none" strike="noStrike">
                <a:solidFill>
                  <a:srgbClr val="000000"/>
                </a:solidFill>
                <a:latin typeface="Calibri"/>
                <a:ea typeface="Calibri"/>
                <a:cs typeface="Calibri"/>
                <a:sym typeface="Calibri"/>
              </a:rPr>
              <a:t>5. Verificamos la comprensión de los temas:</a:t>
            </a:r>
            <a:endParaRPr/>
          </a:p>
        </p:txBody>
      </p:sp>
      <p:sp>
        <p:nvSpPr>
          <p:cNvPr id="368" name="Google Shape;368;p20"/>
          <p:cNvSpPr txBox="1"/>
          <p:nvPr/>
        </p:nvSpPr>
        <p:spPr>
          <a:xfrm>
            <a:off x="1242541" y="5417591"/>
            <a:ext cx="122587" cy="1134170"/>
          </a:xfrm>
          <a:prstGeom prst="rect">
            <a:avLst/>
          </a:prstGeom>
          <a:noFill/>
          <a:ln>
            <a:noFill/>
          </a:ln>
        </p:spPr>
        <p:txBody>
          <a:bodyPr anchorCtr="0" anchor="t" bIns="0" lIns="0" spcFirstLastPara="1" rIns="0" wrap="square" tIns="0">
            <a:spAutoFit/>
          </a:bodyPr>
          <a:lstStyle/>
          <a:p>
            <a:pPr indent="0" lvl="0" marL="0" marR="0" rtl="0" algn="just">
              <a:lnSpc>
                <a:spcPct val="241657"/>
              </a:lnSpc>
              <a:spcBef>
                <a:spcPts val="0"/>
              </a:spcBef>
              <a:spcAft>
                <a:spcPts val="0"/>
              </a:spcAft>
              <a:buNone/>
            </a:pPr>
            <a:r>
              <a:rPr b="0" i="0" lang="en-US" sz="2703" u="none" cap="none" strike="noStrike">
                <a:solidFill>
                  <a:srgbClr val="FFFFFF"/>
                </a:solidFill>
                <a:latin typeface="IBM Plex Sans Condensed"/>
                <a:ea typeface="IBM Plex Sans Condensed"/>
                <a:cs typeface="IBM Plex Sans Condensed"/>
                <a:sym typeface="IBM Plex Sans Condensed"/>
              </a:rPr>
              <a:t>•</a:t>
            </a:r>
            <a:endParaRPr/>
          </a:p>
          <a:p>
            <a:pPr indent="0" lvl="0" marL="0" marR="0" rtl="0" algn="just">
              <a:lnSpc>
                <a:spcPct val="49981"/>
              </a:lnSpc>
              <a:spcBef>
                <a:spcPts val="0"/>
              </a:spcBef>
              <a:spcAft>
                <a:spcPts val="0"/>
              </a:spcAft>
              <a:buNone/>
            </a:pPr>
            <a:r>
              <a:rPr b="0" i="0" lang="en-US" sz="2703" u="none" cap="none" strike="noStrike">
                <a:solidFill>
                  <a:srgbClr val="FFFFFF"/>
                </a:solidFill>
                <a:latin typeface="IBM Plex Sans Condensed"/>
                <a:ea typeface="IBM Plex Sans Condensed"/>
                <a:cs typeface="IBM Plex Sans Condensed"/>
                <a:sym typeface="IBM Plex Sans Condensed"/>
              </a:rPr>
              <a:t>•</a:t>
            </a:r>
            <a:endParaRPr/>
          </a:p>
        </p:txBody>
      </p:sp>
      <p:sp>
        <p:nvSpPr>
          <p:cNvPr id="369" name="Google Shape;369;p20"/>
          <p:cNvSpPr txBox="1"/>
          <p:nvPr/>
        </p:nvSpPr>
        <p:spPr>
          <a:xfrm>
            <a:off x="1187134" y="5360441"/>
            <a:ext cx="11323156" cy="1454409"/>
          </a:xfrm>
          <a:prstGeom prst="rect">
            <a:avLst/>
          </a:prstGeom>
          <a:noFill/>
          <a:ln>
            <a:noFill/>
          </a:ln>
        </p:spPr>
        <p:txBody>
          <a:bodyPr anchorCtr="0" anchor="t" bIns="0" lIns="0" spcFirstLastPara="1" rIns="0" wrap="square" tIns="0">
            <a:spAutoFit/>
          </a:bodyPr>
          <a:lstStyle/>
          <a:p>
            <a:pPr indent="0" lvl="0" marL="0" marR="0" rtl="0" algn="l">
              <a:lnSpc>
                <a:spcPct val="241657"/>
              </a:lnSpc>
              <a:spcBef>
                <a:spcPts val="0"/>
              </a:spcBef>
              <a:spcAft>
                <a:spcPts val="0"/>
              </a:spcAft>
              <a:buNone/>
            </a:pPr>
            <a:r>
              <a:rPr b="0" i="0" lang="en-US" sz="2703" u="none" cap="none" strike="noStrike">
                <a:solidFill>
                  <a:srgbClr val="000000"/>
                </a:solidFill>
                <a:latin typeface="Calibri"/>
                <a:ea typeface="Calibri"/>
                <a:cs typeface="Calibri"/>
                <a:sym typeface="Calibri"/>
              </a:rPr>
              <a:t>¿Identificamos como contribuye el EC0217.01 en nuestra práctica docente?</a:t>
            </a:r>
            <a:endParaRPr/>
          </a:p>
          <a:p>
            <a:pPr indent="0" lvl="0" marL="0" marR="0" rtl="0" algn="l">
              <a:lnSpc>
                <a:spcPct val="49981"/>
              </a:lnSpc>
              <a:spcBef>
                <a:spcPts val="0"/>
              </a:spcBef>
              <a:spcAft>
                <a:spcPts val="0"/>
              </a:spcAft>
              <a:buNone/>
            </a:pPr>
            <a:r>
              <a:t/>
            </a:r>
            <a:endParaRPr b="0" i="0" sz="2703" u="none" cap="none" strike="noStrike">
              <a:solidFill>
                <a:srgbClr val="000000"/>
              </a:solidFill>
              <a:latin typeface="Calibri"/>
              <a:ea typeface="Calibri"/>
              <a:cs typeface="Calibri"/>
              <a:sym typeface="Calibri"/>
            </a:endParaRPr>
          </a:p>
          <a:p>
            <a:pPr indent="0" lvl="0" marL="0" marR="0" rtl="0" algn="l">
              <a:lnSpc>
                <a:spcPct val="49981"/>
              </a:lnSpc>
              <a:spcBef>
                <a:spcPts val="0"/>
              </a:spcBef>
              <a:spcAft>
                <a:spcPts val="0"/>
              </a:spcAft>
              <a:buNone/>
            </a:pPr>
            <a:r>
              <a:rPr b="0" i="0" lang="en-US" sz="2703" u="none" cap="none" strike="noStrike">
                <a:solidFill>
                  <a:srgbClr val="000000"/>
                </a:solidFill>
                <a:latin typeface="Calibri"/>
                <a:ea typeface="Calibri"/>
                <a:cs typeface="Calibri"/>
                <a:sym typeface="Calibri"/>
              </a:rPr>
              <a:t>¿Con qué teoría de aprendizaje te identificas más ?</a:t>
            </a:r>
            <a:endParaRPr/>
          </a:p>
        </p:txBody>
      </p:sp>
      <p:sp>
        <p:nvSpPr>
          <p:cNvPr id="370" name="Google Shape;370;p20"/>
          <p:cNvSpPr txBox="1"/>
          <p:nvPr/>
        </p:nvSpPr>
        <p:spPr>
          <a:xfrm>
            <a:off x="1242541" y="6563544"/>
            <a:ext cx="10347884" cy="801386"/>
          </a:xfrm>
          <a:prstGeom prst="rect">
            <a:avLst/>
          </a:prstGeom>
          <a:noFill/>
          <a:ln>
            <a:noFill/>
          </a:ln>
        </p:spPr>
        <p:txBody>
          <a:bodyPr anchorCtr="0" anchor="t" bIns="0" lIns="0" spcFirstLastPara="1" rIns="0" wrap="square" tIns="0">
            <a:spAutoFit/>
          </a:bodyPr>
          <a:lstStyle/>
          <a:p>
            <a:pPr indent="0" lvl="0" marL="0" marR="0" rtl="0" algn="l">
              <a:lnSpc>
                <a:spcPct val="250055"/>
              </a:lnSpc>
              <a:spcBef>
                <a:spcPts val="0"/>
              </a:spcBef>
              <a:spcAft>
                <a:spcPts val="0"/>
              </a:spcAft>
              <a:buNone/>
            </a:pPr>
            <a:r>
              <a:rPr b="0" i="0" lang="en-US" sz="2703" u="none" cap="none" strike="noStrike">
                <a:solidFill>
                  <a:srgbClr val="000000"/>
                </a:solidFill>
                <a:latin typeface="Calibri"/>
                <a:ea typeface="Calibri"/>
                <a:cs typeface="Calibri"/>
                <a:sym typeface="Calibri"/>
              </a:rPr>
              <a:t>9.¿Que otra aplicación le ven para su vida profesional y personal?</a:t>
            </a:r>
            <a:endParaRPr/>
          </a:p>
        </p:txBody>
      </p:sp>
      <p:sp>
        <p:nvSpPr>
          <p:cNvPr id="371" name="Google Shape;371;p20"/>
          <p:cNvSpPr txBox="1"/>
          <p:nvPr/>
        </p:nvSpPr>
        <p:spPr>
          <a:xfrm rot="-884793">
            <a:off x="165221" y="261819"/>
            <a:ext cx="1801001" cy="562388"/>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None/>
            </a:pPr>
            <a:r>
              <a:rPr b="1" i="0" lang="en-US" sz="2983" u="none" cap="none" strike="noStrike">
                <a:solidFill>
                  <a:srgbClr val="E4081C"/>
                </a:solidFill>
                <a:latin typeface="Calibri"/>
                <a:ea typeface="Calibri"/>
                <a:cs typeface="Calibri"/>
                <a:sym typeface="Calibri"/>
              </a:rPr>
              <a:t>EJEMPLO</a:t>
            </a:r>
            <a:endParaRPr/>
          </a:p>
        </p:txBody>
      </p:sp>
      <p:sp>
        <p:nvSpPr>
          <p:cNvPr id="372" name="Google Shape;372;p20"/>
          <p:cNvSpPr/>
          <p:nvPr/>
        </p:nvSpPr>
        <p:spPr>
          <a:xfrm>
            <a:off x="14857014" y="6225049"/>
            <a:ext cx="1554113" cy="1458041"/>
          </a:xfrm>
          <a:custGeom>
            <a:rect b="b" l="l" r="r" t="t"/>
            <a:pathLst>
              <a:path extrusionOk="0" h="1458041" w="1554113">
                <a:moveTo>
                  <a:pt x="0" y="0"/>
                </a:moveTo>
                <a:lnTo>
                  <a:pt x="1554113" y="0"/>
                </a:lnTo>
                <a:lnTo>
                  <a:pt x="1554113" y="1458040"/>
                </a:lnTo>
                <a:lnTo>
                  <a:pt x="0" y="145804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1"/>
          <p:cNvSpPr/>
          <p:nvPr/>
        </p:nvSpPr>
        <p:spPr>
          <a:xfrm>
            <a:off x="690772" y="3241934"/>
            <a:ext cx="11687161" cy="28575"/>
          </a:xfrm>
          <a:custGeom>
            <a:rect b="b" l="l" r="r" t="t"/>
            <a:pathLst>
              <a:path extrusionOk="0" h="28575" w="11687161">
                <a:moveTo>
                  <a:pt x="0" y="0"/>
                </a:moveTo>
                <a:lnTo>
                  <a:pt x="11687161" y="0"/>
                </a:lnTo>
                <a:lnTo>
                  <a:pt x="11687161" y="28575"/>
                </a:lnTo>
                <a:lnTo>
                  <a:pt x="0" y="28575"/>
                </a:lnTo>
                <a:lnTo>
                  <a:pt x="0" y="0"/>
                </a:lnTo>
                <a:close/>
              </a:path>
            </a:pathLst>
          </a:custGeom>
          <a:blipFill rotWithShape="1">
            <a:blip r:embed="rId3">
              <a:alphaModFix/>
            </a:blip>
            <a:stretch>
              <a:fillRect b="0" l="0" r="0" t="0"/>
            </a:stretch>
          </a:blipFill>
          <a:ln>
            <a:noFill/>
          </a:ln>
        </p:spPr>
      </p:sp>
      <p:sp>
        <p:nvSpPr>
          <p:cNvPr id="378" name="Google Shape;378;p21"/>
          <p:cNvSpPr txBox="1"/>
          <p:nvPr/>
        </p:nvSpPr>
        <p:spPr>
          <a:xfrm>
            <a:off x="433869" y="3998466"/>
            <a:ext cx="4819502" cy="507637"/>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0" i="0" lang="en-US" sz="2703" u="none" cap="none" strike="noStrike">
                <a:solidFill>
                  <a:srgbClr val="000000"/>
                </a:solidFill>
                <a:latin typeface="Calibri"/>
                <a:ea typeface="Calibri"/>
                <a:cs typeface="Calibri"/>
                <a:sym typeface="Calibri"/>
              </a:rPr>
              <a:t>2.Tomaremos X minutos máximo</a:t>
            </a:r>
            <a:endParaRPr/>
          </a:p>
        </p:txBody>
      </p:sp>
      <p:sp>
        <p:nvSpPr>
          <p:cNvPr id="379" name="Google Shape;379;p21"/>
          <p:cNvSpPr txBox="1"/>
          <p:nvPr/>
        </p:nvSpPr>
        <p:spPr>
          <a:xfrm>
            <a:off x="433869" y="5229092"/>
            <a:ext cx="17194502" cy="507637"/>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0" i="0" lang="en-US" sz="2703" u="none" cap="none" strike="noStrike">
                <a:solidFill>
                  <a:srgbClr val="000000"/>
                </a:solidFill>
                <a:latin typeface="Calibri"/>
                <a:ea typeface="Calibri"/>
                <a:cs typeface="Calibri"/>
                <a:sym typeface="Calibri"/>
              </a:rPr>
              <a:t>Si tiene alguna duda previo a la entrega por favor dejar saber pues una vez entregado debe enfocarse en responder.</a:t>
            </a:r>
            <a:endParaRPr/>
          </a:p>
        </p:txBody>
      </p:sp>
      <p:sp>
        <p:nvSpPr>
          <p:cNvPr id="380" name="Google Shape;380;p21"/>
          <p:cNvSpPr txBox="1"/>
          <p:nvPr/>
        </p:nvSpPr>
        <p:spPr>
          <a:xfrm>
            <a:off x="14485239" y="8624273"/>
            <a:ext cx="2848599" cy="518598"/>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0" i="0" lang="en-US" sz="2703" u="none" cap="none" strike="noStrike">
                <a:solidFill>
                  <a:srgbClr val="000000"/>
                </a:solidFill>
                <a:latin typeface="Calibri"/>
                <a:ea typeface="Calibri"/>
                <a:cs typeface="Calibri"/>
                <a:sym typeface="Calibri"/>
              </a:rPr>
              <a:t>Concluye Desarrollo</a:t>
            </a:r>
            <a:endParaRPr/>
          </a:p>
        </p:txBody>
      </p:sp>
      <p:sp>
        <p:nvSpPr>
          <p:cNvPr id="381" name="Google Shape;381;p21"/>
          <p:cNvSpPr/>
          <p:nvPr/>
        </p:nvSpPr>
        <p:spPr>
          <a:xfrm>
            <a:off x="15009414" y="6377449"/>
            <a:ext cx="1554113" cy="1458041"/>
          </a:xfrm>
          <a:custGeom>
            <a:rect b="b" l="l" r="r" t="t"/>
            <a:pathLst>
              <a:path extrusionOk="0" h="1458041" w="1554113">
                <a:moveTo>
                  <a:pt x="0" y="0"/>
                </a:moveTo>
                <a:lnTo>
                  <a:pt x="1554113" y="0"/>
                </a:lnTo>
                <a:lnTo>
                  <a:pt x="1554113" y="1458040"/>
                </a:lnTo>
                <a:lnTo>
                  <a:pt x="0" y="1458040"/>
                </a:lnTo>
                <a:lnTo>
                  <a:pt x="0" y="0"/>
                </a:lnTo>
                <a:close/>
              </a:path>
            </a:pathLst>
          </a:custGeom>
          <a:blipFill rotWithShape="1">
            <a:blip r:embed="rId4">
              <a:alphaModFix/>
            </a:blip>
            <a:stretch>
              <a:fillRect b="0" l="0" r="0" t="0"/>
            </a:stretch>
          </a:blipFill>
          <a:ln>
            <a:noFill/>
          </a:ln>
        </p:spPr>
      </p:sp>
      <p:sp>
        <p:nvSpPr>
          <p:cNvPr id="382" name="Google Shape;382;p21"/>
          <p:cNvSpPr txBox="1"/>
          <p:nvPr/>
        </p:nvSpPr>
        <p:spPr>
          <a:xfrm>
            <a:off x="433869" y="671377"/>
            <a:ext cx="15872755" cy="988600"/>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1" i="0" lang="en-US" sz="2703" u="none" cap="none" strike="noStrike">
                <a:solidFill>
                  <a:srgbClr val="000000"/>
                </a:solidFill>
                <a:latin typeface="Calibri"/>
                <a:ea typeface="Calibri"/>
                <a:cs typeface="Calibri"/>
                <a:sym typeface="Calibri"/>
              </a:rPr>
              <a:t>EVALUACIÓN FINAL 1.</a:t>
            </a:r>
            <a:r>
              <a:rPr b="0" i="0" lang="en-US" sz="2703" u="none" cap="none" strike="noStrike">
                <a:solidFill>
                  <a:srgbClr val="000000"/>
                </a:solidFill>
                <a:latin typeface="Calibri"/>
                <a:ea typeface="Calibri"/>
                <a:cs typeface="Calibri"/>
                <a:sym typeface="Calibri"/>
              </a:rPr>
              <a:t> A través de esta evaluación el participante comprueba las características requeridas en el estándar</a:t>
            </a:r>
            <a:endParaRPr/>
          </a:p>
        </p:txBody>
      </p:sp>
      <p:sp>
        <p:nvSpPr>
          <p:cNvPr id="383" name="Google Shape;383;p21"/>
          <p:cNvSpPr txBox="1"/>
          <p:nvPr/>
        </p:nvSpPr>
        <p:spPr>
          <a:xfrm>
            <a:off x="433869" y="2142393"/>
            <a:ext cx="7402989" cy="512350"/>
          </a:xfrm>
          <a:prstGeom prst="rect">
            <a:avLst/>
          </a:prstGeom>
          <a:noFill/>
          <a:ln>
            <a:noFill/>
          </a:ln>
        </p:spPr>
        <p:txBody>
          <a:bodyPr anchorCtr="0" anchor="t" bIns="0" lIns="0" spcFirstLastPara="1" rIns="0" wrap="square" tIns="0">
            <a:spAutoFit/>
          </a:bodyPr>
          <a:lstStyle/>
          <a:p>
            <a:pPr indent="0" lvl="0" marL="0" marR="0" rtl="0" algn="l">
              <a:lnSpc>
                <a:spcPct val="140029"/>
              </a:lnSpc>
              <a:spcBef>
                <a:spcPts val="0"/>
              </a:spcBef>
              <a:spcAft>
                <a:spcPts val="0"/>
              </a:spcAft>
              <a:buNone/>
            </a:pPr>
            <a:r>
              <a:rPr b="1" i="0" lang="en-US" sz="2703" u="none" cap="none" strike="noStrike">
                <a:solidFill>
                  <a:srgbClr val="0563C1"/>
                </a:solidFill>
                <a:latin typeface="Calibri"/>
                <a:ea typeface="Calibri"/>
                <a:cs typeface="Calibri"/>
                <a:sym typeface="Calibri"/>
              </a:rPr>
              <a:t>Puedes anexar aquí el enlace de la evaluación final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6E6"/>
        </a:solidFill>
      </p:bgPr>
    </p:bg>
    <p:spTree>
      <p:nvGrpSpPr>
        <p:cNvPr id="387" name="Shape 387"/>
        <p:cNvGrpSpPr/>
        <p:nvPr/>
      </p:nvGrpSpPr>
      <p:grpSpPr>
        <a:xfrm>
          <a:off x="0" y="0"/>
          <a:ext cx="0" cy="0"/>
          <a:chOff x="0" y="0"/>
          <a:chExt cx="0" cy="0"/>
        </a:xfrm>
      </p:grpSpPr>
      <p:sp>
        <p:nvSpPr>
          <p:cNvPr id="388" name="Google Shape;388;p22"/>
          <p:cNvSpPr/>
          <p:nvPr/>
        </p:nvSpPr>
        <p:spPr>
          <a:xfrm>
            <a:off x="600075" y="628550"/>
            <a:ext cx="17080806" cy="9079806"/>
          </a:xfrm>
          <a:custGeom>
            <a:rect b="b" l="l" r="r" t="t"/>
            <a:pathLst>
              <a:path extrusionOk="0" h="9079806" w="17080806">
                <a:moveTo>
                  <a:pt x="0" y="0"/>
                </a:moveTo>
                <a:lnTo>
                  <a:pt x="17080806" y="0"/>
                </a:lnTo>
                <a:lnTo>
                  <a:pt x="17080806" y="9079806"/>
                </a:lnTo>
                <a:lnTo>
                  <a:pt x="0" y="9079806"/>
                </a:lnTo>
                <a:lnTo>
                  <a:pt x="0" y="0"/>
                </a:lnTo>
                <a:close/>
              </a:path>
            </a:pathLst>
          </a:custGeom>
          <a:blipFill rotWithShape="1">
            <a:blip r:embed="rId3">
              <a:alphaModFix/>
            </a:blip>
            <a:stretch>
              <a:fillRect b="0" l="0" r="0" t="0"/>
            </a:stretch>
          </a:blipFill>
          <a:ln>
            <a:noFill/>
          </a:ln>
        </p:spPr>
      </p:sp>
      <p:sp>
        <p:nvSpPr>
          <p:cNvPr id="389" name="Google Shape;389;p22"/>
          <p:cNvSpPr/>
          <p:nvPr/>
        </p:nvSpPr>
        <p:spPr>
          <a:xfrm>
            <a:off x="619120" y="619120"/>
            <a:ext cx="17049745" cy="9763120"/>
          </a:xfrm>
          <a:custGeom>
            <a:rect b="b" l="l" r="r" t="t"/>
            <a:pathLst>
              <a:path extrusionOk="0" h="9763120" w="17049745">
                <a:moveTo>
                  <a:pt x="0" y="0"/>
                </a:moveTo>
                <a:lnTo>
                  <a:pt x="17049745" y="0"/>
                </a:lnTo>
                <a:lnTo>
                  <a:pt x="17049745" y="9763120"/>
                </a:lnTo>
                <a:lnTo>
                  <a:pt x="0" y="9763120"/>
                </a:lnTo>
                <a:lnTo>
                  <a:pt x="0" y="0"/>
                </a:lnTo>
                <a:close/>
              </a:path>
            </a:pathLst>
          </a:custGeom>
          <a:blipFill rotWithShape="1">
            <a:blip r:embed="rId4">
              <a:alphaModFix/>
            </a:blip>
            <a:stretch>
              <a:fillRect b="0" l="0" r="0" t="0"/>
            </a:stretch>
          </a:blipFill>
          <a:ln>
            <a:noFill/>
          </a:ln>
        </p:spPr>
      </p:sp>
      <p:sp>
        <p:nvSpPr>
          <p:cNvPr id="390" name="Google Shape;390;p22"/>
          <p:cNvSpPr txBox="1"/>
          <p:nvPr/>
        </p:nvSpPr>
        <p:spPr>
          <a:xfrm>
            <a:off x="828675" y="969621"/>
            <a:ext cx="1975333" cy="521558"/>
          </a:xfrm>
          <a:prstGeom prst="rect">
            <a:avLst/>
          </a:prstGeom>
          <a:noFill/>
          <a:ln>
            <a:noFill/>
          </a:ln>
        </p:spPr>
        <p:txBody>
          <a:bodyPr anchorCtr="0" anchor="t" bIns="0" lIns="0" spcFirstLastPara="1" rIns="0" wrap="square" tIns="0">
            <a:spAutoFit/>
          </a:bodyPr>
          <a:lstStyle/>
          <a:p>
            <a:pPr indent="0" lvl="0" marL="0" marR="0" rtl="0" algn="l">
              <a:lnSpc>
                <a:spcPct val="139985"/>
              </a:lnSpc>
              <a:spcBef>
                <a:spcPts val="0"/>
              </a:spcBef>
              <a:spcAft>
                <a:spcPts val="0"/>
              </a:spcAft>
              <a:buNone/>
            </a:pPr>
            <a:r>
              <a:rPr b="1" i="0" lang="en-US" sz="2716" u="none" cap="none" strike="noStrike">
                <a:solidFill>
                  <a:srgbClr val="000000"/>
                </a:solidFill>
                <a:latin typeface="Calibri"/>
                <a:ea typeface="Calibri"/>
                <a:cs typeface="Calibri"/>
                <a:sym typeface="Calibri"/>
              </a:rPr>
              <a:t>1 .Resumen</a:t>
            </a:r>
            <a:endParaRPr/>
          </a:p>
        </p:txBody>
      </p:sp>
      <p:sp>
        <p:nvSpPr>
          <p:cNvPr id="391" name="Google Shape;391;p22"/>
          <p:cNvSpPr txBox="1"/>
          <p:nvPr/>
        </p:nvSpPr>
        <p:spPr>
          <a:xfrm>
            <a:off x="828675" y="3188845"/>
            <a:ext cx="2856656" cy="495556"/>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0" i="0" lang="en-US" sz="2616" u="none" cap="none" strike="noStrike">
                <a:solidFill>
                  <a:srgbClr val="000000"/>
                </a:solidFill>
                <a:latin typeface="Calibri"/>
                <a:ea typeface="Calibri"/>
                <a:cs typeface="Calibri"/>
                <a:sym typeface="Calibri"/>
              </a:rPr>
              <a:t>3.Logro de objetivos</a:t>
            </a:r>
            <a:endParaRPr/>
          </a:p>
        </p:txBody>
      </p:sp>
      <p:sp>
        <p:nvSpPr>
          <p:cNvPr id="392" name="Google Shape;392;p22"/>
          <p:cNvSpPr txBox="1"/>
          <p:nvPr/>
        </p:nvSpPr>
        <p:spPr>
          <a:xfrm>
            <a:off x="828675" y="1766287"/>
            <a:ext cx="2856656" cy="952789"/>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0" i="0" lang="en-US" sz="2616" u="none" cap="none" strike="noStrike">
                <a:solidFill>
                  <a:srgbClr val="000000"/>
                </a:solidFill>
                <a:latin typeface="Calibri"/>
                <a:ea typeface="Calibri"/>
                <a:cs typeface="Calibri"/>
                <a:sym typeface="Calibri"/>
              </a:rPr>
              <a:t>2.Logro de expectativas</a:t>
            </a:r>
            <a:endParaRPr/>
          </a:p>
        </p:txBody>
      </p:sp>
      <p:sp>
        <p:nvSpPr>
          <p:cNvPr id="393" name="Google Shape;393;p22"/>
          <p:cNvSpPr txBox="1"/>
          <p:nvPr/>
        </p:nvSpPr>
        <p:spPr>
          <a:xfrm>
            <a:off x="828675" y="7091760"/>
            <a:ext cx="2537774" cy="952789"/>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0" i="0" lang="en-US" sz="2616" u="none" cap="none" strike="noStrike">
                <a:solidFill>
                  <a:srgbClr val="000000"/>
                </a:solidFill>
                <a:latin typeface="Calibri"/>
                <a:ea typeface="Calibri"/>
                <a:cs typeface="Calibri"/>
                <a:sym typeface="Calibri"/>
              </a:rPr>
              <a:t>6.Evaluación de reacción</a:t>
            </a:r>
            <a:endParaRPr/>
          </a:p>
        </p:txBody>
      </p:sp>
      <p:sp>
        <p:nvSpPr>
          <p:cNvPr id="394" name="Google Shape;394;p22"/>
          <p:cNvSpPr txBox="1"/>
          <p:nvPr/>
        </p:nvSpPr>
        <p:spPr>
          <a:xfrm>
            <a:off x="4138046" y="2020224"/>
            <a:ext cx="9438237" cy="521558"/>
          </a:xfrm>
          <a:prstGeom prst="rect">
            <a:avLst/>
          </a:prstGeom>
          <a:noFill/>
          <a:ln>
            <a:noFill/>
          </a:ln>
        </p:spPr>
        <p:txBody>
          <a:bodyPr anchorCtr="0" anchor="t" bIns="0" lIns="0" spcFirstLastPara="1" rIns="0" wrap="square" tIns="0">
            <a:spAutoFit/>
          </a:bodyPr>
          <a:lstStyle/>
          <a:p>
            <a:pPr indent="0" lvl="0" marL="0" marR="0" rtl="0" algn="l">
              <a:lnSpc>
                <a:spcPct val="139985"/>
              </a:lnSpc>
              <a:spcBef>
                <a:spcPts val="0"/>
              </a:spcBef>
              <a:spcAft>
                <a:spcPts val="0"/>
              </a:spcAft>
              <a:buNone/>
            </a:pPr>
            <a:r>
              <a:rPr b="0" i="0" lang="en-US" sz="2716" u="none" cap="none" strike="noStrike">
                <a:solidFill>
                  <a:srgbClr val="000000"/>
                </a:solidFill>
                <a:latin typeface="Calibri"/>
                <a:ea typeface="Calibri"/>
                <a:cs typeface="Calibri"/>
                <a:sym typeface="Calibri"/>
              </a:rPr>
              <a:t> ¿Consideras que se lograron las expectativas del curso?</a:t>
            </a:r>
            <a:endParaRPr/>
          </a:p>
        </p:txBody>
      </p:sp>
      <p:sp>
        <p:nvSpPr>
          <p:cNvPr id="395" name="Google Shape;395;p22"/>
          <p:cNvSpPr txBox="1"/>
          <p:nvPr/>
        </p:nvSpPr>
        <p:spPr>
          <a:xfrm>
            <a:off x="4138046" y="5627727"/>
            <a:ext cx="11111215" cy="479079"/>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0" i="0" lang="en-US" sz="2516" u="none" cap="none" strike="noStrike">
                <a:solidFill>
                  <a:srgbClr val="000000"/>
                </a:solidFill>
                <a:latin typeface="Calibri"/>
                <a:ea typeface="Calibri"/>
                <a:cs typeface="Calibri"/>
                <a:sym typeface="Calibri"/>
              </a:rPr>
              <a:t>¿Qué compromisos de aplicación del aprendizaje podemos hacer?</a:t>
            </a:r>
            <a:endParaRPr/>
          </a:p>
        </p:txBody>
      </p:sp>
      <p:sp>
        <p:nvSpPr>
          <p:cNvPr id="396" name="Google Shape;396;p22"/>
          <p:cNvSpPr txBox="1"/>
          <p:nvPr/>
        </p:nvSpPr>
        <p:spPr>
          <a:xfrm>
            <a:off x="4138046" y="982004"/>
            <a:ext cx="9773807" cy="495556"/>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i="0" lang="en-US" sz="2616" u="none" cap="none" strike="noStrike">
                <a:solidFill>
                  <a:srgbClr val="000000"/>
                </a:solidFill>
                <a:latin typeface="Calibri"/>
                <a:ea typeface="Calibri"/>
                <a:cs typeface="Calibri"/>
                <a:sym typeface="Calibri"/>
              </a:rPr>
              <a:t>Por favor les pido que </a:t>
            </a:r>
            <a:r>
              <a:rPr b="1" i="0" lang="en-US" sz="2616" u="sng" cap="none" strike="noStrike">
                <a:solidFill>
                  <a:srgbClr val="000000"/>
                </a:solidFill>
                <a:latin typeface="Calibri"/>
                <a:ea typeface="Calibri"/>
                <a:cs typeface="Calibri"/>
                <a:sym typeface="Calibri"/>
              </a:rPr>
              <a:t>USTEDES</a:t>
            </a:r>
            <a:r>
              <a:rPr b="1" i="0" lang="en-US" sz="2616" u="none" cap="none" strike="noStrike">
                <a:solidFill>
                  <a:srgbClr val="000000"/>
                </a:solidFill>
                <a:latin typeface="Calibri"/>
                <a:ea typeface="Calibri"/>
                <a:cs typeface="Calibri"/>
                <a:sym typeface="Calibri"/>
              </a:rPr>
              <a:t> hagan un Resumen General del curso.</a:t>
            </a:r>
            <a:endParaRPr/>
          </a:p>
        </p:txBody>
      </p:sp>
      <p:sp>
        <p:nvSpPr>
          <p:cNvPr id="397" name="Google Shape;397;p22"/>
          <p:cNvSpPr txBox="1"/>
          <p:nvPr/>
        </p:nvSpPr>
        <p:spPr>
          <a:xfrm>
            <a:off x="4138046" y="2761269"/>
            <a:ext cx="8927810" cy="799325"/>
          </a:xfrm>
          <a:prstGeom prst="rect">
            <a:avLst/>
          </a:prstGeom>
          <a:noFill/>
          <a:ln>
            <a:noFill/>
          </a:ln>
        </p:spPr>
        <p:txBody>
          <a:bodyPr anchorCtr="0" anchor="t" bIns="0" lIns="0" spcFirstLastPara="1" rIns="0" wrap="square" tIns="0">
            <a:spAutoFit/>
          </a:bodyPr>
          <a:lstStyle/>
          <a:p>
            <a:pPr indent="0" lvl="0" marL="0" marR="0" rtl="0" algn="l">
              <a:lnSpc>
                <a:spcPct val="250000"/>
              </a:lnSpc>
              <a:spcBef>
                <a:spcPts val="0"/>
              </a:spcBef>
              <a:spcAft>
                <a:spcPts val="0"/>
              </a:spcAft>
              <a:buNone/>
            </a:pPr>
            <a:r>
              <a:rPr b="0" i="0" lang="en-US" sz="2716" u="none" cap="none" strike="noStrike">
                <a:solidFill>
                  <a:srgbClr val="000000"/>
                </a:solidFill>
                <a:latin typeface="Calibri"/>
                <a:ea typeface="Calibri"/>
                <a:cs typeface="Calibri"/>
                <a:sym typeface="Calibri"/>
              </a:rPr>
              <a:t>Dialoguemos sobre el logro de los objetivos del curso</a:t>
            </a:r>
            <a:endParaRPr/>
          </a:p>
        </p:txBody>
      </p:sp>
      <p:sp>
        <p:nvSpPr>
          <p:cNvPr id="398" name="Google Shape;398;p22"/>
          <p:cNvSpPr txBox="1"/>
          <p:nvPr/>
        </p:nvSpPr>
        <p:spPr>
          <a:xfrm>
            <a:off x="3811362" y="7119037"/>
            <a:ext cx="11108603" cy="1283870"/>
          </a:xfrm>
          <a:prstGeom prst="rect">
            <a:avLst/>
          </a:prstGeom>
          <a:noFill/>
          <a:ln>
            <a:noFill/>
          </a:ln>
        </p:spPr>
        <p:txBody>
          <a:bodyPr anchorCtr="0" anchor="t" bIns="0" lIns="0" spcFirstLastPara="1" rIns="0" wrap="square" tIns="0">
            <a:spAutoFit/>
          </a:bodyPr>
          <a:lstStyle/>
          <a:p>
            <a:pPr indent="0" lvl="0" marL="0" marR="0" rtl="0" algn="l">
              <a:lnSpc>
                <a:spcPct val="123509"/>
              </a:lnSpc>
              <a:spcBef>
                <a:spcPts val="0"/>
              </a:spcBef>
              <a:spcAft>
                <a:spcPts val="0"/>
              </a:spcAft>
              <a:buNone/>
            </a:pPr>
            <a:r>
              <a:rPr b="1" i="0" lang="en-US" sz="2616" u="none" cap="none" strike="noStrike">
                <a:solidFill>
                  <a:srgbClr val="000000"/>
                </a:solidFill>
                <a:latin typeface="Calibri"/>
                <a:ea typeface="Calibri"/>
                <a:cs typeface="Calibri"/>
                <a:sym typeface="Calibri"/>
              </a:rPr>
              <a:t>La siguiente evaluación nos ayudará en la mejora contínua del curso, les agradeceré tomarse el tiempo de contestar de acuerdo a su opinión personal, es anónima. </a:t>
            </a:r>
            <a:r>
              <a:rPr b="0" i="0" lang="en-US" sz="2616" u="none" cap="none" strike="noStrike">
                <a:solidFill>
                  <a:srgbClr val="000000"/>
                </a:solidFill>
                <a:latin typeface="Calibri"/>
                <a:ea typeface="Calibri"/>
                <a:cs typeface="Calibri"/>
                <a:sym typeface="Calibri"/>
              </a:rPr>
              <a:t>Tomaremos X mins para realizarla</a:t>
            </a:r>
            <a:endParaRPr/>
          </a:p>
        </p:txBody>
      </p:sp>
      <p:sp>
        <p:nvSpPr>
          <p:cNvPr id="399" name="Google Shape;399;p22"/>
          <p:cNvSpPr txBox="1"/>
          <p:nvPr/>
        </p:nvSpPr>
        <p:spPr>
          <a:xfrm>
            <a:off x="15750540" y="7452327"/>
            <a:ext cx="1669352" cy="1228173"/>
          </a:xfrm>
          <a:prstGeom prst="rect">
            <a:avLst/>
          </a:prstGeom>
          <a:noFill/>
          <a:ln>
            <a:noFill/>
          </a:ln>
        </p:spPr>
        <p:txBody>
          <a:bodyPr anchorCtr="0" anchor="t" bIns="0" lIns="0" spcFirstLastPara="1" rIns="0" wrap="square" tIns="0">
            <a:spAutoFit/>
          </a:bodyPr>
          <a:lstStyle/>
          <a:p>
            <a:pPr indent="0" lvl="0" marL="0" marR="0" rtl="0" algn="just">
              <a:lnSpc>
                <a:spcPct val="120511"/>
              </a:lnSpc>
              <a:spcBef>
                <a:spcPts val="0"/>
              </a:spcBef>
              <a:spcAft>
                <a:spcPts val="0"/>
              </a:spcAft>
              <a:buNone/>
            </a:pPr>
            <a:r>
              <a:rPr b="0" i="0" lang="en-US" sz="1916" u="sng" cap="none" strike="noStrike">
                <a:solidFill>
                  <a:srgbClr val="0563C1"/>
                </a:solidFill>
                <a:latin typeface="Calibri"/>
                <a:ea typeface="Calibri"/>
                <a:cs typeface="Calibri"/>
                <a:sym typeface="Calibri"/>
                <a:hlinkClick r:id="rId5">
                  <a:extLst>
                    <a:ext uri="{A12FA001-AC4F-418D-AE19-62706E023703}">
                      <ahyp:hlinkClr val="tx"/>
                    </a:ext>
                  </a:extLst>
                </a:hlinkClick>
              </a:rPr>
              <a:t>nt/d/1Clpx</a:t>
            </a:r>
            <a:r>
              <a:rPr b="0" i="0" lang="en-US" sz="1916" u="sng" cap="none" strike="noStrike">
                <a:solidFill>
                  <a:srgbClr val="000000"/>
                </a:solidFill>
                <a:latin typeface="Calibri"/>
                <a:ea typeface="Calibri"/>
                <a:cs typeface="Calibri"/>
                <a:sym typeface="Calibri"/>
                <a:hlinkClick r:id="rId6">
                  <a:extLst>
                    <a:ext uri="{A12FA001-AC4F-418D-AE19-62706E023703}">
                      <ahyp:hlinkClr val="tx"/>
                    </a:ext>
                  </a:extLst>
                </a:hlinkClick>
              </a:rPr>
              <a:t> </a:t>
            </a:r>
            <a:r>
              <a:rPr b="0" i="0" lang="en-US" sz="1916" u="sng" cap="none" strike="noStrike">
                <a:solidFill>
                  <a:srgbClr val="0563C1"/>
                </a:solidFill>
                <a:latin typeface="Calibri"/>
                <a:ea typeface="Calibri"/>
                <a:cs typeface="Calibri"/>
                <a:sym typeface="Calibri"/>
                <a:hlinkClick r:id="rId7">
                  <a:extLst>
                    <a:ext uri="{A12FA001-AC4F-418D-AE19-62706E023703}">
                      <ahyp:hlinkClr val="tx"/>
                    </a:ext>
                  </a:extLst>
                </a:hlinkClick>
              </a:rPr>
              <a:t>sh</a:t>
            </a:r>
            <a:r>
              <a:rPr b="0" i="0" lang="en-US" sz="1916" u="sng" cap="none" strike="noStrike">
                <a:solidFill>
                  <a:srgbClr val="000000"/>
                </a:solidFill>
                <a:latin typeface="Calibri"/>
                <a:ea typeface="Calibri"/>
                <a:cs typeface="Calibri"/>
                <a:sym typeface="Calibri"/>
                <a:hlinkClick r:id="rId8">
                  <a:extLst>
                    <a:ext uri="{A12FA001-AC4F-418D-AE19-62706E023703}">
                      <ahyp:hlinkClr val="tx"/>
                    </a:ext>
                  </a:extLst>
                </a:hlinkClick>
              </a:rPr>
              <a:t> </a:t>
            </a:r>
            <a:r>
              <a:rPr b="0" i="0" lang="en-US" sz="1916" u="sng" cap="none" strike="noStrike">
                <a:solidFill>
                  <a:srgbClr val="0563C1"/>
                </a:solidFill>
                <a:latin typeface="Calibri"/>
                <a:ea typeface="Calibri"/>
                <a:cs typeface="Calibri"/>
                <a:sym typeface="Calibri"/>
                <a:hlinkClick r:id="rId9">
                  <a:extLst>
                    <a:ext uri="{A12FA001-AC4F-418D-AE19-62706E023703}">
                      <ahyp:hlinkClr val="tx"/>
                    </a:ext>
                  </a:extLst>
                </a:hlinkClick>
              </a:rPr>
              <a:t>ppl WJLFKQ90VRom 2vY- Ukp0pgX/edit</a:t>
            </a:r>
            <a:endParaRPr/>
          </a:p>
        </p:txBody>
      </p:sp>
      <p:sp>
        <p:nvSpPr>
          <p:cNvPr id="400" name="Google Shape;400;p22"/>
          <p:cNvSpPr txBox="1"/>
          <p:nvPr/>
        </p:nvSpPr>
        <p:spPr>
          <a:xfrm>
            <a:off x="828675" y="5489845"/>
            <a:ext cx="3014320" cy="1410117"/>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0" i="0" lang="en-US" sz="2612" u="none" cap="none" strike="noStrike">
                <a:solidFill>
                  <a:srgbClr val="000000"/>
                </a:solidFill>
                <a:latin typeface="Calibri"/>
                <a:ea typeface="Calibri"/>
                <a:cs typeface="Calibri"/>
                <a:sym typeface="Calibri"/>
              </a:rPr>
              <a:t>5.Compromisos de aplicación del aprendizaje</a:t>
            </a:r>
            <a:endParaRPr/>
          </a:p>
        </p:txBody>
      </p:sp>
      <p:sp>
        <p:nvSpPr>
          <p:cNvPr id="401" name="Google Shape;401;p22"/>
          <p:cNvSpPr txBox="1"/>
          <p:nvPr/>
        </p:nvSpPr>
        <p:spPr>
          <a:xfrm>
            <a:off x="828675" y="4026729"/>
            <a:ext cx="3014620" cy="1410117"/>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0" i="0" lang="en-US" sz="2612" u="none" cap="none" strike="noStrike">
                <a:solidFill>
                  <a:srgbClr val="000000"/>
                </a:solidFill>
                <a:latin typeface="Calibri"/>
                <a:ea typeface="Calibri"/>
                <a:cs typeface="Calibri"/>
                <a:sym typeface="Calibri"/>
              </a:rPr>
              <a:t>4.Sugerenciasde continuidad del aprendizaje</a:t>
            </a:r>
            <a:endParaRPr/>
          </a:p>
        </p:txBody>
      </p:sp>
      <p:sp>
        <p:nvSpPr>
          <p:cNvPr id="402" name="Google Shape;402;p22"/>
          <p:cNvSpPr txBox="1"/>
          <p:nvPr/>
        </p:nvSpPr>
        <p:spPr>
          <a:xfrm>
            <a:off x="4138046" y="8575724"/>
            <a:ext cx="6905143" cy="495651"/>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1" i="0" lang="en-US" sz="2612" u="none" cap="none" strike="noStrike">
                <a:solidFill>
                  <a:srgbClr val="000000"/>
                </a:solidFill>
                <a:latin typeface="Calibri"/>
                <a:ea typeface="Calibri"/>
                <a:cs typeface="Calibri"/>
                <a:sym typeface="Calibri"/>
              </a:rPr>
              <a:t>¿Alguna duda final que tengan?</a:t>
            </a:r>
            <a:endParaRPr/>
          </a:p>
        </p:txBody>
      </p:sp>
      <p:sp>
        <p:nvSpPr>
          <p:cNvPr id="403" name="Google Shape;403;p22"/>
          <p:cNvSpPr txBox="1"/>
          <p:nvPr/>
        </p:nvSpPr>
        <p:spPr>
          <a:xfrm>
            <a:off x="15750540" y="6852337"/>
            <a:ext cx="1739660" cy="640771"/>
          </a:xfrm>
          <a:prstGeom prst="rect">
            <a:avLst/>
          </a:prstGeom>
          <a:noFill/>
          <a:ln>
            <a:noFill/>
          </a:ln>
        </p:spPr>
        <p:txBody>
          <a:bodyPr anchorCtr="0" anchor="t" bIns="0" lIns="0" spcFirstLastPara="1" rIns="0" wrap="square" tIns="0">
            <a:spAutoFit/>
          </a:bodyPr>
          <a:lstStyle/>
          <a:p>
            <a:pPr indent="0" lvl="0" marL="0" marR="0" rtl="0" algn="just">
              <a:lnSpc>
                <a:spcPct val="123692"/>
              </a:lnSpc>
              <a:spcBef>
                <a:spcPts val="0"/>
              </a:spcBef>
              <a:spcAft>
                <a:spcPts val="0"/>
              </a:spcAft>
              <a:buNone/>
            </a:pPr>
            <a:r>
              <a:rPr b="0" i="0" lang="en-US" sz="1912" u="sng" cap="none" strike="noStrike">
                <a:solidFill>
                  <a:srgbClr val="0563C1"/>
                </a:solidFill>
                <a:latin typeface="Calibri"/>
                <a:ea typeface="Calibri"/>
                <a:cs typeface="Calibri"/>
                <a:sym typeface="Calibri"/>
                <a:hlinkClick r:id="rId10">
                  <a:extLst>
                    <a:ext uri="{A12FA001-AC4F-418D-AE19-62706E023703}">
                      <ahyp:hlinkClr val="tx"/>
                    </a:ext>
                  </a:extLst>
                </a:hlinkClick>
              </a:rPr>
              <a:t>https://docs.goo gle</a:t>
            </a:r>
            <a:r>
              <a:rPr b="0" i="0" lang="en-US" sz="1912" u="sng" cap="none" strike="noStrike">
                <a:solidFill>
                  <a:srgbClr val="000000"/>
                </a:solidFill>
                <a:latin typeface="Calibri"/>
                <a:ea typeface="Calibri"/>
                <a:cs typeface="Calibri"/>
                <a:sym typeface="Calibri"/>
                <a:hlinkClick r:id="rId11">
                  <a:extLst>
                    <a:ext uri="{A12FA001-AC4F-418D-AE19-62706E023703}">
                      <ahyp:hlinkClr val="tx"/>
                    </a:ext>
                  </a:extLst>
                </a:hlinkClick>
              </a:rPr>
              <a:t> </a:t>
            </a:r>
            <a:r>
              <a:rPr b="0" i="0" lang="en-US" sz="1912" u="sng" cap="none" strike="noStrike">
                <a:solidFill>
                  <a:srgbClr val="0563C1"/>
                </a:solidFill>
                <a:latin typeface="Calibri"/>
                <a:ea typeface="Calibri"/>
                <a:cs typeface="Calibri"/>
                <a:sym typeface="Calibri"/>
                <a:hlinkClick r:id="rId12">
                  <a:extLst>
                    <a:ext uri="{A12FA001-AC4F-418D-AE19-62706E023703}">
                      <ahyp:hlinkClr val="tx"/>
                    </a:ext>
                  </a:extLst>
                </a:hlinkClick>
              </a:rPr>
              <a:t>.co</a:t>
            </a:r>
            <a:r>
              <a:rPr b="0" i="0" lang="en-US" sz="1912" u="sng" cap="none" strike="noStrike">
                <a:solidFill>
                  <a:srgbClr val="000000"/>
                </a:solidFill>
                <a:latin typeface="Calibri"/>
                <a:ea typeface="Calibri"/>
                <a:cs typeface="Calibri"/>
                <a:sym typeface="Calibri"/>
                <a:hlinkClick r:id="rId13">
                  <a:extLst>
                    <a:ext uri="{A12FA001-AC4F-418D-AE19-62706E023703}">
                      <ahyp:hlinkClr val="tx"/>
                    </a:ext>
                  </a:extLst>
                </a:hlinkClick>
              </a:rPr>
              <a:t> </a:t>
            </a:r>
            <a:r>
              <a:rPr b="0" i="0" lang="en-US" sz="1912" u="sng" cap="none" strike="noStrike">
                <a:solidFill>
                  <a:srgbClr val="0563C1"/>
                </a:solidFill>
                <a:latin typeface="Calibri"/>
                <a:ea typeface="Calibri"/>
                <a:cs typeface="Calibri"/>
                <a:sym typeface="Calibri"/>
                <a:hlinkClick r:id="rId14">
                  <a:extLst>
                    <a:ext uri="{A12FA001-AC4F-418D-AE19-62706E023703}">
                      <ahyp:hlinkClr val="tx"/>
                    </a:ext>
                  </a:extLst>
                </a:hlinkClick>
              </a:rPr>
              <a:t>m/</a:t>
            </a:r>
            <a:r>
              <a:rPr b="0" i="0" lang="en-US" sz="1912" u="sng" cap="none" strike="noStrike">
                <a:solidFill>
                  <a:srgbClr val="000000"/>
                </a:solidFill>
                <a:latin typeface="Calibri"/>
                <a:ea typeface="Calibri"/>
                <a:cs typeface="Calibri"/>
                <a:sym typeface="Calibri"/>
                <a:hlinkClick r:id="rId15">
                  <a:extLst>
                    <a:ext uri="{A12FA001-AC4F-418D-AE19-62706E023703}">
                      <ahyp:hlinkClr val="tx"/>
                    </a:ext>
                  </a:extLst>
                </a:hlinkClick>
              </a:rPr>
              <a:t> </a:t>
            </a:r>
            <a:r>
              <a:rPr b="0" i="0" lang="en-US" sz="1912" u="sng" cap="none" strike="noStrike">
                <a:solidFill>
                  <a:srgbClr val="0563C1"/>
                </a:solidFill>
                <a:latin typeface="Calibri"/>
                <a:ea typeface="Calibri"/>
                <a:cs typeface="Calibri"/>
                <a:sym typeface="Calibri"/>
                <a:hlinkClick r:id="rId16">
                  <a:extLst>
                    <a:ext uri="{A12FA001-AC4F-418D-AE19-62706E023703}">
                      <ahyp:hlinkClr val="tx"/>
                    </a:ext>
                  </a:extLst>
                </a:hlinkClick>
              </a:rPr>
              <a:t>doc</a:t>
            </a:r>
            <a:r>
              <a:rPr b="0" i="0" lang="en-US" sz="1912" u="sng" cap="none" strike="noStrike">
                <a:solidFill>
                  <a:srgbClr val="000000"/>
                </a:solidFill>
                <a:latin typeface="Calibri"/>
                <a:ea typeface="Calibri"/>
                <a:cs typeface="Calibri"/>
                <a:sym typeface="Calibri"/>
                <a:hlinkClick r:id="rId17">
                  <a:extLst>
                    <a:ext uri="{A12FA001-AC4F-418D-AE19-62706E023703}">
                      <ahyp:hlinkClr val="tx"/>
                    </a:ext>
                  </a:extLst>
                </a:hlinkClick>
              </a:rPr>
              <a:t> </a:t>
            </a:r>
            <a:r>
              <a:rPr b="0" i="0" lang="en-US" sz="1912" u="sng" cap="none" strike="noStrike">
                <a:solidFill>
                  <a:srgbClr val="0563C1"/>
                </a:solidFill>
                <a:latin typeface="Calibri"/>
                <a:ea typeface="Calibri"/>
                <a:cs typeface="Calibri"/>
                <a:sym typeface="Calibri"/>
                <a:hlinkClick r:id="rId18">
                  <a:extLst>
                    <a:ext uri="{A12FA001-AC4F-418D-AE19-62706E023703}">
                      <ahyp:hlinkClr val="tx"/>
                    </a:ext>
                  </a:extLst>
                </a:hlinkClick>
              </a:rPr>
              <a:t>um</a:t>
            </a:r>
            <a:r>
              <a:rPr b="0" i="0" lang="en-US" sz="1912" u="sng" cap="none" strike="noStrike">
                <a:solidFill>
                  <a:srgbClr val="000000"/>
                </a:solidFill>
                <a:latin typeface="Calibri"/>
                <a:ea typeface="Calibri"/>
                <a:cs typeface="Calibri"/>
                <a:sym typeface="Calibri"/>
                <a:hlinkClick r:id="rId19">
                  <a:extLst>
                    <a:ext uri="{A12FA001-AC4F-418D-AE19-62706E023703}">
                      <ahyp:hlinkClr val="tx"/>
                    </a:ext>
                  </a:extLst>
                </a:hlinkClick>
              </a:rPr>
              <a:t> </a:t>
            </a:r>
            <a:r>
              <a:rPr b="0" i="0" lang="en-US" sz="1912" u="sng" cap="none" strike="noStrike">
                <a:solidFill>
                  <a:srgbClr val="0563C1"/>
                </a:solidFill>
                <a:latin typeface="Calibri"/>
                <a:ea typeface="Calibri"/>
                <a:cs typeface="Calibri"/>
                <a:sym typeface="Calibri"/>
                <a:hlinkClick r:id="rId20">
                  <a:extLst>
                    <a:ext uri="{A12FA001-AC4F-418D-AE19-62706E023703}">
                      <ahyp:hlinkClr val="tx"/>
                    </a:ext>
                  </a:extLst>
                </a:hlinkClick>
              </a:rPr>
              <a:t>e</a:t>
            </a:r>
            <a:endParaRPr/>
          </a:p>
        </p:txBody>
      </p:sp>
      <p:sp>
        <p:nvSpPr>
          <p:cNvPr id="404" name="Google Shape;404;p22"/>
          <p:cNvSpPr txBox="1"/>
          <p:nvPr/>
        </p:nvSpPr>
        <p:spPr>
          <a:xfrm>
            <a:off x="828675" y="9033477"/>
            <a:ext cx="2982687" cy="979896"/>
          </a:xfrm>
          <a:prstGeom prst="rect">
            <a:avLst/>
          </a:prstGeom>
          <a:noFill/>
          <a:ln>
            <a:noFill/>
          </a:ln>
        </p:spPr>
        <p:txBody>
          <a:bodyPr anchorCtr="0" anchor="t" bIns="0" lIns="0" spcFirstLastPara="1" rIns="0" wrap="square" tIns="0">
            <a:spAutoFit/>
          </a:bodyPr>
          <a:lstStyle/>
          <a:p>
            <a:pPr indent="0" lvl="0" marL="0" marR="0" rtl="0" algn="l">
              <a:lnSpc>
                <a:spcPct val="139985"/>
              </a:lnSpc>
              <a:spcBef>
                <a:spcPts val="0"/>
              </a:spcBef>
              <a:spcAft>
                <a:spcPts val="0"/>
              </a:spcAft>
              <a:buNone/>
            </a:pPr>
            <a:r>
              <a:rPr b="0" i="0" lang="en-US" sz="2666" u="none" cap="none" strike="noStrike">
                <a:solidFill>
                  <a:srgbClr val="000000"/>
                </a:solidFill>
                <a:latin typeface="Calibri"/>
                <a:ea typeface="Calibri"/>
                <a:cs typeface="Calibri"/>
                <a:sym typeface="Calibri"/>
              </a:rPr>
              <a:t>7.Informe Final </a:t>
            </a:r>
            <a:endParaRPr/>
          </a:p>
          <a:p>
            <a:pPr indent="0" lvl="0" marL="0" marR="0" rtl="0" algn="l">
              <a:lnSpc>
                <a:spcPct val="139985"/>
              </a:lnSpc>
              <a:spcBef>
                <a:spcPts val="0"/>
              </a:spcBef>
              <a:spcAft>
                <a:spcPts val="0"/>
              </a:spcAft>
              <a:buNone/>
            </a:pPr>
            <a:r>
              <a:rPr b="0" i="0" lang="en-US" sz="2666" u="none" cap="none" strike="noStrike">
                <a:solidFill>
                  <a:srgbClr val="000000"/>
                </a:solidFill>
                <a:latin typeface="Calibri"/>
                <a:ea typeface="Calibri"/>
                <a:cs typeface="Calibri"/>
                <a:sym typeface="Calibri"/>
              </a:rPr>
              <a:t>8 .Cierre</a:t>
            </a:r>
            <a:endParaRPr/>
          </a:p>
        </p:txBody>
      </p:sp>
      <p:sp>
        <p:nvSpPr>
          <p:cNvPr id="405" name="Google Shape;405;p22"/>
          <p:cNvSpPr txBox="1"/>
          <p:nvPr/>
        </p:nvSpPr>
        <p:spPr>
          <a:xfrm>
            <a:off x="4138046" y="9328537"/>
            <a:ext cx="11612494" cy="513237"/>
          </a:xfrm>
          <a:prstGeom prst="rect">
            <a:avLst/>
          </a:prstGeom>
          <a:noFill/>
          <a:ln>
            <a:noFill/>
          </a:ln>
        </p:spPr>
        <p:txBody>
          <a:bodyPr anchorCtr="0" anchor="t" bIns="0" lIns="0" spcFirstLastPara="1" rIns="0" wrap="square" tIns="0">
            <a:spAutoFit/>
          </a:bodyPr>
          <a:lstStyle/>
          <a:p>
            <a:pPr indent="0" lvl="0" marL="0" marR="0" rtl="0" algn="l">
              <a:lnSpc>
                <a:spcPct val="139985"/>
              </a:lnSpc>
              <a:spcBef>
                <a:spcPts val="0"/>
              </a:spcBef>
              <a:spcAft>
                <a:spcPts val="0"/>
              </a:spcAft>
              <a:buNone/>
            </a:pPr>
            <a:r>
              <a:rPr b="0" i="0" lang="en-US" sz="2666" u="none" cap="none" strike="noStrike">
                <a:solidFill>
                  <a:srgbClr val="000000"/>
                </a:solidFill>
                <a:latin typeface="Calibri"/>
                <a:ea typeface="Calibri"/>
                <a:cs typeface="Calibri"/>
                <a:sym typeface="Calibri"/>
              </a:rPr>
              <a:t>Muy bien , realizaré un Informe Final de la alineación, hasta aquí hemos concluído</a:t>
            </a:r>
            <a:endParaRPr/>
          </a:p>
        </p:txBody>
      </p:sp>
      <p:sp>
        <p:nvSpPr>
          <p:cNvPr id="406" name="Google Shape;406;p22"/>
          <p:cNvSpPr txBox="1"/>
          <p:nvPr/>
        </p:nvSpPr>
        <p:spPr>
          <a:xfrm>
            <a:off x="15750540" y="9042316"/>
            <a:ext cx="1733374" cy="1197278"/>
          </a:xfrm>
          <a:prstGeom prst="rect">
            <a:avLst/>
          </a:prstGeom>
          <a:noFill/>
          <a:ln>
            <a:noFill/>
          </a:ln>
        </p:spPr>
        <p:txBody>
          <a:bodyPr anchorCtr="0" anchor="t" bIns="0" lIns="0" spcFirstLastPara="1" rIns="0" wrap="square" tIns="0">
            <a:spAutoFit/>
          </a:bodyPr>
          <a:lstStyle/>
          <a:p>
            <a:pPr indent="0" lvl="0" marL="0" marR="0" rtl="0" algn="just">
              <a:lnSpc>
                <a:spcPct val="139972"/>
              </a:lnSpc>
              <a:spcBef>
                <a:spcPts val="0"/>
              </a:spcBef>
              <a:spcAft>
                <a:spcPts val="0"/>
              </a:spcAft>
              <a:buNone/>
            </a:pPr>
            <a:r>
              <a:rPr b="0" i="0" lang="en-US" sz="1466" u="sng" cap="none" strike="noStrike">
                <a:solidFill>
                  <a:srgbClr val="0563C1"/>
                </a:solidFill>
                <a:latin typeface="Calibri"/>
                <a:ea typeface="Calibri"/>
                <a:cs typeface="Calibri"/>
                <a:sym typeface="Calibri"/>
                <a:hlinkClick r:id="rId21">
                  <a:extLst>
                    <a:ext uri="{A12FA001-AC4F-418D-AE19-62706E023703}">
                      <ahyp:hlinkClr val="tx"/>
                    </a:ext>
                  </a:extLst>
                </a:hlinkClick>
              </a:rPr>
              <a:t>https://docs.google.c</a:t>
            </a:r>
            <a:endParaRPr/>
          </a:p>
          <a:p>
            <a:pPr indent="0" lvl="0" marL="0" marR="0" rtl="0" algn="just">
              <a:lnSpc>
                <a:spcPct val="123324"/>
              </a:lnSpc>
              <a:spcBef>
                <a:spcPts val="0"/>
              </a:spcBef>
              <a:spcAft>
                <a:spcPts val="0"/>
              </a:spcAft>
              <a:buNone/>
            </a:pPr>
            <a:r>
              <a:rPr b="0" i="0" lang="en-US" sz="1462" u="sng" cap="none" strike="noStrike">
                <a:solidFill>
                  <a:srgbClr val="0563C1"/>
                </a:solidFill>
                <a:latin typeface="Calibri"/>
                <a:ea typeface="Calibri"/>
                <a:cs typeface="Calibri"/>
                <a:sym typeface="Calibri"/>
                <a:hlinkClick r:id="rId22">
                  <a:extLst>
                    <a:ext uri="{A12FA001-AC4F-418D-AE19-62706E023703}">
                      <ahyp:hlinkClr val="tx"/>
                    </a:ext>
                  </a:extLst>
                </a:hlinkClick>
              </a:rPr>
              <a:t>om</a:t>
            </a:r>
            <a:r>
              <a:rPr b="0" i="0" lang="en-US" sz="1462" u="sng" cap="none" strike="noStrike">
                <a:solidFill>
                  <a:srgbClr val="000000"/>
                </a:solidFill>
                <a:latin typeface="Calibri"/>
                <a:ea typeface="Calibri"/>
                <a:cs typeface="Calibri"/>
                <a:sym typeface="Calibri"/>
                <a:hlinkClick r:id="rId23">
                  <a:extLst>
                    <a:ext uri="{A12FA001-AC4F-418D-AE19-62706E023703}">
                      <ahyp:hlinkClr val="tx"/>
                    </a:ext>
                  </a:extLst>
                </a:hlinkClick>
              </a:rPr>
              <a:t> </a:t>
            </a:r>
            <a:r>
              <a:rPr b="0" i="0" lang="en-US" sz="1462" u="sng" cap="none" strike="noStrike">
                <a:solidFill>
                  <a:srgbClr val="0563C1"/>
                </a:solidFill>
                <a:latin typeface="Calibri"/>
                <a:ea typeface="Calibri"/>
                <a:cs typeface="Calibri"/>
                <a:sym typeface="Calibri"/>
                <a:hlinkClick r:id="rId24">
                  <a:extLst>
                    <a:ext uri="{A12FA001-AC4F-418D-AE19-62706E023703}">
                      <ahyp:hlinkClr val="tx"/>
                    </a:ext>
                  </a:extLst>
                </a:hlinkClick>
              </a:rPr>
              <a:t>/spr</a:t>
            </a:r>
            <a:r>
              <a:rPr b="0" i="0" lang="en-US" sz="1462" u="sng" cap="none" strike="noStrike">
                <a:solidFill>
                  <a:srgbClr val="000000"/>
                </a:solidFill>
                <a:latin typeface="Calibri"/>
                <a:ea typeface="Calibri"/>
                <a:cs typeface="Calibri"/>
                <a:sym typeface="Calibri"/>
                <a:hlinkClick r:id="rId25">
                  <a:extLst>
                    <a:ext uri="{A12FA001-AC4F-418D-AE19-62706E023703}">
                      <ahyp:hlinkClr val="tx"/>
                    </a:ext>
                  </a:extLst>
                </a:hlinkClick>
              </a:rPr>
              <a:t> </a:t>
            </a:r>
            <a:r>
              <a:rPr b="0" i="0" lang="en-US" sz="1462" u="sng" cap="none" strike="noStrike">
                <a:solidFill>
                  <a:srgbClr val="0563C1"/>
                </a:solidFill>
                <a:latin typeface="Calibri"/>
                <a:ea typeface="Calibri"/>
                <a:cs typeface="Calibri"/>
                <a:sym typeface="Calibri"/>
                <a:hlinkClick r:id="rId26">
                  <a:extLst>
                    <a:ext uri="{A12FA001-AC4F-418D-AE19-62706E023703}">
                      <ahyp:hlinkClr val="tx"/>
                    </a:ext>
                  </a:extLst>
                </a:hlinkClick>
              </a:rPr>
              <a:t>ea</a:t>
            </a:r>
            <a:r>
              <a:rPr b="0" i="0" lang="en-US" sz="1462" u="sng" cap="none" strike="noStrike">
                <a:solidFill>
                  <a:srgbClr val="000000"/>
                </a:solidFill>
                <a:latin typeface="Calibri"/>
                <a:ea typeface="Calibri"/>
                <a:cs typeface="Calibri"/>
                <a:sym typeface="Calibri"/>
                <a:hlinkClick r:id="rId27">
                  <a:extLst>
                    <a:ext uri="{A12FA001-AC4F-418D-AE19-62706E023703}">
                      <ahyp:hlinkClr val="tx"/>
                    </a:ext>
                  </a:extLst>
                </a:hlinkClick>
              </a:rPr>
              <a:t> </a:t>
            </a:r>
            <a:r>
              <a:rPr b="0" i="0" lang="en-US" sz="1462" u="sng" cap="none" strike="noStrike">
                <a:solidFill>
                  <a:srgbClr val="0563C1"/>
                </a:solidFill>
                <a:latin typeface="Calibri"/>
                <a:ea typeface="Calibri"/>
                <a:cs typeface="Calibri"/>
                <a:sym typeface="Calibri"/>
                <a:hlinkClick r:id="rId28">
                  <a:extLst>
                    <a:ext uri="{A12FA001-AC4F-418D-AE19-62706E023703}">
                      <ahyp:hlinkClr val="tx"/>
                    </a:ext>
                  </a:extLst>
                </a:hlinkClick>
              </a:rPr>
              <a:t>dshe</a:t>
            </a:r>
            <a:r>
              <a:rPr b="0" i="0" lang="en-US" sz="1462" u="sng" cap="none" strike="noStrike">
                <a:solidFill>
                  <a:srgbClr val="000000"/>
                </a:solidFill>
                <a:latin typeface="Calibri"/>
                <a:ea typeface="Calibri"/>
                <a:cs typeface="Calibri"/>
                <a:sym typeface="Calibri"/>
                <a:hlinkClick r:id="rId29">
                  <a:extLst>
                    <a:ext uri="{A12FA001-AC4F-418D-AE19-62706E023703}">
                      <ahyp:hlinkClr val="tx"/>
                    </a:ext>
                  </a:extLst>
                </a:hlinkClick>
              </a:rPr>
              <a:t> </a:t>
            </a:r>
            <a:r>
              <a:rPr b="0" i="0" lang="en-US" sz="1462" u="sng" cap="none" strike="noStrike">
                <a:solidFill>
                  <a:srgbClr val="0563C1"/>
                </a:solidFill>
                <a:latin typeface="Calibri"/>
                <a:ea typeface="Calibri"/>
                <a:cs typeface="Calibri"/>
                <a:sym typeface="Calibri"/>
                <a:hlinkClick r:id="rId30">
                  <a:extLst>
                    <a:ext uri="{A12FA001-AC4F-418D-AE19-62706E023703}">
                      <ahyp:hlinkClr val="tx"/>
                    </a:ext>
                  </a:extLst>
                </a:hlinkClick>
              </a:rPr>
              <a:t>et</a:t>
            </a:r>
            <a:r>
              <a:rPr b="0" i="0" lang="en-US" sz="1462" u="sng" cap="none" strike="noStrike">
                <a:solidFill>
                  <a:srgbClr val="000000"/>
                </a:solidFill>
                <a:latin typeface="Calibri"/>
                <a:ea typeface="Calibri"/>
                <a:cs typeface="Calibri"/>
                <a:sym typeface="Calibri"/>
                <a:hlinkClick r:id="rId31">
                  <a:extLst>
                    <a:ext uri="{A12FA001-AC4F-418D-AE19-62706E023703}">
                      <ahyp:hlinkClr val="tx"/>
                    </a:ext>
                  </a:extLst>
                </a:hlinkClick>
              </a:rPr>
              <a:t> </a:t>
            </a:r>
            <a:r>
              <a:rPr b="0" i="0" lang="en-US" sz="1462" u="sng" cap="none" strike="noStrike">
                <a:solidFill>
                  <a:srgbClr val="0563C1"/>
                </a:solidFill>
                <a:latin typeface="Calibri"/>
                <a:ea typeface="Calibri"/>
                <a:cs typeface="Calibri"/>
                <a:sym typeface="Calibri"/>
                <a:hlinkClick r:id="rId32">
                  <a:extLst>
                    <a:ext uri="{A12FA001-AC4F-418D-AE19-62706E023703}">
                      <ahyp:hlinkClr val="tx"/>
                    </a:ext>
                  </a:extLst>
                </a:hlinkClick>
              </a:rPr>
              <a:t>s/d/1 oUhAuSOlLYqNJ1_pb GCD2MSQlrRySW1M/ edit#gid=1184177783</a:t>
            </a:r>
            <a:endParaRPr/>
          </a:p>
        </p:txBody>
      </p:sp>
      <p:sp>
        <p:nvSpPr>
          <p:cNvPr id="407" name="Google Shape;407;p22"/>
          <p:cNvSpPr txBox="1"/>
          <p:nvPr/>
        </p:nvSpPr>
        <p:spPr>
          <a:xfrm>
            <a:off x="4138046" y="9787152"/>
            <a:ext cx="2598937" cy="529974"/>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0" i="0" lang="en-US" sz="2762" u="none" cap="none" strike="noStrike">
                <a:solidFill>
                  <a:srgbClr val="000000"/>
                </a:solidFill>
                <a:latin typeface="Calibri"/>
                <a:ea typeface="Calibri"/>
                <a:cs typeface="Calibri"/>
                <a:sym typeface="Calibri"/>
              </a:rPr>
              <a:t>¡M U C H A S</a:t>
            </a:r>
            <a:endParaRPr/>
          </a:p>
        </p:txBody>
      </p:sp>
      <p:sp>
        <p:nvSpPr>
          <p:cNvPr id="408" name="Google Shape;408;p22"/>
          <p:cNvSpPr txBox="1"/>
          <p:nvPr/>
        </p:nvSpPr>
        <p:spPr>
          <a:xfrm>
            <a:off x="7835637" y="9787152"/>
            <a:ext cx="2556643" cy="529974"/>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0" i="0" lang="en-US" sz="2762" u="none" cap="none" strike="noStrike">
                <a:solidFill>
                  <a:srgbClr val="000000"/>
                </a:solidFill>
                <a:latin typeface="Calibri"/>
                <a:ea typeface="Calibri"/>
                <a:cs typeface="Calibri"/>
                <a:sym typeface="Calibri"/>
              </a:rPr>
              <a:t>G R A C I A S!</a:t>
            </a:r>
            <a:endParaRPr/>
          </a:p>
        </p:txBody>
      </p:sp>
      <p:sp>
        <p:nvSpPr>
          <p:cNvPr id="409" name="Google Shape;409;p22"/>
          <p:cNvSpPr txBox="1"/>
          <p:nvPr/>
        </p:nvSpPr>
        <p:spPr>
          <a:xfrm>
            <a:off x="14919965" y="820136"/>
            <a:ext cx="2212800" cy="346800"/>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0" i="1" lang="en-US" sz="2253" u="none" cap="none" strike="noStrike">
                <a:solidFill>
                  <a:srgbClr val="000000"/>
                </a:solidFill>
                <a:latin typeface="Calibri"/>
                <a:ea typeface="Calibri"/>
                <a:cs typeface="Calibri"/>
                <a:sym typeface="Calibri"/>
              </a:rPr>
              <a:t>CIERRE </a:t>
            </a:r>
            <a:r>
              <a:rPr i="1" lang="en-US" sz="2253">
                <a:latin typeface="Calibri"/>
                <a:ea typeface="Calibri"/>
                <a:cs typeface="Calibri"/>
                <a:sym typeface="Calibri"/>
              </a:rPr>
              <a:t>25</a:t>
            </a:r>
            <a:r>
              <a:rPr b="0" i="1" lang="en-US" sz="2253" u="none" cap="none" strike="noStrike">
                <a:solidFill>
                  <a:srgbClr val="000000"/>
                </a:solidFill>
                <a:latin typeface="Calibri"/>
                <a:ea typeface="Calibri"/>
                <a:cs typeface="Calibri"/>
                <a:sym typeface="Calibri"/>
              </a:rPr>
              <a:t>-30 mins</a:t>
            </a:r>
            <a:endParaRPr/>
          </a:p>
        </p:txBody>
      </p:sp>
      <p:sp>
        <p:nvSpPr>
          <p:cNvPr id="410" name="Google Shape;410;p22"/>
          <p:cNvSpPr/>
          <p:nvPr/>
        </p:nvSpPr>
        <p:spPr>
          <a:xfrm>
            <a:off x="15249261" y="1552151"/>
            <a:ext cx="1554113" cy="1458041"/>
          </a:xfrm>
          <a:custGeom>
            <a:rect b="b" l="l" r="r" t="t"/>
            <a:pathLst>
              <a:path extrusionOk="0" h="1458041" w="1554113">
                <a:moveTo>
                  <a:pt x="0" y="0"/>
                </a:moveTo>
                <a:lnTo>
                  <a:pt x="1554113" y="0"/>
                </a:lnTo>
                <a:lnTo>
                  <a:pt x="1554113" y="1458040"/>
                </a:lnTo>
                <a:lnTo>
                  <a:pt x="0" y="1458040"/>
                </a:lnTo>
                <a:lnTo>
                  <a:pt x="0" y="0"/>
                </a:lnTo>
                <a:close/>
              </a:path>
            </a:pathLst>
          </a:custGeom>
          <a:blipFill rotWithShape="1">
            <a:blip r:embed="rId33">
              <a:alphaModFix/>
            </a:blip>
            <a:stretch>
              <a:fillRect b="0" l="0" r="0" t="0"/>
            </a:stretch>
          </a:blipFill>
          <a:ln>
            <a:noFill/>
          </a:ln>
        </p:spPr>
      </p:sp>
      <p:sp>
        <p:nvSpPr>
          <p:cNvPr id="411" name="Google Shape;411;p22"/>
          <p:cNvSpPr txBox="1"/>
          <p:nvPr/>
        </p:nvSpPr>
        <p:spPr>
          <a:xfrm>
            <a:off x="3843295" y="3903380"/>
            <a:ext cx="14050400" cy="1410022"/>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0" i="0" lang="en-US" sz="2616" u="none" cap="none" strike="noStrike">
                <a:solidFill>
                  <a:srgbClr val="000000"/>
                </a:solidFill>
                <a:latin typeface="Calibri"/>
                <a:ea typeface="Calibri"/>
                <a:cs typeface="Calibri"/>
                <a:sym typeface="Calibri"/>
              </a:rPr>
              <a:t>Les dejo algunas fuentes bibliogáficas para consulta relacionadas con este curso:</a:t>
            </a:r>
            <a:endParaRPr/>
          </a:p>
          <a:p>
            <a:pPr indent="0" lvl="0" marL="0" marR="0" rtl="0" algn="l">
              <a:lnSpc>
                <a:spcPct val="139984"/>
              </a:lnSpc>
              <a:spcBef>
                <a:spcPts val="0"/>
              </a:spcBef>
              <a:spcAft>
                <a:spcPts val="0"/>
              </a:spcAft>
              <a:buNone/>
            </a:pPr>
            <a:r>
              <a:rPr b="1" i="0" lang="en-US" sz="2616" u="none" cap="none" strike="noStrike">
                <a:solidFill>
                  <a:srgbClr val="0563C1"/>
                </a:solidFill>
                <a:latin typeface="Calibri"/>
                <a:ea typeface="Calibri"/>
                <a:cs typeface="Calibri"/>
                <a:sym typeface="Calibri"/>
              </a:rPr>
              <a:t>Insertar URLS o las referencias bibliográficas</a:t>
            </a:r>
            <a:endParaRPr/>
          </a:p>
          <a:p>
            <a:pPr indent="0" lvl="0" marL="0" marR="0" rtl="0" algn="l">
              <a:lnSpc>
                <a:spcPct val="139984"/>
              </a:lnSpc>
              <a:spcBef>
                <a:spcPts val="0"/>
              </a:spcBef>
              <a:spcAft>
                <a:spcPts val="0"/>
              </a:spcAft>
              <a:buNone/>
            </a:pPr>
            <a:r>
              <a:rPr b="1" i="0" lang="en-US" sz="2616" u="none" cap="none" strike="noStrike">
                <a:solidFill>
                  <a:srgbClr val="0563C1"/>
                </a:solidFill>
                <a:latin typeface="Calibri"/>
                <a:ea typeface="Calibri"/>
                <a:cs typeface="Calibri"/>
                <a:sym typeface="Calibri"/>
              </a:rPr>
              <a:t>http://cvc.conocer.gob.mx:8083/moodle/theme/boost/pix/conocer/manual_interactivo.pdf</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